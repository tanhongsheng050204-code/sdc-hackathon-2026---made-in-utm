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3" r:id="rId14"/>
    <p:sldId id="258" r:id="rId6"/>
    <p:sldId id="259" r:id="rId7"/>
    <p:sldId id="264" r:id="rId15"/>
    <p:sldId id="260" r:id="rId8"/>
    <p:sldId id="265" r:id="rId16"/>
    <p:sldId id="266" r:id="rId17"/>
    <p:sldId id="267" r:id="rId18"/>
    <p:sldId id="268" r:id="rId19"/>
    <p:sldId id="269" r:id="rId20"/>
    <p:sldId id="261" r:id="rId9"/>
    <p:sldId id="270" r:id="rId21"/>
    <p:sldId id="271" r:id="rId22"/>
    <p:sldId id="272" r:id="rId23"/>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Change in jobs by 2030 (%)</c:v>
                </c:pt>
              </c:strCache>
            </c:strRef>
          </c:tx>
          <c:dPt>
            <c:idx val="0"/>
            <c:spPr>
              <a:solidFill>
                <a:srgbClr val="0F6E6E"/>
              </a:solidFill>
            </c:spPr>
          </c:dPt>
          <c:dPt>
            <c:idx val="1"/>
            <c:spPr>
              <a:solidFill>
                <a:srgbClr val="0F6E6E"/>
              </a:solidFill>
            </c:spPr>
          </c:dPt>
          <c:dPt>
            <c:idx val="2"/>
            <c:spPr>
              <a:solidFill>
                <a:srgbClr val="0F6E6E"/>
              </a:solidFill>
            </c:spPr>
          </c:dPt>
          <c:dPt>
            <c:idx val="3"/>
            <c:spPr>
              <a:solidFill>
                <a:srgbClr val="0F6E6E"/>
              </a:solidFill>
            </c:spPr>
          </c:dPt>
          <c:dPt>
            <c:idx val="4"/>
            <c:spPr>
              <a:solidFill>
                <a:srgbClr val="0F6E6E"/>
              </a:solidFill>
            </c:spPr>
          </c:dPt>
          <c:dPt>
            <c:idx val="5"/>
            <c:spPr>
              <a:solidFill>
                <a:srgbClr val="B83A2E"/>
              </a:solidFill>
            </c:spPr>
          </c:dPt>
          <c:dPt>
            <c:idx val="6"/>
            <c:spPr>
              <a:solidFill>
                <a:srgbClr val="B83A2E"/>
              </a:solidFill>
            </c:spPr>
          </c:dPt>
          <c:dPt>
            <c:idx val="7"/>
            <c:spPr>
              <a:solidFill>
                <a:srgbClr val="B83A2E"/>
              </a:solidFill>
            </c:spPr>
          </c:dPt>
          <c:dPt>
            <c:idx val="8"/>
            <c:spPr>
              <a:solidFill>
                <a:srgbClr val="B83A2E"/>
              </a:solidFill>
            </c:spPr>
          </c:dPt>
          <c:dPt>
            <c:idx val="9"/>
            <c:spPr>
              <a:solidFill>
                <a:srgbClr val="B83A2E"/>
              </a:solidFill>
            </c:spPr>
          </c:dPt>
          <c:cat>
            <c:strRef>
              <c:f>Sheet1!$A$2:$A$11</c:f>
              <c:strCache>
                <c:ptCount val="10"/>
                <c:pt idx="0">
                  <c:v>AI and machine learning specialist</c:v>
                </c:pt>
                <c:pt idx="1">
                  <c:v>Software and applications developer</c:v>
                </c:pt>
                <c:pt idx="2">
                  <c:v>AI operations specialist</c:v>
                </c:pt>
                <c:pt idx="3">
                  <c:v>Cybersecurity analyst</c:v>
                </c:pt>
                <c:pt idx="4">
                  <c:v>Data analyst</c:v>
                </c:pt>
                <c:pt idx="5">
                  <c:v>Cashier</c:v>
                </c:pt>
                <c:pt idx="6">
                  <c:v>Accounts and payroll clerk</c:v>
                </c:pt>
                <c:pt idx="7">
                  <c:v>Administrative assistant</c:v>
                </c:pt>
                <c:pt idx="8">
                  <c:v>Data entry clerk</c:v>
                </c:pt>
                <c:pt idx="9">
                  <c:v>Bank teller</c:v>
                </c:pt>
              </c:strCache>
            </c:strRef>
          </c:cat>
          <c:val>
            <c:numRef>
              <c:f>Sheet1!$B$2:$B$11</c:f>
              <c:numCache>
                <c:formatCode>General</c:formatCode>
                <c:ptCount val="10"/>
                <c:pt idx="0">
                  <c:v>90.1</c:v>
                </c:pt>
                <c:pt idx="1">
                  <c:v>61.0</c:v>
                </c:pt>
                <c:pt idx="2">
                  <c:v>45.3</c:v>
                </c:pt>
                <c:pt idx="3">
                  <c:v>41.8</c:v>
                </c:pt>
                <c:pt idx="4">
                  <c:v>36.4</c:v>
                </c:pt>
                <c:pt idx="5">
                  <c:v>-11.1</c:v>
                </c:pt>
                <c:pt idx="6">
                  <c:v>-23.6</c:v>
                </c:pt>
                <c:pt idx="7">
                  <c:v>-26.0</c:v>
                </c:pt>
                <c:pt idx="8">
                  <c:v>-30.5</c:v>
                </c:pt>
                <c:pt idx="9">
                  <c:v>-35.7</c:v>
                </c:pt>
              </c:numCache>
            </c:numRef>
          </c:val>
        </c:ser>
        <c:dLbls>
          <c:numFmt formatCode="+0&quot;%&quot;;-0&quot;%&quot;" sourceLinked="0"/>
          <c:txPr>
            <a:bodyPr/>
            <a:lstStyle/>
            <a:p>
              <a:pPr>
                <a:defRPr sz="11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low"/>
        <c:spPr>
          <a:ln>
            <a:noFill/>
          </a:ln>
        </c:spPr>
        <c:txPr>
          <a:bodyPr/>
          <a:lstStyle/>
          <a:p>
            <a:pPr>
              <a:defRPr sz="1100"/>
            </a:pPr>
          </a:p>
        </c:txPr>
        <c:crossAx val="-2113994440"/>
        <c:crosses val="autoZero"/>
        <c:auto val="1"/>
        <c:lblAlgn val="ctr"/>
        <c:lblOffset val="100"/>
        <c:noMultiLvlLbl val="0"/>
      </c:catAx>
      <c:valAx>
        <c:axId val="-2113994440"/>
        <c:scaling>
          <c:max val="110.0"/>
          <c:min val="-55.0"/>
        </c:scaling>
        <c:delete/>
        <c:axPos val="b"/>
        <c:majorTickMark val="none"/>
        <c:minorTickMark val="none"/>
        <c:tickLblPos val="none"/>
        <c:spPr>
          <a:ln>
            <a:noFill/>
          </a:ln>
        </c:spPr>
        <c:crossAx val="-2068027336"/>
        <c:crosses val="autoZero"/>
      </c:valAx>
    </c:plotArea>
    <c:dispBlanksAs val="gap"/>
  </c:chart>
  <c:txPr>
    <a:bodyPr/>
    <a:lstStyle/>
    <a:p>
      <a:pPr>
        <a:defRPr sz="1100">
          <a:solidFill>
            <a:schemeClr val="tx2"/>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Laluan, Malay for "path": a career GPS for Malaysian workers and students. It shows where your career is heading before AI changes it, proposes a route, and leaves the decision to you. Every number in it opens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than half of Malaysian professionals already use AI at work, but only about a quarter were ever trained for it, and MOSTI says over six hundred thousand workers need reskilling within five years. The tools people turn to don't help: portals show today's openings, chatbots guess with no sources, and skills lists go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Aisyah is a data-entry clerk whose team just adopted an AI invoice reader. A chatbot gives her a paragraph. Laluan shows her job shrinking in all three futures, which tasks AI takes first, and a best match, AI operations specialist, that grows 45 percent and pays more, with a free 397-hour plan. Every figure here comes from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Laluan is one route with four stops. You start with a CV or a short quiz, and it shows which of your tasks AI takes: for Aisyah, three of five. It ranks 23 roles and explains each rank; her best is BIM technician at 40 percent fit and 35 percent growth. It builds an ordered, costed plan, 37 hours for her, and helps her apply with real openings and interview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forecast x-ray from the live app. Each role's outlook starts from the WEF baseline, then adds capped points from job ads, Malaysian employment and AI-research momentum, under the AI speed you choose. A transparent formula, not a black box, so anyone can check every step, with ranges and a published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reach a React app on Vercel in three languages, which calls a FastAPI service in Docker on Render with six modules. Profiles and trend snapshots live in Supabase Postgres; roles and courses are versioned in git. AI models are optional and only see scrubbed text. Along the bottom, the trend engine builds dated forecasts, and nothing reaches the rankings until a person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stay in charge: trend updates need a named approval, personal details are removed before any AI reads them, and no course can be invented. Every profile is run under eight Malaysian names and must rank identically, 59 checks out of 59. Laluan is live today: open the demo profile and see where Aisyah's career goes.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WEF expects clerical roles to shrink fastest. Laluan's own forecast, which adds Malaysian job ads, OpenDOSM and research signals to the WEF baseline, agrees: bank tellers, data-entry clerks and administrative assistants fall by a quarter or more by 2030, while AI-adjacent roles grow. The people in the first group have the least time and money to experiment, so that is who Laluan is built for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SDG hackathon, so the SDG link is part of the product, not a logo. Laluan is built for SDG 4, skills for decent jobs, and SDG 8, decent work. Every one of the 23 roles and 51 skills links to an SDG target with a written reason. The SDG lens lets Aisyah pick a goal and see which roles serve it and what that choice costs her, and the impact view adds up which goals Laluan users across Malaysia are heading for.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 is only as good as its signals, so we use many public ones on top of the WEF baseline: research papers, Malaysian and global job ads, developer activity and Malaysian official statistics. A weekly job collects them and builds a new dated forecast, but nothing changes for users until a person approves it by name, after seeing a before-and-after table. If collection fails, the last approved forecast stays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knows how fast AI will spread, so Laluan never shows one future. Aisyah's best match, AI operations specialist, grows 29, 45 or 65 percent depending on the AI speed, and stays in her top five in every scenario. She can drag her own AI speed: below 0.8 times, the BIM technician role overtakes it. And every rank opens to its arithmetic: 60 percent skill fit, 40 percent outlook, plus a small preference bonus.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Aisyah sets a destination, Laluan builds an ordered plan from a catalogue of 38 link-checked courses: six steps, about 397 hours, and zero ringgit, because every course is free or free to audit. For workers, HRD Corp-claimable courses come first. She ticks a course when she finishes and her readiness rises, proves each skill with three quick questions, and can put the plan straight into her calendar.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coach is where most career chatbots go wrong, so ours is fenced in. It answers only from Aisyah's own results, with numbered sources, and checks every sentence against them: unsupported sentences are rewritten or removed, and the answer says so. Her name and phone number are removed before the AI sees the question, trick prompts are refused, and it can only suggest a change: nothing moves until she presses Apply.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engine works for groups. An HR team loads an anonymous file of roles and skills: in the sample company of 190 staff, 89 are in roles that shrink, and Laluan finds the cheapest reskilling moves with an HRD Corp training-grant plan to export. A career centre gets the same view for a class. Results are totals only, and files with names, emails, IC numbers or staff IDs are refused.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hardest risk is the trend data: job ads and paper counts are noisy. So we measure it in the open. Our backtest says the direction of change held for 14 of 19 clear trends, better than assuming everything rises, though sizes are still rougher than a no-change guess, and we publish that. Fairness, tests and fallbacks are checked on every push, and the app keeps working with no AI key at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honest about what is not done. Everything is synthetic, the human evaluation with a counsellor is not recorded yet, and forecast sizes are still rough. In Phase 2 we would run the review kit with a career counsellor and native speakers, pilot the class view with a career centre, grow the catalogue, and hold ourselves to the targets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Made in UTM, four students from Universiti Teknologi Malaysia. Tan Hong Sheng led product, Shirlyn designed the experience, Chek Chee Him built the frontend and Thim Yee Song the backend. We built Laluan with the sponsor tools: RunPod runs our open models and OCR, and Replit was our clean test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luan Content">
    <p:bg>
      <p:bgPr>
        <a:solidFill>
          <a:schemeClr val="bg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731520" y="6309360"/>
            <a:ext cx="256032" cy="256032"/>
          </a:xfrm>
          <a:prstGeom prst="rect">
            <a:avLst/>
          </a:prstGeom>
        </p:spPr>
      </p:pic>
      <p:sp>
        <p:nvSpPr>
          <p:cNvPr id="3" name="Text 0"/>
          <p:cNvSpPr/>
          <p:nvPr/>
        </p:nvSpPr>
        <p:spPr>
          <a:xfrm>
            <a:off x="1078992" y="6309360"/>
            <a:ext cx="5486400" cy="256032"/>
          </a:xfrm>
          <a:prstGeom prst="rect">
            <a:avLst/>
          </a:prstGeom>
          <a:noFill/>
        </p:spPr>
        <p:txBody>
          <a:bodyPr wrap="square" lIns="0" tIns="0" rIns="0" bIns="0" rtlCol="0" anchor="ctr"/>
          <a:lstStyle/>
          <a:p>
            <a:pPr marL="0" indent="0">
              <a:buNone/>
            </a:pPr>
            <a:r>
              <a:rPr lang="en-US" sz="1200" dirty="0">
                <a:solidFill>
                  <a:schemeClr val="tx2"/>
                </a:solidFill>
              </a:rPr>
              <a:t>Laluan · XMUM Hackathon 2026 · Domain 1</a:t>
            </a:r>
            <a:endParaRPr lang="en-US" sz="1200" dirty="0"/>
          </a:p>
        </p:txBody>
      </p:sp>
      <p:sp>
        <p:nvSpPr>
          <p:cNvPr id="4" name="Text 1"/>
          <p:cNvSpPr/>
          <p:nvPr>
            <p:ph type="title" idx="102" hasCustomPrompt="1"/>
          </p:nvPr>
        </p:nvSpPr>
        <p:spPr>
          <a:xfrm>
            <a:off x="731520" y="896112"/>
            <a:ext cx="10725912" cy="685800"/>
          </a:xfrm>
          <a:prstGeom prst="rect">
            <a:avLst/>
          </a:prstGeom>
          <a:noFill/>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luan Cover">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hyperlink" Target="https://laluan-psi.vercel.app/?demo=clerk" TargetMode="External"/><Relationship Id="rId6" Type="http://schemas.openxmlformats.org/officeDocument/2006/relationships/hyperlink" Target="https://laluan-psi.vercel.app" TargetMode="External"/><Relationship Id="rId7" Type="http://schemas.openxmlformats.org/officeDocument/2006/relationships/hyperlink" Target="https://github.com/tanhongsheng050204-code/XMUM-HACKATHON" TargetMode="External"/><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0.png"/><Relationship Id="rId4" Type="http://schemas.openxmlformats.org/officeDocument/2006/relationships/image" Target="../media/image26.png"/><Relationship Id="rId5" Type="http://schemas.openxmlformats.org/officeDocument/2006/relationships/image" Target="../media/image41.png"/><Relationship Id="rId6"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band"/>
          <p:cNvSpPr/>
          <p:nvPr/>
        </p:nvSpPr>
        <p:spPr>
          <a:xfrm>
            <a:off x="0" y="0"/>
            <a:ext cx="12191695" cy="457200"/>
          </a:xfrm>
          <a:prstGeom prst="rect">
            <a:avLst/>
          </a:prstGeom>
          <a:solidFill>
            <a:schemeClr val="accent4"/>
          </a:solidFill>
        </p:spPr>
        <p:txBody>
          <a:bodyPr/>
          <a:p/>
        </p:txBody>
      </p:sp>
      <p:sp>
        <p:nvSpPr>
          <p:cNvPr id="3" name="Text 1"/>
          <p:cNvSpPr txBox="1"/>
          <p:nvPr/>
        </p:nvSpPr>
        <p:spPr>
          <a:xfrm>
            <a:off x="0" y="0"/>
            <a:ext cx="12191695" cy="457200"/>
          </a:xfrm>
          <a:prstGeom prst="rect">
            <a:avLst/>
          </a:prstGeom>
          <a:noFill/>
        </p:spPr>
        <p:txBody>
          <a:bodyPr wrap="square" lIns="0" tIns="0" rIns="0" bIns="0" rtlCol="0" anchor="ctr"/>
          <a:lstStyle/>
          <a:p>
            <a:pPr marL="0" indent="0" algn="ctr">
              <a:buNone/>
            </a:pPr>
            <a:r>
              <a:rPr lang="en-US" sz="1400" b="1" dirty="0">
                <a:solidFill>
                  <a:schemeClr val="bg1"/>
                </a:solidFill>
              </a:rPr>
              <a:t>Judging Laluan? Open the demo profile in one click → </a:t>
            </a:r>
            <a:r>
              <a:rPr lang="en-US" sz="1400" b="1" u="sng" dirty="0">
                <a:solidFill>
                  <a:schemeClr val="bg1"/>
                </a:solidFill>
              </a:rPr>
              <a:t>laluan-psi.vercel.app</a:t>
            </a:r>
            <a:endParaRPr lang="en-US" sz="1400" dirty="0"/>
          </a:p>
        </p:txBody>
      </p:sp>
      <p:sp>
        <p:nvSpPr>
          <p:cNvPr id="4" name="Screenshot backdrop"/>
          <p:cNvSpPr/>
          <p:nvPr/>
        </p:nvSpPr>
        <p:spPr>
          <a:xfrm>
            <a:off x="502920" y="1234440"/>
            <a:ext cx="6400800" cy="3886200"/>
          </a:xfrm>
          <a:prstGeom prst="roundRect">
            <a:avLst>
              <a:gd name="adj" fmla="val 5882"/>
            </a:avLst>
          </a:prstGeom>
          <a:solidFill>
            <a:srgbClr val="E4EFEE"/>
          </a:solidFill>
        </p:spPr>
        <p:txBody>
          <a:bodyPr/>
          <a:p/>
        </p:txBody>
      </p:sp>
      <p:sp>
        <p:nvSpPr>
          <p:cNvPr id="5" name="Today screen, Aisyah demo frame"/>
          <p:cNvSpPr/>
          <p:nvPr/>
        </p:nvSpPr>
        <p:spPr>
          <a:xfrm>
            <a:off x="722376" y="1408176"/>
            <a:ext cx="5961888" cy="3401568"/>
          </a:xfrm>
          <a:prstGeom prst="roundRect">
            <a:avLst>
              <a:gd name="adj" fmla="val 2151"/>
            </a:avLst>
          </a:prstGeom>
          <a:solidFill>
            <a:schemeClr val="bg1"/>
          </a:solidFill>
          <a:ln w="9525">
            <a:solidFill>
              <a:srgbClr val="E3DFD6"/>
            </a:solidFill>
            <a:prstDash val="solid"/>
          </a:ln>
        </p:spPr>
        <p:txBody>
          <a:bodyPr/>
          <a:p/>
        </p:txBody>
      </p:sp>
      <p:pic>
        <p:nvPicPr>
          <p:cNvPr id="6" name="Today screen, Aisyah demo" descr="Screenshot: Today screen, Aisyah demo"/>
          <p:cNvPicPr>
            <a:picLocks noChangeAspect="1"/>
          </p:cNvPicPr>
          <p:nvPr/>
        </p:nvPicPr>
        <p:blipFill>
          <a:blip r:embed="rId1"/>
          <a:stretch>
            <a:fillRect/>
          </a:stretch>
        </p:blipFill>
        <p:spPr>
          <a:xfrm>
            <a:off x="777240" y="1463040"/>
            <a:ext cx="5852160" cy="3291840"/>
          </a:xfrm>
          <a:prstGeom prst="rect">
            <a:avLst/>
          </a:prstGeom>
        </p:spPr>
      </p:pic>
      <p:pic>
        <p:nvPicPr>
          <p:cNvPr id="7" name="Laluan logo" descr="preencoded.png"/>
          <p:cNvPicPr>
            <a:picLocks noChangeAspect="1"/>
          </p:cNvPicPr>
          <p:nvPr/>
        </p:nvPicPr>
        <p:blipFill>
          <a:blip r:embed="rId2"/>
          <a:stretch>
            <a:fillRect/>
          </a:stretch>
        </p:blipFill>
        <p:spPr>
          <a:xfrm>
            <a:off x="7315200" y="1143000"/>
            <a:ext cx="685800" cy="685800"/>
          </a:xfrm>
          <a:prstGeom prst="rect">
            <a:avLst/>
          </a:prstGeom>
        </p:spPr>
      </p:pic>
      <p:sp>
        <p:nvSpPr>
          <p:cNvPr id="8" name="Text 4"/>
          <p:cNvSpPr txBox="1"/>
          <p:nvPr/>
        </p:nvSpPr>
        <p:spPr>
          <a:xfrm>
            <a:off x="8183880" y="1143000"/>
            <a:ext cx="3657600" cy="685800"/>
          </a:xfrm>
          <a:prstGeom prst="rect">
            <a:avLst/>
          </a:prstGeom>
          <a:noFill/>
        </p:spPr>
        <p:txBody>
          <a:bodyPr wrap="square" lIns="0" tIns="0" rIns="0" bIns="0" rtlCol="0" anchor="ctr"/>
          <a:lstStyle/>
          <a:p>
            <a:pPr marL="0" indent="0">
              <a:buNone/>
            </a:pPr>
            <a:r>
              <a:rPr lang="en-US" sz="4000" b="1" dirty="0">
                <a:solidFill>
                  <a:schemeClr val="tx1"/>
                </a:solidFill>
              </a:rPr>
              <a:t>LALUAN</a:t>
            </a:r>
            <a:endParaRPr lang="en-US" sz="4000" dirty="0"/>
          </a:p>
        </p:txBody>
      </p:sp>
      <p:sp>
        <p:nvSpPr>
          <p:cNvPr id="9" name="Text 5"/>
          <p:cNvSpPr txBox="1"/>
          <p:nvPr/>
        </p:nvSpPr>
        <p:spPr>
          <a:xfrm>
            <a:off x="7315200" y="2057400"/>
            <a:ext cx="4480560" cy="868680"/>
          </a:xfrm>
          <a:prstGeom prst="rect">
            <a:avLst/>
          </a:prstGeom>
          <a:noFill/>
        </p:spPr>
        <p:txBody>
          <a:bodyPr wrap="square" lIns="0" tIns="0" rIns="0" bIns="0" rtlCol="0" anchor="t"/>
          <a:lstStyle/>
          <a:p>
            <a:pPr marL="0" indent="0">
              <a:buNone/>
            </a:pPr>
            <a:r>
              <a:rPr lang="en-US" sz="2400" b="1" dirty="0">
                <a:solidFill>
                  <a:schemeClr val="tx1"/>
                </a:solidFill>
              </a:rPr>
              <a:t>See where your career goes before AI changes it.</a:t>
            </a:r>
            <a:endParaRPr lang="en-US" sz="2400" dirty="0"/>
          </a:p>
        </p:txBody>
      </p:sp>
      <p:sp>
        <p:nvSpPr>
          <p:cNvPr id="10" name="Text 6"/>
          <p:cNvSpPr txBox="1"/>
          <p:nvPr/>
        </p:nvSpPr>
        <p:spPr>
          <a:xfrm>
            <a:off x="7315200" y="3017520"/>
            <a:ext cx="4480560" cy="457200"/>
          </a:xfrm>
          <a:prstGeom prst="rect">
            <a:avLst/>
          </a:prstGeom>
          <a:noFill/>
        </p:spPr>
        <p:txBody>
          <a:bodyPr wrap="square" lIns="0" tIns="0" rIns="0" bIns="0" rtlCol="0" anchor="ctr"/>
          <a:lstStyle/>
          <a:p>
            <a:pPr marL="0" indent="0">
              <a:buNone/>
            </a:pPr>
            <a:r>
              <a:rPr lang="en-US" sz="2400" b="1" dirty="0">
                <a:solidFill>
                  <a:schemeClr val="tx1"/>
                </a:solidFill>
              </a:rPr>
              <a:t>Laluan proposes. </a:t>
            </a:r>
            <a:r>
              <a:rPr lang="en-US" sz="2400" b="1" dirty="0">
                <a:solidFill>
                  <a:schemeClr val="accent1"/>
                </a:solidFill>
              </a:rPr>
              <a:t>You decide.</a:t>
            </a:r>
            <a:endParaRPr lang="en-US" sz="2400" dirty="0"/>
          </a:p>
        </p:txBody>
      </p:sp>
      <p:sp>
        <p:nvSpPr>
          <p:cNvPr id="11" name="Text 7"/>
          <p:cNvSpPr txBox="1"/>
          <p:nvPr/>
        </p:nvSpPr>
        <p:spPr>
          <a:xfrm>
            <a:off x="7315200" y="3566160"/>
            <a:ext cx="4480560" cy="457200"/>
          </a:xfrm>
          <a:prstGeom prst="rect">
            <a:avLst/>
          </a:prstGeom>
          <a:noFill/>
        </p:spPr>
        <p:txBody>
          <a:bodyPr wrap="square" lIns="0" tIns="0" rIns="0" bIns="0" rtlCol="0" anchor="ctr"/>
          <a:lstStyle/>
          <a:p>
            <a:pPr marL="0" indent="0">
              <a:buNone/>
            </a:pPr>
            <a:r>
              <a:rPr lang="en-US" sz="2400" b="1" dirty="0">
                <a:solidFill>
                  <a:schemeClr val="tx1"/>
                </a:solidFill>
              </a:rPr>
              <a:t>Every number </a:t>
            </a:r>
            <a:r>
              <a:rPr lang="en-US" sz="2400" b="1" dirty="0">
                <a:solidFill>
                  <a:schemeClr val="accent1"/>
                </a:solidFill>
              </a:rPr>
              <a:t>shows its working.</a:t>
            </a:r>
            <a:endParaRPr lang="en-US" sz="2400" dirty="0"/>
          </a:p>
        </p:txBody>
      </p:sp>
      <p:sp>
        <p:nvSpPr>
          <p:cNvPr id="12" name="Divider"/>
          <p:cNvSpPr/>
          <p:nvPr/>
        </p:nvSpPr>
        <p:spPr>
          <a:xfrm>
            <a:off x="7315200" y="4251960"/>
            <a:ext cx="4114800" cy="0"/>
          </a:xfrm>
          <a:prstGeom prst="line">
            <a:avLst/>
          </a:prstGeom>
          <a:noFill/>
          <a:ln w="12700">
            <a:solidFill>
              <a:srgbClr val="E3DFD6"/>
            </a:solidFill>
            <a:prstDash val="solid"/>
          </a:ln>
        </p:spPr>
        <p:txBody>
          <a:bodyPr/>
          <a:p/>
        </p:txBody>
      </p:sp>
      <p:sp>
        <p:nvSpPr>
          <p:cNvPr id="13" name="Text 9"/>
          <p:cNvSpPr txBox="1"/>
          <p:nvPr/>
        </p:nvSpPr>
        <p:spPr>
          <a:xfrm>
            <a:off x="7315200" y="4389120"/>
            <a:ext cx="4206240" cy="731520"/>
          </a:xfrm>
          <a:prstGeom prst="rect">
            <a:avLst/>
          </a:prstGeom>
          <a:noFill/>
        </p:spPr>
        <p:txBody>
          <a:bodyPr wrap="square" lIns="0" tIns="0" rIns="0" bIns="0" rtlCol="0" anchor="t"/>
          <a:lstStyle/>
          <a:p>
            <a:pPr marL="0" indent="0">
              <a:buNone/>
            </a:pPr>
            <a:r>
              <a:rPr lang="en-US" sz="1500" dirty="0">
                <a:solidFill>
                  <a:schemeClr val="tx2"/>
                </a:solidFill>
              </a:rPr>
              <a:t>A career GPS for Malaysian workers and students in the AI era.</a:t>
            </a:r>
            <a:endParaRPr lang="en-US" sz="1500" dirty="0"/>
          </a:p>
        </p:txBody>
      </p:sp>
      <p:sp>
        <p:nvSpPr>
          <p:cNvPr id="14" name="Text 10"/>
          <p:cNvSpPr txBox="1"/>
          <p:nvPr/>
        </p:nvSpPr>
        <p:spPr>
          <a:xfrm>
            <a:off x="731520" y="5989320"/>
            <a:ext cx="10725912" cy="365760"/>
          </a:xfrm>
          <a:prstGeom prst="rect">
            <a:avLst/>
          </a:prstGeom>
          <a:noFill/>
        </p:spPr>
        <p:txBody>
          <a:bodyPr wrap="square" lIns="0" tIns="0" rIns="0" bIns="0" rtlCol="0" anchor="ctr"/>
          <a:lstStyle/>
          <a:p>
            <a:pPr marL="0" indent="0" algn="ctr">
              <a:buNone/>
            </a:pPr>
            <a:r>
              <a:rPr lang="en-US" sz="1400" dirty="0">
                <a:solidFill>
                  <a:schemeClr val="tx2"/>
                </a:solidFill>
              </a:rPr>
              <a:t>Made in UTM · XMUM Hackathon 2026 · Domain 1: Aiversecity Future-Ready Workforce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2468880" cy="329184"/>
          </a:xfrm>
          <a:prstGeom prst="rect">
            <a:avLst/>
          </a:prstGeom>
          <a:noFill/>
        </p:spPr>
        <p:txBody>
          <a:bodyPr wrap="square" lIns="0" tIns="0" rIns="0" bIns="0" rtlCol="0" anchor="ctr"/>
          <a:lstStyle/>
          <a:p>
            <a:pPr marL="0" indent="0">
              <a:buNone/>
            </a:pPr>
            <a:r>
              <a:rPr lang="en-US" sz="1300" b="1" kern="0" spc="150" dirty="0">
                <a:solidFill>
                  <a:schemeClr val="accent1"/>
                </a:solidFill>
              </a:rPr>
              <a:t>THE CURRENT REALITY</a:t>
            </a:r>
            <a:endParaRPr lang="en-US" sz="1300" dirty="0"/>
          </a:p>
        </p:txBody>
      </p:sp>
      <p:sp>
        <p:nvSpPr>
          <p:cNvPr id="3" name="Problem-Solution Fit · 25% pill"/>
          <p:cNvSpPr/>
          <p:nvPr/>
        </p:nvSpPr>
        <p:spPr>
          <a:xfrm>
            <a:off x="3291840" y="457200"/>
            <a:ext cx="2514600" cy="329184"/>
          </a:xfrm>
          <a:prstGeom prst="roundRect">
            <a:avLst>
              <a:gd name="adj" fmla="val 50000"/>
            </a:avLst>
          </a:prstGeom>
          <a:solidFill>
            <a:schemeClr val="accent5"/>
          </a:solidFill>
        </p:spPr>
        <p:txBody>
          <a:bodyPr/>
          <a:p/>
        </p:txBody>
      </p:sp>
      <p:sp>
        <p:nvSpPr>
          <p:cNvPr id="4" name="Text 2"/>
          <p:cNvSpPr txBox="1"/>
          <p:nvPr/>
        </p:nvSpPr>
        <p:spPr>
          <a:xfrm>
            <a:off x="3291840" y="457200"/>
            <a:ext cx="2514600" cy="329184"/>
          </a:xfrm>
          <a:prstGeom prst="rect">
            <a:avLst/>
          </a:prstGeom>
          <a:noFill/>
        </p:spPr>
        <p:txBody>
          <a:bodyPr wrap="square" lIns="0" tIns="0" rIns="0" bIns="0" rtlCol="0" anchor="ctr"/>
          <a:lstStyle/>
          <a:p>
            <a:pPr marL="0" indent="0" algn="ctr">
              <a:buNone/>
            </a:pPr>
            <a:r>
              <a:rPr lang="en-US" sz="1200" b="1" dirty="0">
                <a:solidFill>
                  <a:schemeClr val="accent1"/>
                </a:solidFill>
              </a:rPr>
              <a:t>Problem-Solution Fit · 25%</a:t>
            </a:r>
            <a:endParaRPr lang="en-US" sz="1200" dirty="0"/>
          </a:p>
        </p:txBody>
      </p:sp>
      <p:sp>
        <p:nvSpPr>
          <p:cNvPr id="5" name="Text 3"/>
          <p:cNvSpPr txBox="1"/>
          <p:nvPr/>
        </p:nvSpPr>
        <p:spPr>
          <a:xfrm>
            <a:off x="10543032" y="6309360"/>
            <a:ext cx="914400" cy="256032"/>
          </a:xfrm>
          <a:prstGeom prst="rect">
            <a:avLst/>
          </a:prstGeom>
          <a:noFill/>
        </p:spPr>
        <p:txBody>
          <a:bodyPr wrap="square" lIns="0" tIns="0" rIns="0" bIns="0" rtlCol="0" anchor="ctr"/>
          <a:lstStyle/>
          <a:p>
            <a:pPr marL="0" indent="0" algn="r">
              <a:buNone/>
            </a:pPr>
            <a:r>
              <a:rPr lang="en-US" sz="1200" dirty="0">
                <a:solidFill>
                  <a:schemeClr val="tx2"/>
                </a:solidFill>
              </a:rPr>
              <a:t>02 / 17</a:t>
            </a:r>
            <a:endParaRPr lang="en-US" sz="1200" dirty="0"/>
          </a:p>
        </p:txBody>
      </p:sp>
      <p:sp>
        <p:nvSpPr>
          <p:cNvPr id="6" name="Text 1"/>
          <p:cNvSpPr/>
          <p:nvPr>
            <p:ph type="title" idx="102" hasCustomPrompt="1"/>
          </p:nvPr>
        </p:nvSpPr>
        <p:spPr>
          <a:xfrm>
            <a:off x="731520" y="896112"/>
            <a:ext cx="10725912" cy="685800"/>
          </a:xfrm>
          <a:prstGeom prst="rect">
            <a:avLst/>
          </a:prstGeom>
          <a:noFill/>
        </p:spPr>
        <p:txBody>
          <a:bodyPr wrap="square" lIns="0" tIns="0" rIns="0" bIns="0" rtlCol="0" anchor="t"/>
          <a:lstStyle/>
          <a:p>
            <a:pPr marL="0" indent="0" algn="l">
              <a:buNone/>
            </a:pPr>
            <a:r>
              <a:rPr lang="en-US" sz="3200" b="1" dirty="0">
                <a:solidFill>
                  <a:schemeClr val="tx1"/>
                </a:solidFill>
              </a:rPr>
              <a:t>AI reached the desk before the training did.</a:t>
            </a:r>
            <a:endParaRPr lang="en-US" sz="3200" dirty="0"/>
          </a:p>
        </p:txBody>
      </p:sp>
      <p:sp>
        <p:nvSpPr>
          <p:cNvPr id="7" name="56% card"/>
          <p:cNvSpPr/>
          <p:nvPr/>
        </p:nvSpPr>
        <p:spPr>
          <a:xfrm>
            <a:off x="731520" y="1783080"/>
            <a:ext cx="3453384" cy="2514600"/>
          </a:xfrm>
          <a:prstGeom prst="roundRect">
            <a:avLst>
              <a:gd name="adj" fmla="val 3636"/>
            </a:avLst>
          </a:prstGeom>
          <a:solidFill>
            <a:schemeClr val="bg1"/>
          </a:solidFill>
          <a:ln w="9525">
            <a:solidFill>
              <a:srgbClr val="E3DFD6"/>
            </a:solidFill>
            <a:prstDash val="solid"/>
          </a:ln>
        </p:spPr>
        <p:txBody>
          <a:bodyPr/>
          <a:p/>
        </p:txBody>
      </p:sp>
      <p:sp>
        <p:nvSpPr>
          <p:cNvPr id="8" name="LuBriefcase tile"/>
          <p:cNvSpPr/>
          <p:nvPr/>
        </p:nvSpPr>
        <p:spPr>
          <a:xfrm>
            <a:off x="1005840" y="2011680"/>
            <a:ext cx="566928" cy="566928"/>
          </a:xfrm>
          <a:prstGeom prst="roundRect">
            <a:avLst>
              <a:gd name="adj" fmla="val 16129"/>
            </a:avLst>
          </a:prstGeom>
          <a:solidFill>
            <a:srgbClr val="E4EFEE"/>
          </a:solidFill>
        </p:spPr>
        <p:txBody>
          <a:bodyPr/>
          <a:p/>
        </p:txBody>
      </p:sp>
      <p:pic>
        <p:nvPicPr>
          <p:cNvPr id="9" name="LuBriefcase icon" descr="preencoded.png"/>
          <p:cNvPicPr>
            <a:picLocks noChangeAspect="1"/>
          </p:cNvPicPr>
          <p:nvPr/>
        </p:nvPicPr>
        <p:blipFill>
          <a:blip r:embed="rId1"/>
          <a:stretch>
            <a:fillRect/>
          </a:stretch>
        </p:blipFill>
        <p:spPr>
          <a:xfrm>
            <a:off x="1147572" y="2153412"/>
            <a:ext cx="283464" cy="283464"/>
          </a:xfrm>
          <a:prstGeom prst="rect">
            <a:avLst/>
          </a:prstGeom>
        </p:spPr>
      </p:pic>
      <p:sp>
        <p:nvSpPr>
          <p:cNvPr id="10" name="Text 7"/>
          <p:cNvSpPr txBox="1"/>
          <p:nvPr/>
        </p:nvSpPr>
        <p:spPr>
          <a:xfrm>
            <a:off x="1005840" y="2697480"/>
            <a:ext cx="2996184" cy="777240"/>
          </a:xfrm>
          <a:prstGeom prst="rect">
            <a:avLst/>
          </a:prstGeom>
          <a:noFill/>
        </p:spPr>
        <p:txBody>
          <a:bodyPr wrap="square" lIns="0" tIns="0" rIns="0" bIns="0" rtlCol="0" anchor="ctr"/>
          <a:lstStyle/>
          <a:p>
            <a:pPr marL="0" indent="0">
              <a:buNone/>
            </a:pPr>
            <a:r>
              <a:rPr lang="en-US" sz="5400" b="1" dirty="0">
                <a:solidFill>
                  <a:schemeClr val="tx1"/>
                </a:solidFill>
              </a:rPr>
              <a:t>56%</a:t>
            </a:r>
            <a:endParaRPr lang="en-US" sz="5400" dirty="0"/>
          </a:p>
        </p:txBody>
      </p:sp>
      <p:sp>
        <p:nvSpPr>
          <p:cNvPr id="11" name="Text 8"/>
          <p:cNvSpPr txBox="1"/>
          <p:nvPr/>
        </p:nvSpPr>
        <p:spPr>
          <a:xfrm>
            <a:off x="1005840" y="3474720"/>
            <a:ext cx="2996184" cy="320040"/>
          </a:xfrm>
          <a:prstGeom prst="rect">
            <a:avLst/>
          </a:prstGeom>
          <a:noFill/>
        </p:spPr>
        <p:txBody>
          <a:bodyPr wrap="square" lIns="0" tIns="0" rIns="0" bIns="0" rtlCol="0" anchor="ctr"/>
          <a:lstStyle/>
          <a:p>
            <a:pPr marL="0" indent="0">
              <a:buNone/>
            </a:pPr>
            <a:r>
              <a:rPr lang="en-US" sz="1700" b="1" dirty="0">
                <a:solidFill>
                  <a:schemeClr val="accent1"/>
                </a:solidFill>
              </a:rPr>
              <a:t>use AI at work</a:t>
            </a:r>
            <a:endParaRPr lang="en-US" sz="1700" dirty="0"/>
          </a:p>
        </p:txBody>
      </p:sp>
      <p:sp>
        <p:nvSpPr>
          <p:cNvPr id="12" name="Text 9"/>
          <p:cNvSpPr txBox="1"/>
          <p:nvPr/>
        </p:nvSpPr>
        <p:spPr>
          <a:xfrm>
            <a:off x="1005840" y="3794760"/>
            <a:ext cx="2996184" cy="457200"/>
          </a:xfrm>
          <a:prstGeom prst="rect">
            <a:avLst/>
          </a:prstGeom>
          <a:noFill/>
        </p:spPr>
        <p:txBody>
          <a:bodyPr wrap="square" lIns="0" tIns="0" rIns="0" bIns="0" rtlCol="0" anchor="t"/>
          <a:lstStyle/>
          <a:p>
            <a:pPr marL="0" indent="0">
              <a:buNone/>
            </a:pPr>
            <a:r>
              <a:rPr lang="en-US" sz="1300" dirty="0">
                <a:solidFill>
                  <a:schemeClr val="tx2"/>
                </a:solidFill>
              </a:rPr>
              <a:t>of Malaysian professionals already use AI tools in their job.</a:t>
            </a:r>
            <a:endParaRPr lang="en-US" sz="1300" dirty="0"/>
          </a:p>
        </p:txBody>
      </p:sp>
      <p:sp>
        <p:nvSpPr>
          <p:cNvPr id="13" name="26% card"/>
          <p:cNvSpPr/>
          <p:nvPr/>
        </p:nvSpPr>
        <p:spPr>
          <a:xfrm>
            <a:off x="4367784" y="1783080"/>
            <a:ext cx="3453384" cy="2514600"/>
          </a:xfrm>
          <a:prstGeom prst="roundRect">
            <a:avLst>
              <a:gd name="adj" fmla="val 3636"/>
            </a:avLst>
          </a:prstGeom>
          <a:solidFill>
            <a:schemeClr val="bg1"/>
          </a:solidFill>
          <a:ln w="9525">
            <a:solidFill>
              <a:srgbClr val="E3DFD6"/>
            </a:solidFill>
            <a:prstDash val="solid"/>
          </a:ln>
        </p:spPr>
        <p:txBody>
          <a:bodyPr/>
          <a:p/>
        </p:txBody>
      </p:sp>
      <p:sp>
        <p:nvSpPr>
          <p:cNvPr id="14" name="LuGraduationCap tile"/>
          <p:cNvSpPr/>
          <p:nvPr/>
        </p:nvSpPr>
        <p:spPr>
          <a:xfrm>
            <a:off x="4642104" y="2011680"/>
            <a:ext cx="566928" cy="566928"/>
          </a:xfrm>
          <a:prstGeom prst="roundRect">
            <a:avLst>
              <a:gd name="adj" fmla="val 16129"/>
            </a:avLst>
          </a:prstGeom>
          <a:solidFill>
            <a:srgbClr val="F7E3E0"/>
          </a:solidFill>
        </p:spPr>
        <p:txBody>
          <a:bodyPr/>
          <a:p/>
        </p:txBody>
      </p:sp>
      <p:pic>
        <p:nvPicPr>
          <p:cNvPr id="15" name="LuGraduationCap icon" descr="preencoded.png"/>
          <p:cNvPicPr>
            <a:picLocks noChangeAspect="1"/>
          </p:cNvPicPr>
          <p:nvPr/>
        </p:nvPicPr>
        <p:blipFill>
          <a:blip r:embed="rId2"/>
          <a:stretch>
            <a:fillRect/>
          </a:stretch>
        </p:blipFill>
        <p:spPr>
          <a:xfrm>
            <a:off x="4783836" y="2153412"/>
            <a:ext cx="283464" cy="283464"/>
          </a:xfrm>
          <a:prstGeom prst="rect">
            <a:avLst/>
          </a:prstGeom>
        </p:spPr>
      </p:pic>
      <p:sp>
        <p:nvSpPr>
          <p:cNvPr id="16" name="Text 12"/>
          <p:cNvSpPr txBox="1"/>
          <p:nvPr/>
        </p:nvSpPr>
        <p:spPr>
          <a:xfrm>
            <a:off x="4642104" y="2697480"/>
            <a:ext cx="2996184" cy="777240"/>
          </a:xfrm>
          <a:prstGeom prst="rect">
            <a:avLst/>
          </a:prstGeom>
          <a:noFill/>
        </p:spPr>
        <p:txBody>
          <a:bodyPr wrap="square" lIns="0" tIns="0" rIns="0" bIns="0" rtlCol="0" anchor="ctr"/>
          <a:lstStyle/>
          <a:p>
            <a:pPr marL="0" indent="0">
              <a:buNone/>
            </a:pPr>
            <a:r>
              <a:rPr lang="en-US" sz="5400" b="1" dirty="0">
                <a:solidFill>
                  <a:schemeClr val="tx1"/>
                </a:solidFill>
              </a:rPr>
              <a:t>26%</a:t>
            </a:r>
            <a:endParaRPr lang="en-US" sz="5400" dirty="0"/>
          </a:p>
        </p:txBody>
      </p:sp>
      <p:sp>
        <p:nvSpPr>
          <p:cNvPr id="17" name="Text 13"/>
          <p:cNvSpPr txBox="1"/>
          <p:nvPr/>
        </p:nvSpPr>
        <p:spPr>
          <a:xfrm>
            <a:off x="4642104" y="3474720"/>
            <a:ext cx="2996184" cy="320040"/>
          </a:xfrm>
          <a:prstGeom prst="rect">
            <a:avLst/>
          </a:prstGeom>
          <a:noFill/>
        </p:spPr>
        <p:txBody>
          <a:bodyPr wrap="square" lIns="0" tIns="0" rIns="0" bIns="0" rtlCol="0" anchor="ctr"/>
          <a:lstStyle/>
          <a:p>
            <a:pPr marL="0" indent="0">
              <a:buNone/>
            </a:pPr>
            <a:r>
              <a:rPr lang="en-US" sz="1700" b="1" dirty="0">
                <a:solidFill>
                  <a:schemeClr val="accent3"/>
                </a:solidFill>
              </a:rPr>
              <a:t>have had AI training</a:t>
            </a:r>
            <a:endParaRPr lang="en-US" sz="1700" dirty="0"/>
          </a:p>
        </p:txBody>
      </p:sp>
      <p:sp>
        <p:nvSpPr>
          <p:cNvPr id="18" name="Text 14"/>
          <p:cNvSpPr txBox="1"/>
          <p:nvPr/>
        </p:nvSpPr>
        <p:spPr>
          <a:xfrm>
            <a:off x="4642104" y="3794760"/>
            <a:ext cx="2996184" cy="457200"/>
          </a:xfrm>
          <a:prstGeom prst="rect">
            <a:avLst/>
          </a:prstGeom>
          <a:noFill/>
        </p:spPr>
        <p:txBody>
          <a:bodyPr wrap="square" lIns="0" tIns="0" rIns="0" bIns="0" rtlCol="0" anchor="t"/>
          <a:lstStyle/>
          <a:p>
            <a:pPr marL="0" indent="0">
              <a:buNone/>
            </a:pPr>
            <a:r>
              <a:rPr lang="en-US" sz="1300" dirty="0">
                <a:solidFill>
                  <a:schemeClr val="tx2"/>
                </a:solidFill>
              </a:rPr>
              <a:t>Fewer than half of the people using AI were ever trained for it.</a:t>
            </a:r>
            <a:endParaRPr lang="en-US" sz="1300" dirty="0"/>
          </a:p>
        </p:txBody>
      </p:sp>
      <p:sp>
        <p:nvSpPr>
          <p:cNvPr id="19" name="600K+ card"/>
          <p:cNvSpPr/>
          <p:nvPr/>
        </p:nvSpPr>
        <p:spPr>
          <a:xfrm>
            <a:off x="8004048" y="1783080"/>
            <a:ext cx="3453384" cy="2514600"/>
          </a:xfrm>
          <a:prstGeom prst="roundRect">
            <a:avLst>
              <a:gd name="adj" fmla="val 3636"/>
            </a:avLst>
          </a:prstGeom>
          <a:solidFill>
            <a:schemeClr val="bg1"/>
          </a:solidFill>
          <a:ln w="9525">
            <a:solidFill>
              <a:srgbClr val="E3DFD6"/>
            </a:solidFill>
            <a:prstDash val="solid"/>
          </a:ln>
        </p:spPr>
        <p:txBody>
          <a:bodyPr/>
          <a:p/>
        </p:txBody>
      </p:sp>
      <p:sp>
        <p:nvSpPr>
          <p:cNvPr id="20" name="LuUsers tile"/>
          <p:cNvSpPr/>
          <p:nvPr/>
        </p:nvSpPr>
        <p:spPr>
          <a:xfrm>
            <a:off x="8278368" y="2011680"/>
            <a:ext cx="566928" cy="566928"/>
          </a:xfrm>
          <a:prstGeom prst="roundRect">
            <a:avLst>
              <a:gd name="adj" fmla="val 16129"/>
            </a:avLst>
          </a:prstGeom>
          <a:solidFill>
            <a:srgbClr val="F8EBD3"/>
          </a:solidFill>
        </p:spPr>
        <p:txBody>
          <a:bodyPr/>
          <a:p/>
        </p:txBody>
      </p:sp>
      <p:pic>
        <p:nvPicPr>
          <p:cNvPr id="21" name="LuUsers icon" descr="preencoded.png"/>
          <p:cNvPicPr>
            <a:picLocks noChangeAspect="1"/>
          </p:cNvPicPr>
          <p:nvPr/>
        </p:nvPicPr>
        <p:blipFill>
          <a:blip r:embed="rId3"/>
          <a:stretch>
            <a:fillRect/>
          </a:stretch>
        </p:blipFill>
        <p:spPr>
          <a:xfrm>
            <a:off x="8420100" y="2153412"/>
            <a:ext cx="283464" cy="283464"/>
          </a:xfrm>
          <a:prstGeom prst="rect">
            <a:avLst/>
          </a:prstGeom>
        </p:spPr>
      </p:pic>
      <p:sp>
        <p:nvSpPr>
          <p:cNvPr id="22" name="Text 17"/>
          <p:cNvSpPr txBox="1"/>
          <p:nvPr/>
        </p:nvSpPr>
        <p:spPr>
          <a:xfrm>
            <a:off x="8278368" y="2697480"/>
            <a:ext cx="2996184" cy="777240"/>
          </a:xfrm>
          <a:prstGeom prst="rect">
            <a:avLst/>
          </a:prstGeom>
          <a:noFill/>
        </p:spPr>
        <p:txBody>
          <a:bodyPr wrap="square" lIns="0" tIns="0" rIns="0" bIns="0" rtlCol="0" anchor="ctr"/>
          <a:lstStyle/>
          <a:p>
            <a:pPr marL="0" indent="0">
              <a:buNone/>
            </a:pPr>
            <a:r>
              <a:rPr lang="en-US" sz="5400" b="1" dirty="0">
                <a:solidFill>
                  <a:schemeClr val="tx1"/>
                </a:solidFill>
              </a:rPr>
              <a:t>600K+</a:t>
            </a:r>
            <a:endParaRPr lang="en-US" sz="5400" dirty="0"/>
          </a:p>
        </p:txBody>
      </p:sp>
      <p:sp>
        <p:nvSpPr>
          <p:cNvPr id="23" name="Text 18"/>
          <p:cNvSpPr txBox="1"/>
          <p:nvPr/>
        </p:nvSpPr>
        <p:spPr>
          <a:xfrm>
            <a:off x="8278368" y="3474720"/>
            <a:ext cx="2996184" cy="320040"/>
          </a:xfrm>
          <a:prstGeom prst="rect">
            <a:avLst/>
          </a:prstGeom>
          <a:noFill/>
        </p:spPr>
        <p:txBody>
          <a:bodyPr wrap="square" lIns="0" tIns="0" rIns="0" bIns="0" rtlCol="0" anchor="ctr"/>
          <a:lstStyle/>
          <a:p>
            <a:pPr marL="0" indent="0">
              <a:buNone/>
            </a:pPr>
            <a:r>
              <a:rPr lang="en-US" sz="1700" b="1" dirty="0">
                <a:solidFill>
                  <a:schemeClr val="accent2"/>
                </a:solidFill>
              </a:rPr>
              <a:t>need reskilling</a:t>
            </a:r>
            <a:endParaRPr lang="en-US" sz="1700" dirty="0"/>
          </a:p>
        </p:txBody>
      </p:sp>
      <p:sp>
        <p:nvSpPr>
          <p:cNvPr id="24" name="Text 19"/>
          <p:cNvSpPr txBox="1"/>
          <p:nvPr/>
        </p:nvSpPr>
        <p:spPr>
          <a:xfrm>
            <a:off x="8278368" y="3794760"/>
            <a:ext cx="2996184" cy="457200"/>
          </a:xfrm>
          <a:prstGeom prst="rect">
            <a:avLst/>
          </a:prstGeom>
          <a:noFill/>
        </p:spPr>
        <p:txBody>
          <a:bodyPr wrap="square" lIns="0" tIns="0" rIns="0" bIns="0" rtlCol="0" anchor="t"/>
          <a:lstStyle/>
          <a:p>
            <a:pPr marL="0" indent="0">
              <a:buNone/>
            </a:pPr>
            <a:r>
              <a:rPr lang="en-US" sz="1300" dirty="0">
                <a:solidFill>
                  <a:schemeClr val="tx2"/>
                </a:solidFill>
              </a:rPr>
              <a:t>Malaysian workers who need reskilling within 3–5 years.</a:t>
            </a:r>
            <a:endParaRPr lang="en-US" sz="1300" dirty="0"/>
          </a:p>
        </p:txBody>
      </p:sp>
      <p:sp>
        <p:nvSpPr>
          <p:cNvPr id="25" name="Gap band"/>
          <p:cNvSpPr/>
          <p:nvPr/>
        </p:nvSpPr>
        <p:spPr>
          <a:xfrm>
            <a:off x="731520" y="4480560"/>
            <a:ext cx="10725912" cy="1051560"/>
          </a:xfrm>
          <a:prstGeom prst="roundRect">
            <a:avLst>
              <a:gd name="adj" fmla="val 10435"/>
            </a:avLst>
          </a:prstGeom>
          <a:solidFill>
            <a:schemeClr val="accent4"/>
          </a:solidFill>
        </p:spPr>
        <p:txBody>
          <a:bodyPr/>
          <a:p/>
        </p:txBody>
      </p:sp>
      <p:sp>
        <p:nvSpPr>
          <p:cNvPr id="26" name="Text 21"/>
          <p:cNvSpPr txBox="1"/>
          <p:nvPr/>
        </p:nvSpPr>
        <p:spPr>
          <a:xfrm>
            <a:off x="1051560" y="4572000"/>
            <a:ext cx="2743200" cy="274320"/>
          </a:xfrm>
          <a:prstGeom prst="rect">
            <a:avLst/>
          </a:prstGeom>
          <a:noFill/>
        </p:spPr>
        <p:txBody>
          <a:bodyPr wrap="square" lIns="0" tIns="0" rIns="0" bIns="0" rtlCol="0" anchor="ctr"/>
          <a:lstStyle/>
          <a:p>
            <a:pPr marL="0" indent="0">
              <a:buNone/>
            </a:pPr>
            <a:r>
              <a:rPr lang="en-US" sz="1100" b="1" kern="0" spc="150" dirty="0">
                <a:solidFill>
                  <a:srgbClr val="D9971F"/>
                </a:solidFill>
              </a:rPr>
              <a:t>TODAY'S ANSWERS</a:t>
            </a:r>
            <a:endParaRPr lang="en-US" sz="1100" dirty="0"/>
          </a:p>
        </p:txBody>
      </p:sp>
      <p:sp>
        <p:nvSpPr>
          <p:cNvPr id="27" name="Text 22"/>
          <p:cNvSpPr txBox="1"/>
          <p:nvPr/>
        </p:nvSpPr>
        <p:spPr>
          <a:xfrm>
            <a:off x="1051560" y="4846320"/>
            <a:ext cx="3246120" cy="594360"/>
          </a:xfrm>
          <a:prstGeom prst="rect">
            <a:avLst/>
          </a:prstGeom>
          <a:noFill/>
        </p:spPr>
        <p:txBody>
          <a:bodyPr wrap="square" lIns="0" tIns="0" rIns="0" bIns="0" rtlCol="0" anchor="t"/>
          <a:lstStyle/>
          <a:p>
            <a:pPr marL="0" indent="0">
              <a:buNone/>
            </a:pPr>
            <a:r>
              <a:rPr lang="en-US" sz="1300" b="1" dirty="0">
                <a:solidFill>
                  <a:schemeClr val="bg1"/>
                </a:solidFill>
              </a:rPr>
              <a:t>Job portals </a:t>
            </a:r>
            <a:r>
              <a:rPr lang="en-US" sz="1300" dirty="0">
                <a:solidFill>
                  <a:srgbClr val="C9D6D3"/>
                </a:solidFill>
              </a:rPr>
              <a:t>show today's openings, not where jobs are heading.</a:t>
            </a:r>
            <a:endParaRPr lang="en-US" sz="1300" dirty="0"/>
          </a:p>
        </p:txBody>
      </p:sp>
      <p:sp>
        <p:nvSpPr>
          <p:cNvPr id="28" name="Text 23"/>
          <p:cNvSpPr txBox="1"/>
          <p:nvPr/>
        </p:nvSpPr>
        <p:spPr>
          <a:xfrm>
            <a:off x="4526280" y="4846320"/>
            <a:ext cx="3246120" cy="594360"/>
          </a:xfrm>
          <a:prstGeom prst="rect">
            <a:avLst/>
          </a:prstGeom>
          <a:noFill/>
        </p:spPr>
        <p:txBody>
          <a:bodyPr wrap="square" lIns="0" tIns="0" rIns="0" bIns="0" rtlCol="0" anchor="t"/>
          <a:lstStyle/>
          <a:p>
            <a:pPr marL="0" indent="0">
              <a:buNone/>
            </a:pPr>
            <a:r>
              <a:rPr lang="en-US" sz="1300" b="1" dirty="0">
                <a:solidFill>
                  <a:schemeClr val="bg1"/>
                </a:solidFill>
              </a:rPr>
              <a:t>Chatbots </a:t>
            </a:r>
            <a:r>
              <a:rPr lang="en-US" sz="1300" dirty="0">
                <a:solidFill>
                  <a:srgbClr val="C9D6D3"/>
                </a:solidFill>
              </a:rPr>
              <a:t>guess the future with no sources and invent courses.</a:t>
            </a:r>
            <a:endParaRPr lang="en-US" sz="1300" dirty="0"/>
          </a:p>
        </p:txBody>
      </p:sp>
      <p:sp>
        <p:nvSpPr>
          <p:cNvPr id="29" name="Text 24"/>
          <p:cNvSpPr txBox="1"/>
          <p:nvPr/>
        </p:nvSpPr>
        <p:spPr>
          <a:xfrm>
            <a:off x="8001000" y="4846320"/>
            <a:ext cx="3246120" cy="594360"/>
          </a:xfrm>
          <a:prstGeom prst="rect">
            <a:avLst/>
          </a:prstGeom>
          <a:noFill/>
        </p:spPr>
        <p:txBody>
          <a:bodyPr wrap="square" lIns="0" tIns="0" rIns="0" bIns="0" rtlCol="0" anchor="t"/>
          <a:lstStyle/>
          <a:p>
            <a:pPr marL="0" indent="0">
              <a:buNone/>
            </a:pPr>
            <a:r>
              <a:rPr lang="en-US" sz="1300" b="1" dirty="0">
                <a:solidFill>
                  <a:schemeClr val="bg1"/>
                </a:solidFill>
              </a:rPr>
              <a:t>Skills lists </a:t>
            </a:r>
            <a:r>
              <a:rPr lang="en-US" sz="1300" dirty="0">
                <a:solidFill>
                  <a:srgbClr val="C9D6D3"/>
                </a:solidFill>
              </a:rPr>
              <a:t>go out of date before they are published.</a:t>
            </a:r>
            <a:endParaRPr lang="en-US" sz="1300" dirty="0"/>
          </a:p>
        </p:txBody>
      </p:sp>
      <p:sp>
        <p:nvSpPr>
          <p:cNvPr id="30" name="Text 25"/>
          <p:cNvSpPr txBox="1"/>
          <p:nvPr/>
        </p:nvSpPr>
        <p:spPr>
          <a:xfrm>
            <a:off x="731520" y="5669280"/>
            <a:ext cx="10725912" cy="274320"/>
          </a:xfrm>
          <a:prstGeom prst="rect">
            <a:avLst/>
          </a:prstGeom>
          <a:noFill/>
        </p:spPr>
        <p:txBody>
          <a:bodyPr wrap="square" lIns="0" tIns="0" rIns="0" bIns="0" rtlCol="0" anchor="ctr"/>
          <a:lstStyle/>
          <a:p>
            <a:pPr marL="0" indent="0">
              <a:buNone/>
            </a:pPr>
            <a:r>
              <a:rPr lang="en-US" sz="1100" dirty="0">
                <a:solidFill>
                  <a:schemeClr val="tx2"/>
                </a:solidFill>
              </a:rPr>
              <a:t>Sources: Hays Asia Salary Guide 2025 · MOSTI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2788920" cy="329184"/>
          </a:xfrm>
          <a:prstGeom prst="rect">
            <a:avLst/>
          </a:prstGeom>
          <a:noFill/>
        </p:spPr>
        <p:txBody>
          <a:bodyPr wrap="square" lIns="0" tIns="0" rIns="0" bIns="0" rtlCol="0" anchor="ctr"/>
          <a:lstStyle/>
          <a:p>
            <a:pPr marL="0" indent="0">
              <a:buNone/>
            </a:pPr>
            <a:r>
              <a:rPr lang="en-US" sz="1300" b="1" kern="0" spc="150" dirty="0">
                <a:solidFill>
                  <a:schemeClr val="accent1"/>
                </a:solidFill>
              </a:rPr>
              <a:t>ONE WORKER'S QUESTION</a:t>
            </a:r>
            <a:endParaRPr lang="en-US" sz="1300" dirty="0"/>
          </a:p>
        </p:txBody>
      </p:sp>
      <p:sp>
        <p:nvSpPr>
          <p:cNvPr id="3" name="Problem-Solution Fit · 25% pill"/>
          <p:cNvSpPr/>
          <p:nvPr/>
        </p:nvSpPr>
        <p:spPr>
          <a:xfrm>
            <a:off x="3611880" y="457200"/>
            <a:ext cx="2514600" cy="329184"/>
          </a:xfrm>
          <a:prstGeom prst="roundRect">
            <a:avLst>
              <a:gd name="adj" fmla="val 50000"/>
            </a:avLst>
          </a:prstGeom>
          <a:solidFill>
            <a:schemeClr val="accent5"/>
          </a:solidFill>
        </p:spPr>
        <p:txBody>
          <a:bodyPr/>
          <a:p/>
        </p:txBody>
      </p:sp>
      <p:sp>
        <p:nvSpPr>
          <p:cNvPr id="4" name="Text 2"/>
          <p:cNvSpPr txBox="1"/>
          <p:nvPr/>
        </p:nvSpPr>
        <p:spPr>
          <a:xfrm>
            <a:off x="3611880" y="457200"/>
            <a:ext cx="2514600" cy="329184"/>
          </a:xfrm>
          <a:prstGeom prst="rect">
            <a:avLst/>
          </a:prstGeom>
          <a:noFill/>
        </p:spPr>
        <p:txBody>
          <a:bodyPr wrap="square" lIns="0" tIns="0" rIns="0" bIns="0" rtlCol="0" anchor="ctr"/>
          <a:lstStyle/>
          <a:p>
            <a:pPr marL="0" indent="0" algn="ctr">
              <a:buNone/>
            </a:pPr>
            <a:r>
              <a:rPr lang="en-US" sz="1200" b="1" dirty="0">
                <a:solidFill>
                  <a:schemeClr val="accent1"/>
                </a:solidFill>
              </a:rPr>
              <a:t>Problem-Solution Fit · 25%</a:t>
            </a:r>
            <a:endParaRPr lang="en-US" sz="1200" dirty="0"/>
          </a:p>
        </p:txBody>
      </p:sp>
      <p:sp>
        <p:nvSpPr>
          <p:cNvPr id="5" name="Synthetic demo profile · live app pill"/>
          <p:cNvSpPr/>
          <p:nvPr/>
        </p:nvSpPr>
        <p:spPr>
          <a:xfrm>
            <a:off x="8439912" y="457200"/>
            <a:ext cx="3017520" cy="329184"/>
          </a:xfrm>
          <a:prstGeom prst="roundRect">
            <a:avLst>
              <a:gd name="adj" fmla="val 50000"/>
            </a:avLst>
          </a:prstGeom>
          <a:solidFill>
            <a:srgbClr val="EFEDE8"/>
          </a:solidFill>
        </p:spPr>
        <p:txBody>
          <a:bodyPr/>
          <a:p/>
        </p:txBody>
      </p:sp>
      <p:sp>
        <p:nvSpPr>
          <p:cNvPr id="6" name="Text 4"/>
          <p:cNvSpPr txBox="1"/>
          <p:nvPr/>
        </p:nvSpPr>
        <p:spPr>
          <a:xfrm>
            <a:off x="8439912" y="457200"/>
            <a:ext cx="3017520" cy="329184"/>
          </a:xfrm>
          <a:prstGeom prst="rect">
            <a:avLst/>
          </a:prstGeom>
          <a:noFill/>
        </p:spPr>
        <p:txBody>
          <a:bodyPr wrap="square" lIns="0" tIns="0" rIns="0" bIns="0" rtlCol="0" anchor="ctr"/>
          <a:lstStyle/>
          <a:p>
            <a:pPr marL="0" indent="0" algn="ctr">
              <a:buNone/>
            </a:pPr>
            <a:r>
              <a:rPr lang="en-US" sz="1200" dirty="0">
                <a:solidFill>
                  <a:schemeClr val="tx2"/>
                </a:solidFill>
              </a:rPr>
              <a:t>Synthetic demo profile · live app</a:t>
            </a:r>
            <a:endParaRPr lang="en-US" sz="1200" dirty="0"/>
          </a:p>
        </p:txBody>
      </p:sp>
      <p:sp>
        <p:nvSpPr>
          <p:cNvPr id="7" name="Text 5"/>
          <p:cNvSpPr txBox="1"/>
          <p:nvPr/>
        </p:nvSpPr>
        <p:spPr>
          <a:xfrm>
            <a:off x="10543032" y="6309360"/>
            <a:ext cx="914400" cy="256032"/>
          </a:xfrm>
          <a:prstGeom prst="rect">
            <a:avLst/>
          </a:prstGeom>
          <a:noFill/>
        </p:spPr>
        <p:txBody>
          <a:bodyPr wrap="square" lIns="0" tIns="0" rIns="0" bIns="0" rtlCol="0" anchor="ctr"/>
          <a:lstStyle/>
          <a:p>
            <a:pPr marL="0" indent="0" algn="r">
              <a:buNone/>
            </a:pPr>
            <a:r>
              <a:rPr lang="en-US" sz="1200" dirty="0">
                <a:solidFill>
                  <a:schemeClr val="tx2"/>
                </a:solidFill>
              </a:rPr>
              <a:t>04 / 17</a:t>
            </a:r>
            <a:endParaRPr lang="en-US" sz="1200" dirty="0"/>
          </a:p>
        </p:txBody>
      </p:sp>
      <p:sp>
        <p:nvSpPr>
          <p:cNvPr id="8" name="Text 1"/>
          <p:cNvSpPr/>
          <p:nvPr>
            <p:ph type="title" idx="102" hasCustomPrompt="1"/>
          </p:nvPr>
        </p:nvSpPr>
        <p:spPr>
          <a:xfrm>
            <a:off x="731520" y="896112"/>
            <a:ext cx="10725912" cy="685800"/>
          </a:xfrm>
          <a:prstGeom prst="rect">
            <a:avLst/>
          </a:prstGeom>
          <a:noFill/>
        </p:spPr>
        <p:txBody>
          <a:bodyPr wrap="square" lIns="0" tIns="0" rIns="0" bIns="0" rtlCol="0" anchor="t"/>
          <a:lstStyle/>
          <a:p>
            <a:pPr marL="0" indent="0" algn="l">
              <a:buNone/>
            </a:pPr>
            <a:r>
              <a:rPr lang="en-US" sz="3200" b="1" dirty="0">
                <a:solidFill>
                  <a:schemeClr val="tx1"/>
                </a:solidFill>
              </a:rPr>
              <a:t>Same question. Very different answer.</a:t>
            </a:r>
            <a:endParaRPr lang="en-US" sz="3200" dirty="0"/>
          </a:p>
        </p:txBody>
      </p:sp>
      <p:sp>
        <p:nvSpPr>
          <p:cNvPr id="9" name="Text 7"/>
          <p:cNvSpPr txBox="1"/>
          <p:nvPr/>
        </p:nvSpPr>
        <p:spPr>
          <a:xfrm>
            <a:off x="731520" y="1481328"/>
            <a:ext cx="10725912" cy="320040"/>
          </a:xfrm>
          <a:prstGeom prst="rect">
            <a:avLst/>
          </a:prstGeom>
          <a:noFill/>
        </p:spPr>
        <p:txBody>
          <a:bodyPr wrap="square" lIns="0" tIns="0" rIns="0" bIns="0" rtlCol="0" anchor="ctr"/>
          <a:lstStyle/>
          <a:p>
            <a:pPr marL="0" indent="0">
              <a:buNone/>
            </a:pPr>
            <a:r>
              <a:rPr lang="en-US" sz="1500" dirty="0">
                <a:solidFill>
                  <a:schemeClr val="tx2"/>
                </a:solidFill>
              </a:rPr>
              <a:t>Aisyah, data-entry clerk in Shah Alam · 9 years of invoice entry · her team just adopted an AI invoice reader</a:t>
            </a:r>
            <a:endParaRPr lang="en-US" sz="1500" dirty="0"/>
          </a:p>
        </p:txBody>
      </p:sp>
      <p:sp>
        <p:nvSpPr>
          <p:cNvPr id="10" name="Table"/>
          <p:cNvSpPr/>
          <p:nvPr/>
        </p:nvSpPr>
        <p:spPr>
          <a:xfrm>
            <a:off x="731520" y="1920240"/>
            <a:ext cx="10725912" cy="3328416"/>
          </a:xfrm>
          <a:prstGeom prst="roundRect">
            <a:avLst>
              <a:gd name="adj" fmla="val 549"/>
            </a:avLst>
          </a:prstGeom>
          <a:solidFill>
            <a:schemeClr val="bg1"/>
          </a:solidFill>
          <a:ln w="9525">
            <a:solidFill>
              <a:srgbClr val="E3DFD6"/>
            </a:solidFill>
            <a:prstDash val="solid"/>
          </a:ln>
        </p:spPr>
        <p:txBody>
          <a:bodyPr/>
          <a:p/>
        </p:txBody>
      </p:sp>
      <p:sp>
        <p:nvSpPr>
          <p:cNvPr id="11" name="Header row"/>
          <p:cNvSpPr/>
          <p:nvPr/>
        </p:nvSpPr>
        <p:spPr>
          <a:xfrm>
            <a:off x="731520" y="1920240"/>
            <a:ext cx="10725912" cy="384048"/>
          </a:xfrm>
          <a:prstGeom prst="rect">
            <a:avLst/>
          </a:prstGeom>
          <a:solidFill>
            <a:srgbClr val="EFEDE8"/>
          </a:solidFill>
        </p:spPr>
        <p:txBody>
          <a:bodyPr/>
          <a:p/>
        </p:txBody>
      </p:sp>
      <p:sp>
        <p:nvSpPr>
          <p:cNvPr id="12" name="Text 10"/>
          <p:cNvSpPr txBox="1"/>
          <p:nvPr/>
        </p:nvSpPr>
        <p:spPr>
          <a:xfrm>
            <a:off x="868680" y="1920240"/>
            <a:ext cx="2423160" cy="384048"/>
          </a:xfrm>
          <a:prstGeom prst="rect">
            <a:avLst/>
          </a:prstGeom>
          <a:noFill/>
        </p:spPr>
        <p:txBody>
          <a:bodyPr wrap="square" lIns="0" tIns="0" rIns="0" bIns="0" rtlCol="0" anchor="ctr"/>
          <a:lstStyle/>
          <a:p>
            <a:pPr marL="0" indent="0">
              <a:buNone/>
            </a:pPr>
            <a:r>
              <a:rPr lang="en-US" sz="1400" b="1" dirty="0">
                <a:solidFill>
                  <a:schemeClr val="tx1"/>
                </a:solidFill>
              </a:rPr>
              <a:t>Question</a:t>
            </a:r>
            <a:endParaRPr lang="en-US" sz="1400" dirty="0"/>
          </a:p>
        </p:txBody>
      </p:sp>
      <p:sp>
        <p:nvSpPr>
          <p:cNvPr id="13" name="Text 11"/>
          <p:cNvSpPr txBox="1"/>
          <p:nvPr/>
        </p:nvSpPr>
        <p:spPr>
          <a:xfrm>
            <a:off x="3566160" y="1920240"/>
            <a:ext cx="2697480" cy="384048"/>
          </a:xfrm>
          <a:prstGeom prst="rect">
            <a:avLst/>
          </a:prstGeom>
          <a:noFill/>
        </p:spPr>
        <p:txBody>
          <a:bodyPr wrap="square" lIns="0" tIns="0" rIns="0" bIns="0" rtlCol="0" anchor="ctr"/>
          <a:lstStyle/>
          <a:p>
            <a:pPr marL="0" indent="0">
              <a:buNone/>
            </a:pPr>
            <a:r>
              <a:rPr lang="en-US" sz="1400" b="1" dirty="0">
                <a:solidFill>
                  <a:schemeClr val="accent3"/>
                </a:solidFill>
              </a:rPr>
              <a:t>● Asking a chatbot</a:t>
            </a:r>
            <a:endParaRPr lang="en-US" sz="1400" dirty="0"/>
          </a:p>
        </p:txBody>
      </p:sp>
      <p:sp>
        <p:nvSpPr>
          <p:cNvPr id="14" name="Text 12"/>
          <p:cNvSpPr txBox="1"/>
          <p:nvPr/>
        </p:nvSpPr>
        <p:spPr>
          <a:xfrm>
            <a:off x="6537960" y="1920240"/>
            <a:ext cx="4782312" cy="384048"/>
          </a:xfrm>
          <a:prstGeom prst="rect">
            <a:avLst/>
          </a:prstGeom>
          <a:noFill/>
        </p:spPr>
        <p:txBody>
          <a:bodyPr wrap="square" lIns="0" tIns="0" rIns="0" bIns="0" rtlCol="0" anchor="ctr"/>
          <a:lstStyle/>
          <a:p>
            <a:pPr marL="0" indent="0">
              <a:buNone/>
            </a:pPr>
            <a:r>
              <a:rPr lang="en-US" sz="1400" b="1" dirty="0">
                <a:solidFill>
                  <a:schemeClr val="accent1"/>
                </a:solidFill>
              </a:rPr>
              <a:t>● With Laluan</a:t>
            </a:r>
            <a:endParaRPr lang="en-US" sz="1400" dirty="0"/>
          </a:p>
        </p:txBody>
      </p:sp>
      <p:sp>
        <p:nvSpPr>
          <p:cNvPr id="15" name="Row rule"/>
          <p:cNvSpPr/>
          <p:nvPr/>
        </p:nvSpPr>
        <p:spPr>
          <a:xfrm>
            <a:off x="731520" y="2304288"/>
            <a:ext cx="10725912" cy="0"/>
          </a:xfrm>
          <a:prstGeom prst="line">
            <a:avLst/>
          </a:prstGeom>
          <a:noFill/>
          <a:ln w="9525">
            <a:solidFill>
              <a:srgbClr val="E3DFD6"/>
            </a:solidFill>
            <a:prstDash val="solid"/>
          </a:ln>
        </p:spPr>
        <p:txBody>
          <a:bodyPr/>
          <a:p/>
        </p:txBody>
      </p:sp>
      <p:sp>
        <p:nvSpPr>
          <p:cNvPr id="16" name="Text 14"/>
          <p:cNvSpPr txBox="1"/>
          <p:nvPr/>
        </p:nvSpPr>
        <p:spPr>
          <a:xfrm>
            <a:off x="868680" y="2304288"/>
            <a:ext cx="2423160" cy="420624"/>
          </a:xfrm>
          <a:prstGeom prst="rect">
            <a:avLst/>
          </a:prstGeom>
          <a:noFill/>
        </p:spPr>
        <p:txBody>
          <a:bodyPr wrap="square" lIns="0" tIns="0" rIns="0" bIns="0" rtlCol="0" anchor="ctr"/>
          <a:lstStyle/>
          <a:p>
            <a:pPr marL="0" indent="0">
              <a:buNone/>
            </a:pPr>
            <a:r>
              <a:rPr lang="en-US" sz="1350" dirty="0">
                <a:solidFill>
                  <a:schemeClr val="tx1"/>
                </a:solidFill>
              </a:rPr>
              <a:t>Will my job exist in 2030?</a:t>
            </a:r>
            <a:endParaRPr lang="en-US" sz="1350" dirty="0"/>
          </a:p>
        </p:txBody>
      </p:sp>
      <p:sp>
        <p:nvSpPr>
          <p:cNvPr id="17" name="Text 15"/>
          <p:cNvSpPr txBox="1"/>
          <p:nvPr/>
        </p:nvSpPr>
        <p:spPr>
          <a:xfrm>
            <a:off x="3566160" y="2304288"/>
            <a:ext cx="2697480" cy="420624"/>
          </a:xfrm>
          <a:prstGeom prst="rect">
            <a:avLst/>
          </a:prstGeom>
          <a:noFill/>
        </p:spPr>
        <p:txBody>
          <a:bodyPr wrap="square" lIns="0" tIns="0" rIns="0" bIns="0" rtlCol="0" anchor="ctr"/>
          <a:lstStyle/>
          <a:p>
            <a:pPr marL="0" indent="0">
              <a:buNone/>
            </a:pPr>
            <a:r>
              <a:rPr lang="en-US" sz="1350" dirty="0">
                <a:solidFill>
                  <a:schemeClr val="tx2"/>
                </a:solidFill>
              </a:rPr>
              <a:t>A paragraph of opinion</a:t>
            </a:r>
            <a:endParaRPr lang="en-US" sz="1350" dirty="0"/>
          </a:p>
        </p:txBody>
      </p:sp>
      <p:sp>
        <p:nvSpPr>
          <p:cNvPr id="18" name="Text 16"/>
          <p:cNvSpPr txBox="1"/>
          <p:nvPr/>
        </p:nvSpPr>
        <p:spPr>
          <a:xfrm>
            <a:off x="6537960" y="2304288"/>
            <a:ext cx="4782312" cy="420624"/>
          </a:xfrm>
          <a:prstGeom prst="rect">
            <a:avLst/>
          </a:prstGeom>
          <a:noFill/>
        </p:spPr>
        <p:txBody>
          <a:bodyPr wrap="square" lIns="0" tIns="0" rIns="0" bIns="0" rtlCol="0" anchor="ctr"/>
          <a:lstStyle/>
          <a:p>
            <a:pPr marL="0" indent="0">
              <a:buNone/>
            </a:pPr>
            <a:r>
              <a:rPr lang="en-US" sz="1350" dirty="0">
                <a:solidFill>
                  <a:schemeClr val="tx1"/>
                </a:solidFill>
              </a:rPr>
              <a:t>−13% slow · −31% baseline · −52% fast, all sourced</a:t>
            </a:r>
            <a:endParaRPr lang="en-US" sz="1350" dirty="0">
              <a:solidFill>
                <a:schemeClr val="tx1"/>
              </a:solidFill>
            </a:endParaRPr>
          </a:p>
        </p:txBody>
      </p:sp>
      <p:sp>
        <p:nvSpPr>
          <p:cNvPr id="19" name="Row rule"/>
          <p:cNvSpPr/>
          <p:nvPr/>
        </p:nvSpPr>
        <p:spPr>
          <a:xfrm>
            <a:off x="731520" y="2724912"/>
            <a:ext cx="10725912" cy="0"/>
          </a:xfrm>
          <a:prstGeom prst="line">
            <a:avLst/>
          </a:prstGeom>
          <a:noFill/>
          <a:ln w="9525">
            <a:solidFill>
              <a:srgbClr val="E3DFD6"/>
            </a:solidFill>
            <a:prstDash val="solid"/>
          </a:ln>
        </p:spPr>
        <p:txBody>
          <a:bodyPr/>
          <a:p/>
        </p:txBody>
      </p:sp>
      <p:sp>
        <p:nvSpPr>
          <p:cNvPr id="20" name="Text 18"/>
          <p:cNvSpPr txBox="1"/>
          <p:nvPr/>
        </p:nvSpPr>
        <p:spPr>
          <a:xfrm>
            <a:off x="868680" y="2724912"/>
            <a:ext cx="2423160" cy="420624"/>
          </a:xfrm>
          <a:prstGeom prst="rect">
            <a:avLst/>
          </a:prstGeom>
          <a:noFill/>
        </p:spPr>
        <p:txBody>
          <a:bodyPr wrap="square" lIns="0" tIns="0" rIns="0" bIns="0" rtlCol="0" anchor="ctr"/>
          <a:lstStyle/>
          <a:p>
            <a:pPr marL="0" indent="0">
              <a:buNone/>
            </a:pPr>
            <a:r>
              <a:rPr lang="en-US" sz="1350" dirty="0">
                <a:solidFill>
                  <a:schemeClr val="tx1"/>
                </a:solidFill>
              </a:rPr>
              <a:t>Which tasks go first?</a:t>
            </a:r>
            <a:endParaRPr lang="en-US" sz="1350" dirty="0"/>
          </a:p>
        </p:txBody>
      </p:sp>
      <p:sp>
        <p:nvSpPr>
          <p:cNvPr id="21" name="Text 19"/>
          <p:cNvSpPr txBox="1"/>
          <p:nvPr/>
        </p:nvSpPr>
        <p:spPr>
          <a:xfrm>
            <a:off x="3566160" y="2724912"/>
            <a:ext cx="2697480" cy="420624"/>
          </a:xfrm>
          <a:prstGeom prst="rect">
            <a:avLst/>
          </a:prstGeom>
          <a:noFill/>
        </p:spPr>
        <p:txBody>
          <a:bodyPr wrap="square" lIns="0" tIns="0" rIns="0" bIns="0" rtlCol="0" anchor="ctr"/>
          <a:lstStyle/>
          <a:p>
            <a:pPr marL="0" indent="0">
              <a:buNone/>
            </a:pPr>
            <a:r>
              <a:rPr lang="en-US" sz="1350" dirty="0">
                <a:solidFill>
                  <a:schemeClr val="tx2"/>
                </a:solidFill>
              </a:rPr>
              <a:t>General guesses</a:t>
            </a:r>
            <a:endParaRPr lang="en-US" sz="1350" dirty="0"/>
          </a:p>
        </p:txBody>
      </p:sp>
      <p:sp>
        <p:nvSpPr>
          <p:cNvPr id="22" name="Text 20"/>
          <p:cNvSpPr txBox="1"/>
          <p:nvPr/>
        </p:nvSpPr>
        <p:spPr>
          <a:xfrm>
            <a:off x="6537960" y="2724912"/>
            <a:ext cx="4782312" cy="420624"/>
          </a:xfrm>
          <a:prstGeom prst="rect">
            <a:avLst/>
          </a:prstGeom>
          <a:noFill/>
        </p:spPr>
        <p:txBody>
          <a:bodyPr wrap="square" lIns="0" tIns="0" rIns="0" bIns="0" rtlCol="0" anchor="ctr"/>
          <a:lstStyle/>
          <a:p>
            <a:pPr marL="0" indent="0">
              <a:buNone/>
            </a:pPr>
            <a:r>
              <a:rPr lang="en-US" sz="1350" dirty="0">
                <a:solidFill>
                  <a:schemeClr val="tx1"/>
                </a:solidFill>
              </a:rPr>
              <a:t>3 of 5 core tasks: “AI does it” (O*NET tasks, team-labelled)</a:t>
            </a:r>
            <a:endParaRPr lang="en-US" sz="1350" dirty="0"/>
          </a:p>
        </p:txBody>
      </p:sp>
      <p:sp>
        <p:nvSpPr>
          <p:cNvPr id="23" name="Row rule"/>
          <p:cNvSpPr/>
          <p:nvPr/>
        </p:nvSpPr>
        <p:spPr>
          <a:xfrm>
            <a:off x="731520" y="3145536"/>
            <a:ext cx="10725912" cy="0"/>
          </a:xfrm>
          <a:prstGeom prst="line">
            <a:avLst/>
          </a:prstGeom>
          <a:noFill/>
          <a:ln w="9525">
            <a:solidFill>
              <a:srgbClr val="E3DFD6"/>
            </a:solidFill>
            <a:prstDash val="solid"/>
          </a:ln>
        </p:spPr>
        <p:txBody>
          <a:bodyPr/>
          <a:p/>
        </p:txBody>
      </p:sp>
      <p:sp>
        <p:nvSpPr>
          <p:cNvPr id="24" name="Text 22"/>
          <p:cNvSpPr txBox="1"/>
          <p:nvPr/>
        </p:nvSpPr>
        <p:spPr>
          <a:xfrm>
            <a:off x="868680" y="3145536"/>
            <a:ext cx="2423160" cy="420624"/>
          </a:xfrm>
          <a:prstGeom prst="rect">
            <a:avLst/>
          </a:prstGeom>
          <a:noFill/>
        </p:spPr>
        <p:txBody>
          <a:bodyPr wrap="square" lIns="0" tIns="0" rIns="0" bIns="0" rtlCol="0" anchor="ctr"/>
          <a:lstStyle/>
          <a:p>
            <a:pPr marL="0" indent="0">
              <a:buNone/>
            </a:pPr>
            <a:r>
              <a:rPr lang="en-US" sz="1350" dirty="0">
                <a:solidFill>
                  <a:schemeClr val="tx1"/>
                </a:solidFill>
              </a:rPr>
              <a:t>Where should I aim?</a:t>
            </a:r>
            <a:endParaRPr lang="en-US" sz="1350" dirty="0"/>
          </a:p>
        </p:txBody>
      </p:sp>
      <p:sp>
        <p:nvSpPr>
          <p:cNvPr id="25" name="Text 23"/>
          <p:cNvSpPr txBox="1"/>
          <p:nvPr/>
        </p:nvSpPr>
        <p:spPr>
          <a:xfrm>
            <a:off x="3566160" y="3145536"/>
            <a:ext cx="2697480" cy="420624"/>
          </a:xfrm>
          <a:prstGeom prst="rect">
            <a:avLst/>
          </a:prstGeom>
          <a:noFill/>
        </p:spPr>
        <p:txBody>
          <a:bodyPr wrap="square" lIns="0" tIns="0" rIns="0" bIns="0" rtlCol="0" anchor="ctr"/>
          <a:lstStyle/>
          <a:p>
            <a:pPr marL="0" indent="0">
              <a:buNone/>
            </a:pPr>
            <a:r>
              <a:rPr lang="en-US" sz="1350" dirty="0">
                <a:solidFill>
                  <a:schemeClr val="tx2"/>
                </a:solidFill>
              </a:rPr>
              <a:t>A list of popular jobs</a:t>
            </a:r>
            <a:endParaRPr lang="en-US" sz="1350" dirty="0"/>
          </a:p>
        </p:txBody>
      </p:sp>
      <p:sp>
        <p:nvSpPr>
          <p:cNvPr id="26" name="Text 24"/>
          <p:cNvSpPr txBox="1"/>
          <p:nvPr/>
        </p:nvSpPr>
        <p:spPr>
          <a:xfrm>
            <a:off x="6537960" y="3145536"/>
            <a:ext cx="4782312" cy="420624"/>
          </a:xfrm>
          <a:prstGeom prst="rect">
            <a:avLst/>
          </a:prstGeom>
          <a:noFill/>
        </p:spPr>
        <p:txBody>
          <a:bodyPr wrap="square" lIns="0" tIns="0" rIns="0" bIns="0" rtlCol="0" anchor="ctr"/>
          <a:lstStyle/>
          <a:p>
            <a:pPr marL="0" indent="0">
              <a:buNone/>
            </a:pPr>
            <a:r>
              <a:rPr lang="en-US" sz="1350" dirty="0">
                <a:solidFill>
                  <a:schemeClr val="tx1"/>
                </a:solidFill>
              </a:rPr>
              <a:t>AI operations specialist: 37% fit, +45% by 2030</a:t>
            </a:r>
            <a:endParaRPr lang="en-US" sz="1350" dirty="0">
              <a:solidFill>
                <a:schemeClr val="tx1"/>
              </a:solidFill>
            </a:endParaRPr>
          </a:p>
        </p:txBody>
      </p:sp>
      <p:sp>
        <p:nvSpPr>
          <p:cNvPr id="27" name="Row rule"/>
          <p:cNvSpPr/>
          <p:nvPr/>
        </p:nvSpPr>
        <p:spPr>
          <a:xfrm>
            <a:off x="731520" y="3566160"/>
            <a:ext cx="10725912" cy="0"/>
          </a:xfrm>
          <a:prstGeom prst="line">
            <a:avLst/>
          </a:prstGeom>
          <a:noFill/>
          <a:ln w="9525">
            <a:solidFill>
              <a:srgbClr val="E3DFD6"/>
            </a:solidFill>
            <a:prstDash val="solid"/>
          </a:ln>
        </p:spPr>
        <p:txBody>
          <a:bodyPr/>
          <a:p/>
        </p:txBody>
      </p:sp>
      <p:sp>
        <p:nvSpPr>
          <p:cNvPr id="28" name="Text 26"/>
          <p:cNvSpPr txBox="1"/>
          <p:nvPr/>
        </p:nvSpPr>
        <p:spPr>
          <a:xfrm>
            <a:off x="868680" y="3566160"/>
            <a:ext cx="2423160" cy="420624"/>
          </a:xfrm>
          <a:prstGeom prst="rect">
            <a:avLst/>
          </a:prstGeom>
          <a:noFill/>
        </p:spPr>
        <p:txBody>
          <a:bodyPr wrap="square" lIns="0" tIns="0" rIns="0" bIns="0" rtlCol="0" anchor="ctr"/>
          <a:lstStyle/>
          <a:p>
            <a:pPr marL="0" indent="0">
              <a:buNone/>
            </a:pPr>
            <a:r>
              <a:rPr lang="en-US" sz="1350" dirty="0">
                <a:solidFill>
                  <a:schemeClr val="tx1"/>
                </a:solidFill>
              </a:rPr>
              <a:t>Is the move worth it?</a:t>
            </a:r>
            <a:endParaRPr lang="en-US" sz="1350" dirty="0"/>
          </a:p>
        </p:txBody>
      </p:sp>
      <p:sp>
        <p:nvSpPr>
          <p:cNvPr id="29" name="Text 27"/>
          <p:cNvSpPr txBox="1"/>
          <p:nvPr/>
        </p:nvSpPr>
        <p:spPr>
          <a:xfrm>
            <a:off x="3566160" y="3566160"/>
            <a:ext cx="2697480" cy="420624"/>
          </a:xfrm>
          <a:prstGeom prst="rect">
            <a:avLst/>
          </a:prstGeom>
          <a:noFill/>
        </p:spPr>
        <p:txBody>
          <a:bodyPr wrap="square" lIns="0" tIns="0" rIns="0" bIns="0" rtlCol="0" anchor="ctr"/>
          <a:lstStyle/>
          <a:p>
            <a:pPr marL="0" indent="0">
              <a:buNone/>
            </a:pPr>
            <a:r>
              <a:rPr lang="en-US" sz="1350" dirty="0">
                <a:solidFill>
                  <a:schemeClr val="tx2"/>
                </a:solidFill>
              </a:rPr>
              <a:t>No figures</a:t>
            </a:r>
            <a:endParaRPr lang="en-US" sz="1350" dirty="0"/>
          </a:p>
        </p:txBody>
      </p:sp>
      <p:sp>
        <p:nvSpPr>
          <p:cNvPr id="30" name="Text 28"/>
          <p:cNvSpPr txBox="1"/>
          <p:nvPr/>
        </p:nvSpPr>
        <p:spPr>
          <a:xfrm>
            <a:off x="6537960" y="3566160"/>
            <a:ext cx="4782312" cy="420624"/>
          </a:xfrm>
          <a:prstGeom prst="rect">
            <a:avLst/>
          </a:prstGeom>
          <a:noFill/>
        </p:spPr>
        <p:txBody>
          <a:bodyPr wrap="square" lIns="0" tIns="0" rIns="0" bIns="0" rtlCol="0" anchor="ctr"/>
          <a:lstStyle/>
          <a:p>
            <a:pPr marL="0" indent="0">
              <a:buNone/>
            </a:pPr>
            <a:r>
              <a:rPr lang="en-US" sz="1350" dirty="0">
                <a:solidFill>
                  <a:schemeClr val="tx1"/>
                </a:solidFill>
              </a:rPr>
              <a:t>Grows in all 3 futures; pays RM 3,431 a month more</a:t>
            </a:r>
            <a:endParaRPr lang="en-US" sz="1350" dirty="0">
              <a:solidFill>
                <a:schemeClr val="tx1"/>
              </a:solidFill>
            </a:endParaRPr>
          </a:p>
        </p:txBody>
      </p:sp>
      <p:sp>
        <p:nvSpPr>
          <p:cNvPr id="31" name="Row rule"/>
          <p:cNvSpPr/>
          <p:nvPr/>
        </p:nvSpPr>
        <p:spPr>
          <a:xfrm>
            <a:off x="731520" y="3986784"/>
            <a:ext cx="10725912" cy="0"/>
          </a:xfrm>
          <a:prstGeom prst="line">
            <a:avLst/>
          </a:prstGeom>
          <a:noFill/>
          <a:ln w="9525">
            <a:solidFill>
              <a:srgbClr val="E3DFD6"/>
            </a:solidFill>
            <a:prstDash val="solid"/>
          </a:ln>
        </p:spPr>
        <p:txBody>
          <a:bodyPr/>
          <a:p/>
        </p:txBody>
      </p:sp>
      <p:sp>
        <p:nvSpPr>
          <p:cNvPr id="32" name="Text 30"/>
          <p:cNvSpPr txBox="1"/>
          <p:nvPr/>
        </p:nvSpPr>
        <p:spPr>
          <a:xfrm>
            <a:off x="868680" y="3986784"/>
            <a:ext cx="2423160" cy="420624"/>
          </a:xfrm>
          <a:prstGeom prst="rect">
            <a:avLst/>
          </a:prstGeom>
          <a:noFill/>
        </p:spPr>
        <p:txBody>
          <a:bodyPr wrap="square" lIns="0" tIns="0" rIns="0" bIns="0" rtlCol="0" anchor="ctr"/>
          <a:lstStyle/>
          <a:p>
            <a:pPr marL="0" indent="0">
              <a:buNone/>
            </a:pPr>
            <a:r>
              <a:rPr lang="en-US" sz="1350" dirty="0">
                <a:solidFill>
                  <a:schemeClr val="tx1"/>
                </a:solidFill>
              </a:rPr>
              <a:t>What do I learn first?</a:t>
            </a:r>
            <a:endParaRPr lang="en-US" sz="1350" dirty="0"/>
          </a:p>
        </p:txBody>
      </p:sp>
      <p:sp>
        <p:nvSpPr>
          <p:cNvPr id="33" name="Text 31"/>
          <p:cNvSpPr txBox="1"/>
          <p:nvPr/>
        </p:nvSpPr>
        <p:spPr>
          <a:xfrm>
            <a:off x="3566160" y="3986784"/>
            <a:ext cx="2697480" cy="420624"/>
          </a:xfrm>
          <a:prstGeom prst="rect">
            <a:avLst/>
          </a:prstGeom>
          <a:noFill/>
        </p:spPr>
        <p:txBody>
          <a:bodyPr wrap="square" lIns="0" tIns="0" rIns="0" bIns="0" rtlCol="0" anchor="ctr"/>
          <a:lstStyle/>
          <a:p>
            <a:pPr marL="0" indent="0">
              <a:buNone/>
            </a:pPr>
            <a:r>
              <a:rPr lang="en-US" sz="1350" dirty="0">
                <a:solidFill>
                  <a:schemeClr val="tx2"/>
                </a:solidFill>
              </a:rPr>
              <a:t>Courses that may not exist</a:t>
            </a:r>
            <a:endParaRPr lang="en-US" sz="1350" dirty="0"/>
          </a:p>
        </p:txBody>
      </p:sp>
      <p:sp>
        <p:nvSpPr>
          <p:cNvPr id="34" name="Text 32"/>
          <p:cNvSpPr txBox="1"/>
          <p:nvPr/>
        </p:nvSpPr>
        <p:spPr>
          <a:xfrm>
            <a:off x="6537960" y="3986784"/>
            <a:ext cx="4782312" cy="420624"/>
          </a:xfrm>
          <a:prstGeom prst="rect">
            <a:avLst/>
          </a:prstGeom>
          <a:noFill/>
        </p:spPr>
        <p:txBody>
          <a:bodyPr wrap="square" lIns="0" tIns="0" rIns="0" bIns="0" rtlCol="0" anchor="ctr"/>
          <a:lstStyle/>
          <a:p>
            <a:pPr marL="0" indent="0">
              <a:buNone/>
            </a:pPr>
            <a:r>
              <a:rPr lang="en-US" sz="1350" dirty="0">
                <a:solidFill>
                  <a:schemeClr val="tx1"/>
                </a:solidFill>
              </a:rPr>
              <a:t>6 catalogue courses, about 397 hours, all free</a:t>
            </a:r>
            <a:endParaRPr lang="en-US" sz="1350" dirty="0">
              <a:solidFill>
                <a:schemeClr val="tx1"/>
              </a:solidFill>
            </a:endParaRPr>
          </a:p>
        </p:txBody>
      </p:sp>
      <p:sp>
        <p:nvSpPr>
          <p:cNvPr id="35" name="Row rule"/>
          <p:cNvSpPr/>
          <p:nvPr/>
        </p:nvSpPr>
        <p:spPr>
          <a:xfrm>
            <a:off x="731520" y="4407408"/>
            <a:ext cx="10725912" cy="0"/>
          </a:xfrm>
          <a:prstGeom prst="line">
            <a:avLst/>
          </a:prstGeom>
          <a:noFill/>
          <a:ln w="9525">
            <a:solidFill>
              <a:srgbClr val="E3DFD6"/>
            </a:solidFill>
            <a:prstDash val="solid"/>
          </a:ln>
        </p:spPr>
        <p:txBody>
          <a:bodyPr/>
          <a:p/>
        </p:txBody>
      </p:sp>
      <p:sp>
        <p:nvSpPr>
          <p:cNvPr id="36" name="Text 34"/>
          <p:cNvSpPr txBox="1"/>
          <p:nvPr/>
        </p:nvSpPr>
        <p:spPr>
          <a:xfrm>
            <a:off x="868680" y="4407408"/>
            <a:ext cx="2423160" cy="420624"/>
          </a:xfrm>
          <a:prstGeom prst="rect">
            <a:avLst/>
          </a:prstGeom>
          <a:noFill/>
        </p:spPr>
        <p:txBody>
          <a:bodyPr wrap="square" lIns="0" tIns="0" rIns="0" bIns="0" rtlCol="0" anchor="ctr"/>
          <a:lstStyle/>
          <a:p>
            <a:pPr marL="0" indent="0">
              <a:buNone/>
            </a:pPr>
            <a:r>
              <a:rPr lang="en-US" sz="1350" dirty="0">
                <a:solidFill>
                  <a:schemeClr val="tx1"/>
                </a:solidFill>
              </a:rPr>
              <a:t>My personal details</a:t>
            </a:r>
            <a:endParaRPr lang="en-US" sz="1350" dirty="0"/>
          </a:p>
        </p:txBody>
      </p:sp>
      <p:sp>
        <p:nvSpPr>
          <p:cNvPr id="37" name="Text 35"/>
          <p:cNvSpPr txBox="1"/>
          <p:nvPr/>
        </p:nvSpPr>
        <p:spPr>
          <a:xfrm>
            <a:off x="3566160" y="4407408"/>
            <a:ext cx="2697480" cy="420624"/>
          </a:xfrm>
          <a:prstGeom prst="rect">
            <a:avLst/>
          </a:prstGeom>
          <a:noFill/>
        </p:spPr>
        <p:txBody>
          <a:bodyPr wrap="square" lIns="0" tIns="0" rIns="0" bIns="0" rtlCol="0" anchor="ctr"/>
          <a:lstStyle/>
          <a:p>
            <a:pPr marL="0" indent="0">
              <a:buNone/>
            </a:pPr>
            <a:r>
              <a:rPr lang="en-US" sz="1350" dirty="0">
                <a:solidFill>
                  <a:schemeClr val="tx2"/>
                </a:solidFill>
              </a:rPr>
              <a:t>Sent to the model as typed</a:t>
            </a:r>
            <a:endParaRPr lang="en-US" sz="1350" dirty="0"/>
          </a:p>
        </p:txBody>
      </p:sp>
      <p:sp>
        <p:nvSpPr>
          <p:cNvPr id="38" name="Text 36"/>
          <p:cNvSpPr txBox="1"/>
          <p:nvPr/>
        </p:nvSpPr>
        <p:spPr>
          <a:xfrm>
            <a:off x="6537960" y="4407408"/>
            <a:ext cx="4782312" cy="420624"/>
          </a:xfrm>
          <a:prstGeom prst="rect">
            <a:avLst/>
          </a:prstGeom>
          <a:noFill/>
        </p:spPr>
        <p:txBody>
          <a:bodyPr wrap="square" lIns="0" tIns="0" rIns="0" bIns="0" rtlCol="0" anchor="ctr"/>
          <a:lstStyle/>
          <a:p>
            <a:pPr marL="0" indent="0">
              <a:buNone/>
            </a:pPr>
            <a:r>
              <a:rPr lang="en-US" sz="1350" dirty="0">
                <a:solidFill>
                  <a:schemeClr val="tx1"/>
                </a:solidFill>
              </a:rPr>
              <a:t>Name, IC, phone, email removed before any AI reads them</a:t>
            </a:r>
            <a:endParaRPr lang="en-US" sz="1350" dirty="0"/>
          </a:p>
        </p:txBody>
      </p:sp>
      <p:sp>
        <p:nvSpPr>
          <p:cNvPr id="39" name="Row rule"/>
          <p:cNvSpPr/>
          <p:nvPr/>
        </p:nvSpPr>
        <p:spPr>
          <a:xfrm>
            <a:off x="731520" y="4828032"/>
            <a:ext cx="10725912" cy="0"/>
          </a:xfrm>
          <a:prstGeom prst="line">
            <a:avLst/>
          </a:prstGeom>
          <a:noFill/>
          <a:ln w="9525">
            <a:solidFill>
              <a:srgbClr val="E3DFD6"/>
            </a:solidFill>
            <a:prstDash val="solid"/>
          </a:ln>
        </p:spPr>
        <p:txBody>
          <a:bodyPr/>
          <a:p/>
        </p:txBody>
      </p:sp>
      <p:sp>
        <p:nvSpPr>
          <p:cNvPr id="40" name="Text 38"/>
          <p:cNvSpPr txBox="1"/>
          <p:nvPr/>
        </p:nvSpPr>
        <p:spPr>
          <a:xfrm>
            <a:off x="868680" y="4828032"/>
            <a:ext cx="2423160" cy="420624"/>
          </a:xfrm>
          <a:prstGeom prst="rect">
            <a:avLst/>
          </a:prstGeom>
          <a:noFill/>
        </p:spPr>
        <p:txBody>
          <a:bodyPr wrap="square" lIns="0" tIns="0" rIns="0" bIns="0" rtlCol="0" anchor="ctr"/>
          <a:lstStyle/>
          <a:p>
            <a:pPr marL="0" indent="0">
              <a:buNone/>
            </a:pPr>
            <a:r>
              <a:rPr lang="en-US" sz="1350" dirty="0">
                <a:solidFill>
                  <a:schemeClr val="tx1"/>
                </a:solidFill>
              </a:rPr>
              <a:t>Same answer for every name?</a:t>
            </a:r>
            <a:endParaRPr lang="en-US" sz="1350" dirty="0"/>
          </a:p>
        </p:txBody>
      </p:sp>
      <p:sp>
        <p:nvSpPr>
          <p:cNvPr id="41" name="Text 39"/>
          <p:cNvSpPr txBox="1"/>
          <p:nvPr/>
        </p:nvSpPr>
        <p:spPr>
          <a:xfrm>
            <a:off x="3566160" y="4828032"/>
            <a:ext cx="2697480" cy="420624"/>
          </a:xfrm>
          <a:prstGeom prst="rect">
            <a:avLst/>
          </a:prstGeom>
          <a:noFill/>
        </p:spPr>
        <p:txBody>
          <a:bodyPr wrap="square" lIns="0" tIns="0" rIns="0" bIns="0" rtlCol="0" anchor="ctr"/>
          <a:lstStyle/>
          <a:p>
            <a:pPr marL="0" indent="0">
              <a:buNone/>
            </a:pPr>
            <a:r>
              <a:rPr lang="en-US" sz="1350" dirty="0">
                <a:solidFill>
                  <a:schemeClr val="tx2"/>
                </a:solidFill>
              </a:rPr>
              <a:t>Not checked</a:t>
            </a:r>
            <a:endParaRPr lang="en-US" sz="1350" dirty="0"/>
          </a:p>
        </p:txBody>
      </p:sp>
      <p:sp>
        <p:nvSpPr>
          <p:cNvPr id="42" name="Text 40"/>
          <p:cNvSpPr txBox="1"/>
          <p:nvPr/>
        </p:nvSpPr>
        <p:spPr>
          <a:xfrm>
            <a:off x="6537960" y="4828032"/>
            <a:ext cx="4782312" cy="420624"/>
          </a:xfrm>
          <a:prstGeom prst="rect">
            <a:avLst/>
          </a:prstGeom>
          <a:noFill/>
        </p:spPr>
        <p:txBody>
          <a:bodyPr wrap="square" lIns="0" tIns="0" rIns="0" bIns="0" rtlCol="0" anchor="ctr"/>
          <a:lstStyle/>
          <a:p>
            <a:pPr marL="0" indent="0">
              <a:buNone/>
            </a:pPr>
            <a:r>
              <a:rPr lang="en-US" sz="1350" dirty="0">
                <a:solidFill>
                  <a:schemeClr val="tx1"/>
                </a:solidFill>
              </a:rPr>
              <a:t>Identical across 8 Malaysian names: 59 of 59 checks pass</a:t>
            </a:r>
            <a:endParaRPr lang="en-US" sz="1350" dirty="0"/>
          </a:p>
        </p:txBody>
      </p:sp>
      <p:sp>
        <p:nvSpPr>
          <p:cNvPr id="43" name="Column rule"/>
          <p:cNvSpPr/>
          <p:nvPr/>
        </p:nvSpPr>
        <p:spPr>
          <a:xfrm>
            <a:off x="3429000" y="1920240"/>
            <a:ext cx="0" cy="3328416"/>
          </a:xfrm>
          <a:prstGeom prst="line">
            <a:avLst/>
          </a:prstGeom>
          <a:noFill/>
          <a:ln w="9525">
            <a:solidFill>
              <a:srgbClr val="E3DFD6"/>
            </a:solidFill>
            <a:prstDash val="solid"/>
          </a:ln>
        </p:spPr>
        <p:txBody>
          <a:bodyPr/>
          <a:p/>
        </p:txBody>
      </p:sp>
      <p:sp>
        <p:nvSpPr>
          <p:cNvPr id="44" name="Column rule"/>
          <p:cNvSpPr/>
          <p:nvPr/>
        </p:nvSpPr>
        <p:spPr>
          <a:xfrm>
            <a:off x="6400800" y="1920240"/>
            <a:ext cx="0" cy="3328416"/>
          </a:xfrm>
          <a:prstGeom prst="line">
            <a:avLst/>
          </a:prstGeom>
          <a:noFill/>
          <a:ln w="9525">
            <a:solidFill>
              <a:srgbClr val="E3DFD6"/>
            </a:solidFill>
            <a:prstDash val="solid"/>
          </a:ln>
        </p:spPr>
        <p:txBody>
          <a:bodyPr/>
          <a:p/>
        </p:txBody>
      </p:sp>
      <p:sp>
        <p:nvSpPr>
          <p:cNvPr id="45" name="Measured strip"/>
          <p:cNvSpPr/>
          <p:nvPr/>
        </p:nvSpPr>
        <p:spPr>
          <a:xfrm>
            <a:off x="731520" y="5440680"/>
            <a:ext cx="10725912" cy="502920"/>
          </a:xfrm>
          <a:prstGeom prst="roundRect">
            <a:avLst>
              <a:gd name="adj" fmla="val 18182"/>
            </a:avLst>
          </a:prstGeom>
          <a:solidFill>
            <a:schemeClr val="accent5"/>
          </a:solidFill>
        </p:spPr>
        <p:txBody>
          <a:bodyPr/>
          <a:p/>
        </p:txBody>
      </p:sp>
      <p:pic>
        <p:nvPicPr>
          <p:cNvPr id="46" name="LuCircleCheck icon" descr="preencoded.png"/>
          <p:cNvPicPr>
            <a:picLocks noChangeAspect="1"/>
          </p:cNvPicPr>
          <p:nvPr/>
        </p:nvPicPr>
        <p:blipFill>
          <a:blip r:embed="rId1"/>
          <a:stretch>
            <a:fillRect/>
          </a:stretch>
        </p:blipFill>
        <p:spPr>
          <a:xfrm>
            <a:off x="960120" y="5559552"/>
            <a:ext cx="274320" cy="274320"/>
          </a:xfrm>
          <a:prstGeom prst="rect">
            <a:avLst/>
          </a:prstGeom>
        </p:spPr>
      </p:pic>
      <p:sp>
        <p:nvSpPr>
          <p:cNvPr id="47" name="Text 44"/>
          <p:cNvSpPr txBox="1"/>
          <p:nvPr/>
        </p:nvSpPr>
        <p:spPr>
          <a:xfrm>
            <a:off x="1371600" y="5440680"/>
            <a:ext cx="9966960" cy="502920"/>
          </a:xfrm>
          <a:prstGeom prst="rect">
            <a:avLst/>
          </a:prstGeom>
          <a:noFill/>
        </p:spPr>
        <p:txBody>
          <a:bodyPr wrap="square" lIns="0" tIns="0" rIns="0" bIns="0" rtlCol="0" anchor="ctr"/>
          <a:lstStyle/>
          <a:p>
            <a:pPr marL="0" indent="0">
              <a:buNone/>
            </a:pPr>
            <a:r>
              <a:rPr lang="en-US" sz="1400" b="1" dirty="0">
                <a:solidFill>
                  <a:schemeClr val="tx1"/>
                </a:solidFill>
              </a:rPr>
              <a:t>Measured, not claimed: every figure on the right is from the live app and its approved forecast of 23 Oct 2026.</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600200" cy="329184"/>
          </a:xfrm>
          <a:prstGeom prst="rect">
            <a:avLst/>
          </a:prstGeom>
          <a:noFill/>
        </p:spPr>
        <p:txBody>
          <a:bodyPr wrap="square" lIns="0" tIns="0" rIns="0" bIns="0" rtlCol="0" anchor="ctr"/>
          <a:lstStyle/>
          <a:p>
            <a:pPr marL="0" indent="0">
              <a:buNone/>
            </a:pPr>
            <a:r>
              <a:rPr lang="en-US" sz="1300" b="1" kern="0" spc="150" dirty="0">
                <a:solidFill>
                  <a:schemeClr val="accent1"/>
                </a:solidFill>
              </a:rPr>
              <a:t>THE PRODUCT</a:t>
            </a:r>
            <a:endParaRPr lang="en-US" sz="1300" dirty="0"/>
          </a:p>
        </p:txBody>
      </p:sp>
      <p:sp>
        <p:nvSpPr>
          <p:cNvPr id="3" name="Problem-Solution Fit · Clarity pill"/>
          <p:cNvSpPr/>
          <p:nvPr/>
        </p:nvSpPr>
        <p:spPr>
          <a:xfrm>
            <a:off x="2423160" y="457200"/>
            <a:ext cx="2743200" cy="329184"/>
          </a:xfrm>
          <a:prstGeom prst="roundRect">
            <a:avLst>
              <a:gd name="adj" fmla="val 50000"/>
            </a:avLst>
          </a:prstGeom>
          <a:solidFill>
            <a:schemeClr val="accent5"/>
          </a:solidFill>
        </p:spPr>
        <p:txBody>
          <a:bodyPr/>
          <a:p/>
        </p:txBody>
      </p:sp>
      <p:sp>
        <p:nvSpPr>
          <p:cNvPr id="4" name="Text 2"/>
          <p:cNvSpPr txBox="1"/>
          <p:nvPr/>
        </p:nvSpPr>
        <p:spPr>
          <a:xfrm>
            <a:off x="2423160" y="457200"/>
            <a:ext cx="2743200" cy="329184"/>
          </a:xfrm>
          <a:prstGeom prst="rect">
            <a:avLst/>
          </a:prstGeom>
          <a:noFill/>
        </p:spPr>
        <p:txBody>
          <a:bodyPr wrap="square" lIns="0" tIns="0" rIns="0" bIns="0" rtlCol="0" anchor="ctr"/>
          <a:lstStyle/>
          <a:p>
            <a:pPr marL="0" indent="0" algn="ctr">
              <a:buNone/>
            </a:pPr>
            <a:r>
              <a:rPr lang="en-US" sz="1200" b="1" dirty="0">
                <a:solidFill>
                  <a:schemeClr val="accent1"/>
                </a:solidFill>
              </a:rPr>
              <a:t>Problem-Solution Fit · Clarity</a:t>
            </a:r>
            <a:endParaRPr lang="en-US" sz="1200" dirty="0"/>
          </a:p>
        </p:txBody>
      </p:sp>
      <p:sp>
        <p:nvSpPr>
          <p:cNvPr id="5" name="Aisyah's results from the live app pill"/>
          <p:cNvSpPr/>
          <p:nvPr/>
        </p:nvSpPr>
        <p:spPr>
          <a:xfrm>
            <a:off x="8348472" y="457200"/>
            <a:ext cx="3108960" cy="329184"/>
          </a:xfrm>
          <a:prstGeom prst="roundRect">
            <a:avLst>
              <a:gd name="adj" fmla="val 50000"/>
            </a:avLst>
          </a:prstGeom>
          <a:solidFill>
            <a:srgbClr val="EFEDE8"/>
          </a:solidFill>
        </p:spPr>
        <p:txBody>
          <a:bodyPr/>
          <a:p/>
        </p:txBody>
      </p:sp>
      <p:sp>
        <p:nvSpPr>
          <p:cNvPr id="6" name="Text 4"/>
          <p:cNvSpPr txBox="1"/>
          <p:nvPr/>
        </p:nvSpPr>
        <p:spPr>
          <a:xfrm>
            <a:off x="8348472" y="457200"/>
            <a:ext cx="3108960" cy="329184"/>
          </a:xfrm>
          <a:prstGeom prst="rect">
            <a:avLst/>
          </a:prstGeom>
          <a:noFill/>
        </p:spPr>
        <p:txBody>
          <a:bodyPr wrap="square" lIns="0" tIns="0" rIns="0" bIns="0" rtlCol="0" anchor="ctr"/>
          <a:lstStyle/>
          <a:p>
            <a:pPr marL="0" indent="0" algn="ctr">
              <a:buNone/>
            </a:pPr>
            <a:r>
              <a:rPr lang="en-US" sz="1200" dirty="0">
                <a:solidFill>
                  <a:schemeClr val="tx2"/>
                </a:solidFill>
              </a:rPr>
              <a:t>Aisyah's results from the live app</a:t>
            </a:r>
            <a:endParaRPr lang="en-US" sz="1200" dirty="0"/>
          </a:p>
        </p:txBody>
      </p:sp>
      <p:sp>
        <p:nvSpPr>
          <p:cNvPr id="7" name="Text 5"/>
          <p:cNvSpPr txBox="1"/>
          <p:nvPr/>
        </p:nvSpPr>
        <p:spPr>
          <a:xfrm>
            <a:off x="10543032" y="6309360"/>
            <a:ext cx="914400" cy="256032"/>
          </a:xfrm>
          <a:prstGeom prst="rect">
            <a:avLst/>
          </a:prstGeom>
          <a:noFill/>
        </p:spPr>
        <p:txBody>
          <a:bodyPr wrap="square" lIns="0" tIns="0" rIns="0" bIns="0" rtlCol="0" anchor="ctr"/>
          <a:lstStyle/>
          <a:p>
            <a:pPr marL="0" indent="0" algn="r">
              <a:buNone/>
            </a:pPr>
            <a:r>
              <a:rPr lang="en-US" sz="1200" dirty="0">
                <a:solidFill>
                  <a:schemeClr val="tx2"/>
                </a:solidFill>
              </a:rPr>
              <a:t>05 / 17</a:t>
            </a:r>
            <a:endParaRPr lang="en-US" sz="1200" dirty="0"/>
          </a:p>
        </p:txBody>
      </p:sp>
      <p:sp>
        <p:nvSpPr>
          <p:cNvPr id="8" name="Text 1"/>
          <p:cNvSpPr/>
          <p:nvPr>
            <p:ph type="title" idx="102" hasCustomPrompt="1"/>
          </p:nvPr>
        </p:nvSpPr>
        <p:spPr>
          <a:xfrm>
            <a:off x="731520" y="896112"/>
            <a:ext cx="10725912" cy="685800"/>
          </a:xfrm>
          <a:prstGeom prst="rect">
            <a:avLst/>
          </a:prstGeom>
          <a:noFill/>
        </p:spPr>
        <p:txBody>
          <a:bodyPr wrap="square" lIns="0" tIns="0" rIns="0" bIns="0" rtlCol="0" anchor="t"/>
          <a:lstStyle/>
          <a:p>
            <a:pPr marL="0" indent="0" algn="l">
              <a:buNone/>
            </a:pPr>
            <a:r>
              <a:rPr lang="en-US" sz="3200" b="1" dirty="0">
                <a:solidFill>
                  <a:schemeClr val="tx1"/>
                </a:solidFill>
              </a:rPr>
              <a:t>Four stops from today's job to the next one.</a:t>
            </a:r>
            <a:endParaRPr lang="en-US" sz="3200" dirty="0"/>
          </a:p>
        </p:txBody>
      </p:sp>
      <p:sp>
        <p:nvSpPr>
          <p:cNvPr id="9" name="Route line"/>
          <p:cNvSpPr/>
          <p:nvPr/>
        </p:nvSpPr>
        <p:spPr>
          <a:xfrm>
            <a:off x="978408" y="1993392"/>
            <a:ext cx="8147304" cy="0"/>
          </a:xfrm>
          <a:prstGeom prst="line">
            <a:avLst/>
          </a:prstGeom>
          <a:noFill/>
          <a:ln w="25400">
            <a:solidFill>
              <a:srgbClr val="0F6E6E"/>
            </a:solidFill>
            <a:prstDash val="dash"/>
          </a:ln>
        </p:spPr>
        <p:txBody>
          <a:bodyPr/>
          <a:p/>
        </p:txBody>
      </p:sp>
      <p:sp>
        <p:nvSpPr>
          <p:cNvPr id="10" name="Stop 1"/>
          <p:cNvSpPr/>
          <p:nvPr/>
        </p:nvSpPr>
        <p:spPr>
          <a:xfrm>
            <a:off x="731520" y="1737360"/>
            <a:ext cx="512064" cy="512064"/>
          </a:xfrm>
          <a:prstGeom prst="ellipse">
            <a:avLst/>
          </a:prstGeom>
          <a:solidFill>
            <a:srgbClr val="0F6E6E"/>
          </a:solidFill>
          <a:ln w="38100">
            <a:solidFill>
              <a:srgbClr val="FAF8F4"/>
            </a:solidFill>
            <a:prstDash val="solid"/>
          </a:ln>
        </p:spPr>
        <p:txBody>
          <a:bodyPr/>
          <a:p/>
        </p:txBody>
      </p:sp>
      <p:pic>
        <p:nvPicPr>
          <p:cNvPr id="11" name="LuMapPin icon" descr="preencoded.png"/>
          <p:cNvPicPr>
            <a:picLocks noChangeAspect="1"/>
          </p:cNvPicPr>
          <p:nvPr/>
        </p:nvPicPr>
        <p:blipFill>
          <a:blip r:embed="rId1"/>
          <a:stretch>
            <a:fillRect/>
          </a:stretch>
        </p:blipFill>
        <p:spPr>
          <a:xfrm>
            <a:off x="868680" y="1874520"/>
            <a:ext cx="237744" cy="237744"/>
          </a:xfrm>
          <a:prstGeom prst="rect">
            <a:avLst/>
          </a:prstGeom>
        </p:spPr>
      </p:pic>
      <p:sp>
        <p:nvSpPr>
          <p:cNvPr id="12" name="Text 9"/>
          <p:cNvSpPr txBox="1"/>
          <p:nvPr/>
        </p:nvSpPr>
        <p:spPr>
          <a:xfrm>
            <a:off x="1298448" y="1810512"/>
            <a:ext cx="1659636" cy="365760"/>
          </a:xfrm>
          <a:prstGeom prst="rect">
            <a:avLst/>
          </a:prstGeom>
          <a:solidFill>
            <a:srgbClr val="FAF8F4"/>
          </a:solidFill>
        </p:spPr>
        <p:txBody>
          <a:bodyPr wrap="square" lIns="0" tIns="50800" rIns="50800" bIns="0" rtlCol="0" anchor="ctr"/>
          <a:lstStyle/>
          <a:p>
            <a:pPr marL="0" indent="0">
              <a:buNone/>
            </a:pPr>
            <a:r>
              <a:rPr lang="en-US" sz="1500" b="1" dirty="0">
                <a:solidFill>
                  <a:schemeClr val="accent1"/>
                </a:solidFill>
              </a:rPr>
              <a:t>1  </a:t>
            </a:r>
            <a:r>
              <a:rPr lang="en-US" sz="1500" b="1" dirty="0">
                <a:solidFill>
                  <a:schemeClr val="tx1"/>
                </a:solidFill>
              </a:rPr>
              <a:t>Where I stand</a:t>
            </a:r>
            <a:endParaRPr lang="en-US" sz="1500" dirty="0"/>
          </a:p>
        </p:txBody>
      </p:sp>
      <p:sp>
        <p:nvSpPr>
          <p:cNvPr id="13" name="Where I stand card"/>
          <p:cNvSpPr/>
          <p:nvPr/>
        </p:nvSpPr>
        <p:spPr>
          <a:xfrm>
            <a:off x="731520" y="2377440"/>
            <a:ext cx="2578608" cy="3108960"/>
          </a:xfrm>
          <a:prstGeom prst="roundRect">
            <a:avLst>
              <a:gd name="adj" fmla="val 3546"/>
            </a:avLst>
          </a:prstGeom>
          <a:solidFill>
            <a:schemeClr val="bg1"/>
          </a:solidFill>
          <a:ln w="9525">
            <a:solidFill>
              <a:srgbClr val="E3DFD6"/>
            </a:solidFill>
            <a:prstDash val="solid"/>
          </a:ln>
        </p:spPr>
        <p:txBody>
          <a:bodyPr/>
          <a:p/>
        </p:txBody>
      </p:sp>
      <p:sp>
        <p:nvSpPr>
          <p:cNvPr id="14" name="Text 11"/>
          <p:cNvSpPr txBox="1"/>
          <p:nvPr/>
        </p:nvSpPr>
        <p:spPr>
          <a:xfrm>
            <a:off x="886968" y="2468880"/>
            <a:ext cx="2286000" cy="201168"/>
          </a:xfrm>
          <a:prstGeom prst="rect">
            <a:avLst/>
          </a:prstGeom>
          <a:noFill/>
        </p:spPr>
        <p:txBody>
          <a:bodyPr wrap="square" lIns="0" tIns="0" rIns="0" bIns="0" rtlCol="0" anchor="ctr"/>
          <a:lstStyle/>
          <a:p>
            <a:pPr marL="0" indent="0">
              <a:buNone/>
            </a:pPr>
            <a:r>
              <a:rPr lang="en-US" sz="900" b="1" kern="0" spc="150" dirty="0">
                <a:solidFill>
                  <a:schemeClr val="tx2"/>
                </a:solidFill>
              </a:rPr>
              <a:t>YOU</a:t>
            </a:r>
            <a:endParaRPr lang="en-US" sz="900" dirty="0"/>
          </a:p>
        </p:txBody>
      </p:sp>
      <p:sp>
        <p:nvSpPr>
          <p:cNvPr id="15" name="Text 12"/>
          <p:cNvSpPr txBox="1"/>
          <p:nvPr/>
        </p:nvSpPr>
        <p:spPr>
          <a:xfrm>
            <a:off x="886968" y="2670048"/>
            <a:ext cx="2286000" cy="566928"/>
          </a:xfrm>
          <a:prstGeom prst="rect">
            <a:avLst/>
          </a:prstGeom>
          <a:noFill/>
        </p:spPr>
        <p:txBody>
          <a:bodyPr wrap="square" lIns="0" tIns="0" rIns="0" bIns="0" rtlCol="0" anchor="t"/>
          <a:lstStyle/>
          <a:p>
            <a:pPr marL="0" indent="0">
              <a:buNone/>
            </a:pPr>
            <a:r>
              <a:rPr lang="en-US" sz="1100" dirty="0">
                <a:solidFill>
                  <a:schemeClr val="tx1"/>
                </a:solidFill>
              </a:rPr>
              <a:t>Upload a CV (PDF, Word, scan or photo), paste text, answer a short quiz, or speak.</a:t>
            </a:r>
            <a:endParaRPr lang="en-US" sz="1100" dirty="0"/>
          </a:p>
        </p:txBody>
      </p:sp>
      <p:sp>
        <p:nvSpPr>
          <p:cNvPr id="16" name="Text 13"/>
          <p:cNvSpPr txBox="1"/>
          <p:nvPr/>
        </p:nvSpPr>
        <p:spPr>
          <a:xfrm>
            <a:off x="886968" y="3273552"/>
            <a:ext cx="2286000" cy="201168"/>
          </a:xfrm>
          <a:prstGeom prst="rect">
            <a:avLst/>
          </a:prstGeom>
          <a:noFill/>
        </p:spPr>
        <p:txBody>
          <a:bodyPr wrap="square" lIns="0" tIns="0" rIns="0" bIns="0" rtlCol="0" anchor="ctr"/>
          <a:lstStyle/>
          <a:p>
            <a:pPr marL="0" indent="0">
              <a:buNone/>
            </a:pPr>
            <a:r>
              <a:rPr lang="en-US" sz="900" b="1" kern="0" spc="150" dirty="0">
                <a:solidFill>
                  <a:schemeClr val="accent1"/>
                </a:solidFill>
              </a:rPr>
              <a:t>LALUAN</a:t>
            </a:r>
            <a:endParaRPr lang="en-US" sz="900" dirty="0"/>
          </a:p>
        </p:txBody>
      </p:sp>
      <p:sp>
        <p:nvSpPr>
          <p:cNvPr id="17" name="Text 14"/>
          <p:cNvSpPr txBox="1"/>
          <p:nvPr/>
        </p:nvSpPr>
        <p:spPr>
          <a:xfrm>
            <a:off x="886968" y="3474720"/>
            <a:ext cx="2286000" cy="1051560"/>
          </a:xfrm>
          <a:prstGeom prst="rect">
            <a:avLst/>
          </a:prstGeom>
          <a:noFill/>
        </p:spPr>
        <p:txBody>
          <a:bodyPr wrap="square" lIns="0" tIns="0" rIns="0" bIns="0" rtlCol="0" anchor="t"/>
          <a:lstStyle/>
          <a:p>
            <a:pPr marL="127000" indent="-127000">
              <a:spcAft>
                <a:spcPts val="300"/>
              </a:spcAft>
              <a:buSzPct val="100000"/>
              <a:buChar char="•"/>
            </a:pPr>
            <a:r>
              <a:rPr lang="en-US" sz="1050" dirty="0">
                <a:solidFill>
                  <a:schemeClr val="tx2"/>
                </a:solidFill>
              </a:rPr>
              <a:t>Removes name, IC, phone and email before any AI reads it</a:t>
            </a:r>
            <a:endParaRPr lang="en-US" sz="1050" dirty="0"/>
          </a:p>
          <a:p>
            <a:pPr marL="127000" indent="-127000">
              <a:spcAft>
                <a:spcPts val="300"/>
              </a:spcAft>
              <a:buSzPct val="100000"/>
              <a:buChar char="•"/>
            </a:pPr>
            <a:r>
              <a:rPr lang="en-US" sz="1050" dirty="0">
                <a:solidFill>
                  <a:schemeClr val="tx2"/>
                </a:solidFill>
              </a:rPr>
              <a:t>Reads your skills; you confirm the list</a:t>
            </a:r>
            <a:endParaRPr lang="en-US" sz="1050" dirty="0"/>
          </a:p>
          <a:p>
            <a:pPr marL="127000" indent="-127000">
              <a:spcAft>
                <a:spcPts val="300"/>
              </a:spcAft>
              <a:buSzPct val="100000"/>
              <a:buChar char="•"/>
            </a:pPr>
            <a:r>
              <a:rPr lang="en-US" sz="1050" dirty="0">
                <a:solidFill>
                  <a:schemeClr val="tx2"/>
                </a:solidFill>
              </a:rPr>
              <a:t>Shows which of your job's tasks AI takes</a:t>
            </a:r>
            <a:endParaRPr lang="en-US" sz="1050" dirty="0"/>
          </a:p>
        </p:txBody>
      </p:sp>
      <p:sp>
        <p:nvSpPr>
          <p:cNvPr id="18" name="Where I stand example"/>
          <p:cNvSpPr/>
          <p:nvPr/>
        </p:nvSpPr>
        <p:spPr>
          <a:xfrm>
            <a:off x="822960" y="4590288"/>
            <a:ext cx="2395728" cy="804672"/>
          </a:xfrm>
          <a:prstGeom prst="roundRect">
            <a:avLst>
              <a:gd name="adj" fmla="val 9091"/>
            </a:avLst>
          </a:prstGeom>
          <a:solidFill>
            <a:schemeClr val="accent5"/>
          </a:solidFill>
        </p:spPr>
        <p:txBody>
          <a:bodyPr/>
          <a:p/>
        </p:txBody>
      </p:sp>
      <p:sp>
        <p:nvSpPr>
          <p:cNvPr id="19" name="Text 16"/>
          <p:cNvSpPr txBox="1"/>
          <p:nvPr/>
        </p:nvSpPr>
        <p:spPr>
          <a:xfrm>
            <a:off x="932688" y="4626864"/>
            <a:ext cx="2194560" cy="731520"/>
          </a:xfrm>
          <a:prstGeom prst="rect">
            <a:avLst/>
          </a:prstGeom>
          <a:noFill/>
        </p:spPr>
        <p:txBody>
          <a:bodyPr wrap="square" lIns="0" tIns="0" rIns="0" bIns="0" rtlCol="0" anchor="ctr"/>
          <a:lstStyle/>
          <a:p>
            <a:pPr marL="0" indent="0">
              <a:buNone/>
            </a:pPr>
            <a:r>
              <a:rPr lang="en-US" sz="900" b="1" kern="0" spc="150" dirty="0">
                <a:solidFill>
                  <a:schemeClr val="accent1"/>
                </a:solidFill>
              </a:rPr>
              <a:t>AISYAH</a:t>
            </a:r>
            <a:endParaRPr lang="en-US" sz="900" dirty="0"/>
          </a:p>
          <a:p>
            <a:pPr marL="0" indent="0">
              <a:buNone/>
            </a:pPr>
            <a:r>
              <a:rPr lang="en-US" sz="1050" b="1" dirty="0">
                <a:solidFill>
                  <a:schemeClr val="tx1"/>
                </a:solidFill>
              </a:rPr>
              <a:t>Data entry clerk: −32% by 2030. 3 of 5 tasks: “AI does it”.</a:t>
            </a:r>
            <a:endParaRPr lang="en-US" sz="900" dirty="0"/>
          </a:p>
        </p:txBody>
      </p:sp>
      <p:sp>
        <p:nvSpPr>
          <p:cNvPr id="20" name="Stop 2"/>
          <p:cNvSpPr/>
          <p:nvPr/>
        </p:nvSpPr>
        <p:spPr>
          <a:xfrm>
            <a:off x="3447288" y="1737360"/>
            <a:ext cx="512064" cy="512064"/>
          </a:xfrm>
          <a:prstGeom prst="ellipse">
            <a:avLst/>
          </a:prstGeom>
          <a:solidFill>
            <a:srgbClr val="D9971F"/>
          </a:solidFill>
          <a:ln w="38100">
            <a:solidFill>
              <a:srgbClr val="FAF8F4"/>
            </a:solidFill>
            <a:prstDash val="solid"/>
          </a:ln>
        </p:spPr>
        <p:txBody>
          <a:bodyPr/>
          <a:p/>
        </p:txBody>
      </p:sp>
      <p:pic>
        <p:nvPicPr>
          <p:cNvPr id="21" name="LuCompass icon" descr="preencoded.png"/>
          <p:cNvPicPr>
            <a:picLocks noChangeAspect="1"/>
          </p:cNvPicPr>
          <p:nvPr/>
        </p:nvPicPr>
        <p:blipFill>
          <a:blip r:embed="rId2"/>
          <a:stretch>
            <a:fillRect/>
          </a:stretch>
        </p:blipFill>
        <p:spPr>
          <a:xfrm>
            <a:off x="3584448" y="1874520"/>
            <a:ext cx="237744" cy="237744"/>
          </a:xfrm>
          <a:prstGeom prst="rect">
            <a:avLst/>
          </a:prstGeom>
        </p:spPr>
      </p:pic>
      <p:sp>
        <p:nvSpPr>
          <p:cNvPr id="22" name="Text 18"/>
          <p:cNvSpPr txBox="1"/>
          <p:nvPr/>
        </p:nvSpPr>
        <p:spPr>
          <a:xfrm>
            <a:off x="4014216" y="1810512"/>
            <a:ext cx="1659636" cy="365760"/>
          </a:xfrm>
          <a:prstGeom prst="rect">
            <a:avLst/>
          </a:prstGeom>
          <a:solidFill>
            <a:srgbClr val="FAF8F4"/>
          </a:solidFill>
        </p:spPr>
        <p:txBody>
          <a:bodyPr wrap="square" lIns="0" tIns="50800" rIns="50800" bIns="0" rtlCol="0" anchor="ctr"/>
          <a:lstStyle/>
          <a:p>
            <a:pPr marL="0" indent="0">
              <a:buNone/>
            </a:pPr>
            <a:r>
              <a:rPr lang="en-US" sz="1500" b="1" dirty="0">
                <a:solidFill>
                  <a:schemeClr val="accent1"/>
                </a:solidFill>
              </a:rPr>
              <a:t>2  </a:t>
            </a:r>
            <a:r>
              <a:rPr lang="en-US" sz="1500" b="1" dirty="0">
                <a:solidFill>
                  <a:schemeClr val="tx1"/>
                </a:solidFill>
              </a:rPr>
              <a:t>Explore roles</a:t>
            </a:r>
            <a:endParaRPr lang="en-US" sz="1500" dirty="0"/>
          </a:p>
        </p:txBody>
      </p:sp>
      <p:sp>
        <p:nvSpPr>
          <p:cNvPr id="23" name="Explore roles card"/>
          <p:cNvSpPr/>
          <p:nvPr/>
        </p:nvSpPr>
        <p:spPr>
          <a:xfrm>
            <a:off x="3447288" y="2377440"/>
            <a:ext cx="2578608" cy="3108960"/>
          </a:xfrm>
          <a:prstGeom prst="roundRect">
            <a:avLst>
              <a:gd name="adj" fmla="val 3546"/>
            </a:avLst>
          </a:prstGeom>
          <a:solidFill>
            <a:schemeClr val="bg1"/>
          </a:solidFill>
          <a:ln w="9525">
            <a:solidFill>
              <a:srgbClr val="E3DFD6"/>
            </a:solidFill>
            <a:prstDash val="solid"/>
          </a:ln>
        </p:spPr>
        <p:txBody>
          <a:bodyPr/>
          <a:p/>
        </p:txBody>
      </p:sp>
      <p:sp>
        <p:nvSpPr>
          <p:cNvPr id="24" name="Text 20"/>
          <p:cNvSpPr txBox="1"/>
          <p:nvPr/>
        </p:nvSpPr>
        <p:spPr>
          <a:xfrm>
            <a:off x="3602736" y="2468880"/>
            <a:ext cx="2286000" cy="201168"/>
          </a:xfrm>
          <a:prstGeom prst="rect">
            <a:avLst/>
          </a:prstGeom>
          <a:noFill/>
        </p:spPr>
        <p:txBody>
          <a:bodyPr wrap="square" lIns="0" tIns="0" rIns="0" bIns="0" rtlCol="0" anchor="ctr"/>
          <a:lstStyle/>
          <a:p>
            <a:pPr marL="0" indent="0">
              <a:buNone/>
            </a:pPr>
            <a:r>
              <a:rPr lang="en-US" sz="900" b="1" kern="0" spc="150" dirty="0">
                <a:solidFill>
                  <a:schemeClr val="tx2"/>
                </a:solidFill>
              </a:rPr>
              <a:t>YOU</a:t>
            </a:r>
            <a:endParaRPr lang="en-US" sz="900" dirty="0"/>
          </a:p>
        </p:txBody>
      </p:sp>
      <p:sp>
        <p:nvSpPr>
          <p:cNvPr id="25" name="Text 21"/>
          <p:cNvSpPr txBox="1"/>
          <p:nvPr/>
        </p:nvSpPr>
        <p:spPr>
          <a:xfrm>
            <a:off x="3602736" y="2670048"/>
            <a:ext cx="2286000" cy="566928"/>
          </a:xfrm>
          <a:prstGeom prst="rect">
            <a:avLst/>
          </a:prstGeom>
          <a:noFill/>
        </p:spPr>
        <p:txBody>
          <a:bodyPr wrap="square" lIns="0" tIns="0" rIns="0" bIns="0" rtlCol="0" anchor="t"/>
          <a:lstStyle/>
          <a:p>
            <a:pPr marL="0" indent="0">
              <a:buNone/>
            </a:pPr>
            <a:r>
              <a:rPr lang="en-US" sz="1100" dirty="0">
                <a:solidFill>
                  <a:schemeClr val="tx1"/>
                </a:solidFill>
              </a:rPr>
              <a:t>Pick an AI speed (slow, expected, fast or custom), a year to 2030, and an SDG goal.</a:t>
            </a:r>
            <a:endParaRPr lang="en-US" sz="1100" dirty="0"/>
          </a:p>
        </p:txBody>
      </p:sp>
      <p:sp>
        <p:nvSpPr>
          <p:cNvPr id="26" name="Text 22"/>
          <p:cNvSpPr txBox="1"/>
          <p:nvPr/>
        </p:nvSpPr>
        <p:spPr>
          <a:xfrm>
            <a:off x="3602736" y="3273552"/>
            <a:ext cx="2286000" cy="201168"/>
          </a:xfrm>
          <a:prstGeom prst="rect">
            <a:avLst/>
          </a:prstGeom>
          <a:noFill/>
        </p:spPr>
        <p:txBody>
          <a:bodyPr wrap="square" lIns="0" tIns="0" rIns="0" bIns="0" rtlCol="0" anchor="ctr"/>
          <a:lstStyle/>
          <a:p>
            <a:pPr marL="0" indent="0">
              <a:buNone/>
            </a:pPr>
            <a:r>
              <a:rPr lang="en-US" sz="900" b="1" kern="0" spc="150" dirty="0">
                <a:solidFill>
                  <a:schemeClr val="accent1"/>
                </a:solidFill>
              </a:rPr>
              <a:t>LALUAN</a:t>
            </a:r>
            <a:endParaRPr lang="en-US" sz="900" dirty="0"/>
          </a:p>
        </p:txBody>
      </p:sp>
      <p:sp>
        <p:nvSpPr>
          <p:cNvPr id="27" name="Text 23"/>
          <p:cNvSpPr txBox="1"/>
          <p:nvPr/>
        </p:nvSpPr>
        <p:spPr>
          <a:xfrm>
            <a:off x="3602736" y="3474720"/>
            <a:ext cx="2286000" cy="1051560"/>
          </a:xfrm>
          <a:prstGeom prst="rect">
            <a:avLst/>
          </a:prstGeom>
          <a:noFill/>
        </p:spPr>
        <p:txBody>
          <a:bodyPr wrap="square" lIns="0" tIns="0" rIns="0" bIns="0" rtlCol="0" anchor="t"/>
          <a:lstStyle/>
          <a:p>
            <a:pPr marL="127000" indent="-127000">
              <a:spcAft>
                <a:spcPts val="300"/>
              </a:spcAft>
              <a:buSzPct val="100000"/>
              <a:buChar char="•"/>
            </a:pPr>
            <a:r>
              <a:rPr lang="en-US" sz="1050" dirty="0">
                <a:solidFill>
                  <a:schemeClr val="tx2"/>
                </a:solidFill>
              </a:rPr>
              <a:t>Ranks 23 roles in 17 fields: 60% fit + 40% outlook</a:t>
            </a:r>
            <a:endParaRPr lang="en-US" sz="1050" dirty="0"/>
          </a:p>
          <a:p>
            <a:pPr marL="127000" indent="-127000">
              <a:spcAft>
                <a:spcPts val="300"/>
              </a:spcAft>
              <a:buSzPct val="100000"/>
              <a:buChar char="•"/>
            </a:pPr>
            <a:r>
              <a:rPr lang="en-US" sz="1050" dirty="0">
                <a:solidFill>
                  <a:schemeClr val="tx2"/>
                </a:solidFill>
              </a:rPr>
              <a:t>“Why this rank?”, forecast x-ray, pay, pros and cons</a:t>
            </a:r>
            <a:endParaRPr lang="en-US" sz="1050" dirty="0"/>
          </a:p>
          <a:p>
            <a:pPr marL="127000" indent="-127000">
              <a:spcAft>
                <a:spcPts val="300"/>
              </a:spcAft>
              <a:buSzPct val="100000"/>
              <a:buChar char="•"/>
            </a:pPr>
            <a:r>
              <a:rPr lang="en-US" sz="1050" dirty="0">
                <a:solidFill>
                  <a:schemeClr val="tx2"/>
                </a:solidFill>
              </a:rPr>
              <a:t>Tipping point: when your job turns declining</a:t>
            </a:r>
            <a:endParaRPr lang="en-US" sz="1050" dirty="0"/>
          </a:p>
        </p:txBody>
      </p:sp>
      <p:sp>
        <p:nvSpPr>
          <p:cNvPr id="28" name="Explore roles example"/>
          <p:cNvSpPr/>
          <p:nvPr/>
        </p:nvSpPr>
        <p:spPr>
          <a:xfrm>
            <a:off x="3538728" y="4590288"/>
            <a:ext cx="2395728" cy="804672"/>
          </a:xfrm>
          <a:prstGeom prst="roundRect">
            <a:avLst>
              <a:gd name="adj" fmla="val 9091"/>
            </a:avLst>
          </a:prstGeom>
          <a:solidFill>
            <a:schemeClr val="accent5"/>
          </a:solidFill>
        </p:spPr>
        <p:txBody>
          <a:bodyPr/>
          <a:p/>
        </p:txBody>
      </p:sp>
      <p:sp>
        <p:nvSpPr>
          <p:cNvPr id="29" name="Text 25"/>
          <p:cNvSpPr txBox="1"/>
          <p:nvPr/>
        </p:nvSpPr>
        <p:spPr>
          <a:xfrm>
            <a:off x="3648456" y="4626864"/>
            <a:ext cx="2194560" cy="731520"/>
          </a:xfrm>
          <a:prstGeom prst="rect">
            <a:avLst/>
          </a:prstGeom>
          <a:noFill/>
        </p:spPr>
        <p:txBody>
          <a:bodyPr wrap="square" lIns="0" tIns="0" rIns="0" bIns="0" rtlCol="0" anchor="ctr"/>
          <a:lstStyle/>
          <a:p>
            <a:pPr marL="0" indent="0">
              <a:buNone/>
            </a:pPr>
            <a:r>
              <a:rPr lang="en-US" sz="900" b="1" kern="0" spc="150" dirty="0">
                <a:solidFill>
                  <a:schemeClr val="accent1"/>
                </a:solidFill>
              </a:rPr>
              <a:t>AISYAH</a:t>
            </a:r>
            <a:endParaRPr lang="en-US" sz="900" dirty="0"/>
          </a:p>
          <a:p>
            <a:pPr marL="0" indent="0">
              <a:buNone/>
            </a:pPr>
            <a:r>
              <a:rPr lang="en-US" sz="1050" b="1" dirty="0">
                <a:solidFill>
                  <a:schemeClr val="tx1"/>
                </a:solidFill>
              </a:rPr>
              <a:t>#1 Drafting &amp; BIM technician: 40% fit, +35% by 2030.</a:t>
            </a:r>
            <a:endParaRPr lang="en-US" sz="900" dirty="0"/>
          </a:p>
        </p:txBody>
      </p:sp>
      <p:sp>
        <p:nvSpPr>
          <p:cNvPr id="30" name="Stop 3"/>
          <p:cNvSpPr/>
          <p:nvPr/>
        </p:nvSpPr>
        <p:spPr>
          <a:xfrm>
            <a:off x="6163056" y="1737360"/>
            <a:ext cx="512064" cy="512064"/>
          </a:xfrm>
          <a:prstGeom prst="ellipse">
            <a:avLst/>
          </a:prstGeom>
          <a:solidFill>
            <a:srgbClr val="0F6E6E"/>
          </a:solidFill>
          <a:ln w="38100">
            <a:solidFill>
              <a:srgbClr val="FAF8F4"/>
            </a:solidFill>
            <a:prstDash val="solid"/>
          </a:ln>
        </p:spPr>
        <p:txBody>
          <a:bodyPr/>
          <a:p/>
        </p:txBody>
      </p:sp>
      <p:pic>
        <p:nvPicPr>
          <p:cNvPr id="31" name="LuListChecks icon" descr="preencoded.png"/>
          <p:cNvPicPr>
            <a:picLocks noChangeAspect="1"/>
          </p:cNvPicPr>
          <p:nvPr/>
        </p:nvPicPr>
        <p:blipFill>
          <a:blip r:embed="rId3"/>
          <a:stretch>
            <a:fillRect/>
          </a:stretch>
        </p:blipFill>
        <p:spPr>
          <a:xfrm>
            <a:off x="6300216" y="1874520"/>
            <a:ext cx="237744" cy="237744"/>
          </a:xfrm>
          <a:prstGeom prst="rect">
            <a:avLst/>
          </a:prstGeom>
        </p:spPr>
      </p:pic>
      <p:sp>
        <p:nvSpPr>
          <p:cNvPr id="32" name="Text 27"/>
          <p:cNvSpPr txBox="1"/>
          <p:nvPr/>
        </p:nvSpPr>
        <p:spPr>
          <a:xfrm>
            <a:off x="6729984" y="1810512"/>
            <a:ext cx="1851660" cy="365760"/>
          </a:xfrm>
          <a:prstGeom prst="rect">
            <a:avLst/>
          </a:prstGeom>
          <a:solidFill>
            <a:srgbClr val="FAF8F4"/>
          </a:solidFill>
        </p:spPr>
        <p:txBody>
          <a:bodyPr wrap="square" lIns="0" tIns="50800" rIns="50800" bIns="0" rtlCol="0" anchor="ctr"/>
          <a:lstStyle/>
          <a:p>
            <a:pPr marL="0" indent="0">
              <a:buNone/>
            </a:pPr>
            <a:r>
              <a:rPr lang="en-US" sz="1500" b="1" dirty="0">
                <a:solidFill>
                  <a:schemeClr val="accent1"/>
                </a:solidFill>
              </a:rPr>
              <a:t>3  </a:t>
            </a:r>
            <a:r>
              <a:rPr lang="en-US" sz="1500" b="1" dirty="0">
                <a:solidFill>
                  <a:schemeClr val="tx1"/>
                </a:solidFill>
              </a:rPr>
              <a:t>Build my skills</a:t>
            </a:r>
            <a:endParaRPr lang="en-US" sz="1500" dirty="0"/>
          </a:p>
        </p:txBody>
      </p:sp>
      <p:sp>
        <p:nvSpPr>
          <p:cNvPr id="33" name="Build my skills card"/>
          <p:cNvSpPr/>
          <p:nvPr/>
        </p:nvSpPr>
        <p:spPr>
          <a:xfrm>
            <a:off x="6163056" y="2377440"/>
            <a:ext cx="2578608" cy="3108960"/>
          </a:xfrm>
          <a:prstGeom prst="roundRect">
            <a:avLst>
              <a:gd name="adj" fmla="val 3546"/>
            </a:avLst>
          </a:prstGeom>
          <a:solidFill>
            <a:schemeClr val="bg1"/>
          </a:solidFill>
          <a:ln w="9525">
            <a:solidFill>
              <a:srgbClr val="E3DFD6"/>
            </a:solidFill>
            <a:prstDash val="solid"/>
          </a:ln>
        </p:spPr>
        <p:txBody>
          <a:bodyPr/>
          <a:p/>
        </p:txBody>
      </p:sp>
      <p:sp>
        <p:nvSpPr>
          <p:cNvPr id="34" name="Text 29"/>
          <p:cNvSpPr txBox="1"/>
          <p:nvPr/>
        </p:nvSpPr>
        <p:spPr>
          <a:xfrm>
            <a:off x="6318504" y="2468880"/>
            <a:ext cx="2286000" cy="201168"/>
          </a:xfrm>
          <a:prstGeom prst="rect">
            <a:avLst/>
          </a:prstGeom>
          <a:noFill/>
        </p:spPr>
        <p:txBody>
          <a:bodyPr wrap="square" lIns="0" tIns="0" rIns="0" bIns="0" rtlCol="0" anchor="ctr"/>
          <a:lstStyle/>
          <a:p>
            <a:pPr marL="0" indent="0">
              <a:buNone/>
            </a:pPr>
            <a:r>
              <a:rPr lang="en-US" sz="900" b="1" kern="0" spc="150" dirty="0">
                <a:solidFill>
                  <a:schemeClr val="tx2"/>
                </a:solidFill>
              </a:rPr>
              <a:t>YOU</a:t>
            </a:r>
            <a:endParaRPr lang="en-US" sz="900" dirty="0"/>
          </a:p>
        </p:txBody>
      </p:sp>
      <p:sp>
        <p:nvSpPr>
          <p:cNvPr id="35" name="Text 30"/>
          <p:cNvSpPr txBox="1"/>
          <p:nvPr/>
        </p:nvSpPr>
        <p:spPr>
          <a:xfrm>
            <a:off x="6318504" y="2670048"/>
            <a:ext cx="2286000" cy="566928"/>
          </a:xfrm>
          <a:prstGeom prst="rect">
            <a:avLst/>
          </a:prstGeom>
          <a:noFill/>
        </p:spPr>
        <p:txBody>
          <a:bodyPr wrap="square" lIns="0" tIns="0" rIns="0" bIns="0" rtlCol="0" anchor="t"/>
          <a:lstStyle/>
          <a:p>
            <a:pPr marL="0" indent="0">
              <a:buNone/>
            </a:pPr>
            <a:r>
              <a:rPr lang="en-US" sz="1100" dirty="0">
                <a:solidFill>
                  <a:schemeClr val="tx1"/>
                </a:solidFill>
              </a:rPr>
              <a:t>Set a destination, tick off courses as you finish, and prove each skill level.</a:t>
            </a:r>
            <a:endParaRPr lang="en-US" sz="1100" dirty="0"/>
          </a:p>
        </p:txBody>
      </p:sp>
      <p:sp>
        <p:nvSpPr>
          <p:cNvPr id="36" name="Text 31"/>
          <p:cNvSpPr txBox="1"/>
          <p:nvPr/>
        </p:nvSpPr>
        <p:spPr>
          <a:xfrm>
            <a:off x="6318504" y="3273552"/>
            <a:ext cx="2286000" cy="201168"/>
          </a:xfrm>
          <a:prstGeom prst="rect">
            <a:avLst/>
          </a:prstGeom>
          <a:noFill/>
        </p:spPr>
        <p:txBody>
          <a:bodyPr wrap="square" lIns="0" tIns="0" rIns="0" bIns="0" rtlCol="0" anchor="ctr"/>
          <a:lstStyle/>
          <a:p>
            <a:pPr marL="0" indent="0">
              <a:buNone/>
            </a:pPr>
            <a:r>
              <a:rPr lang="en-US" sz="900" b="1" kern="0" spc="150" dirty="0">
                <a:solidFill>
                  <a:schemeClr val="accent1"/>
                </a:solidFill>
              </a:rPr>
              <a:t>LALUAN</a:t>
            </a:r>
            <a:endParaRPr lang="en-US" sz="900" dirty="0"/>
          </a:p>
        </p:txBody>
      </p:sp>
      <p:sp>
        <p:nvSpPr>
          <p:cNvPr id="37" name="Text 32"/>
          <p:cNvSpPr txBox="1"/>
          <p:nvPr/>
        </p:nvSpPr>
        <p:spPr>
          <a:xfrm>
            <a:off x="6318504" y="3474720"/>
            <a:ext cx="2286000" cy="1051560"/>
          </a:xfrm>
          <a:prstGeom prst="rect">
            <a:avLst/>
          </a:prstGeom>
          <a:noFill/>
        </p:spPr>
        <p:txBody>
          <a:bodyPr wrap="square" lIns="0" tIns="0" rIns="0" bIns="0" rtlCol="0" anchor="t"/>
          <a:lstStyle/>
          <a:p>
            <a:pPr marL="127000" indent="-127000">
              <a:spcAft>
                <a:spcPts val="300"/>
              </a:spcAft>
              <a:buSzPct val="100000"/>
              <a:buChar char="•"/>
            </a:pPr>
            <a:r>
              <a:rPr lang="en-US" sz="1050" dirty="0">
                <a:solidFill>
                  <a:schemeClr val="tx2"/>
                </a:solidFill>
              </a:rPr>
              <a:t>Ordered pathway from 38 checked courses: hours, RM cost</a:t>
            </a:r>
            <a:endParaRPr lang="en-US" sz="1050" dirty="0"/>
          </a:p>
          <a:p>
            <a:pPr marL="127000" indent="-127000">
              <a:spcAft>
                <a:spcPts val="300"/>
              </a:spcAft>
              <a:buSzPct val="100000"/>
              <a:buChar char="•"/>
            </a:pPr>
            <a:r>
              <a:rPr lang="en-US" sz="1050" dirty="0">
                <a:solidFill>
                  <a:schemeClr val="tx2"/>
                </a:solidFill>
              </a:rPr>
              <a:t>HRD Corp-claimable first for workers</a:t>
            </a:r>
            <a:endParaRPr lang="en-US" sz="1050" dirty="0"/>
          </a:p>
          <a:p>
            <a:pPr marL="127000" indent="-127000">
              <a:spcAft>
                <a:spcPts val="300"/>
              </a:spcAft>
              <a:buSzPct val="100000"/>
              <a:buChar char="•"/>
            </a:pPr>
            <a:r>
              <a:rPr lang="en-US" sz="1050" dirty="0">
                <a:solidFill>
                  <a:schemeClr val="tx2"/>
                </a:solidFill>
              </a:rPr>
              <a:t>Skill tree: 3 proof questions a level</a:t>
            </a:r>
            <a:endParaRPr lang="en-US" sz="1050" dirty="0"/>
          </a:p>
        </p:txBody>
      </p:sp>
      <p:sp>
        <p:nvSpPr>
          <p:cNvPr id="38" name="Build my skills example"/>
          <p:cNvSpPr/>
          <p:nvPr/>
        </p:nvSpPr>
        <p:spPr>
          <a:xfrm>
            <a:off x="6254496" y="4590288"/>
            <a:ext cx="2395728" cy="804672"/>
          </a:xfrm>
          <a:prstGeom prst="roundRect">
            <a:avLst>
              <a:gd name="adj" fmla="val 9091"/>
            </a:avLst>
          </a:prstGeom>
          <a:solidFill>
            <a:schemeClr val="accent5"/>
          </a:solidFill>
        </p:spPr>
        <p:txBody>
          <a:bodyPr/>
          <a:p/>
        </p:txBody>
      </p:sp>
      <p:sp>
        <p:nvSpPr>
          <p:cNvPr id="39" name="Text 34"/>
          <p:cNvSpPr txBox="1"/>
          <p:nvPr/>
        </p:nvSpPr>
        <p:spPr>
          <a:xfrm>
            <a:off x="6364224" y="4626864"/>
            <a:ext cx="2194560" cy="731520"/>
          </a:xfrm>
          <a:prstGeom prst="rect">
            <a:avLst/>
          </a:prstGeom>
          <a:noFill/>
        </p:spPr>
        <p:txBody>
          <a:bodyPr wrap="square" lIns="0" tIns="0" rIns="0" bIns="0" rtlCol="0" anchor="ctr"/>
          <a:lstStyle/>
          <a:p>
            <a:pPr marL="0" indent="0">
              <a:buNone/>
            </a:pPr>
            <a:r>
              <a:rPr lang="en-US" sz="900" b="1" kern="0" spc="150" dirty="0">
                <a:solidFill>
                  <a:schemeClr val="accent1"/>
                </a:solidFill>
              </a:rPr>
              <a:t>AISYAH</a:t>
            </a:r>
            <a:endParaRPr lang="en-US" sz="900" dirty="0"/>
          </a:p>
          <a:p>
            <a:pPr marL="0" indent="0">
              <a:buNone/>
            </a:pPr>
            <a:r>
              <a:rPr lang="en-US" sz="1050" b="1" dirty="0">
                <a:solidFill>
                  <a:schemeClr val="tx1"/>
                </a:solidFill>
              </a:rPr>
              <a:t>3 courses, about 37 hours, 2 free. Biggest gap: CAD and BIM.</a:t>
            </a:r>
            <a:endParaRPr lang="en-US" sz="900" dirty="0"/>
          </a:p>
        </p:txBody>
      </p:sp>
      <p:sp>
        <p:nvSpPr>
          <p:cNvPr id="40" name="Stop 4"/>
          <p:cNvSpPr/>
          <p:nvPr/>
        </p:nvSpPr>
        <p:spPr>
          <a:xfrm>
            <a:off x="8878824" y="1737360"/>
            <a:ext cx="512064" cy="512064"/>
          </a:xfrm>
          <a:prstGeom prst="ellipse">
            <a:avLst/>
          </a:prstGeom>
          <a:solidFill>
            <a:srgbClr val="0F6E6E"/>
          </a:solidFill>
          <a:ln w="38100">
            <a:solidFill>
              <a:srgbClr val="FAF8F4"/>
            </a:solidFill>
            <a:prstDash val="solid"/>
          </a:ln>
        </p:spPr>
        <p:txBody>
          <a:bodyPr/>
          <a:p/>
        </p:txBody>
      </p:sp>
      <p:pic>
        <p:nvPicPr>
          <p:cNvPr id="41" name="LuSend icon" descr="preencoded.png"/>
          <p:cNvPicPr>
            <a:picLocks noChangeAspect="1"/>
          </p:cNvPicPr>
          <p:nvPr/>
        </p:nvPicPr>
        <p:blipFill>
          <a:blip r:embed="rId4"/>
          <a:stretch>
            <a:fillRect/>
          </a:stretch>
        </p:blipFill>
        <p:spPr>
          <a:xfrm>
            <a:off x="9015984" y="1874520"/>
            <a:ext cx="237744" cy="237744"/>
          </a:xfrm>
          <a:prstGeom prst="rect">
            <a:avLst/>
          </a:prstGeom>
        </p:spPr>
      </p:pic>
      <p:sp>
        <p:nvSpPr>
          <p:cNvPr id="42" name="Text 36"/>
          <p:cNvSpPr txBox="1"/>
          <p:nvPr/>
        </p:nvSpPr>
        <p:spPr>
          <a:xfrm>
            <a:off x="9445752" y="1810512"/>
            <a:ext cx="1851660" cy="365760"/>
          </a:xfrm>
          <a:prstGeom prst="rect">
            <a:avLst/>
          </a:prstGeom>
          <a:solidFill>
            <a:srgbClr val="FAF8F4"/>
          </a:solidFill>
        </p:spPr>
        <p:txBody>
          <a:bodyPr wrap="square" lIns="0" tIns="50800" rIns="50800" bIns="0" rtlCol="0" anchor="ctr"/>
          <a:lstStyle/>
          <a:p>
            <a:pPr marL="0" indent="0">
              <a:buNone/>
            </a:pPr>
            <a:r>
              <a:rPr lang="en-US" sz="1500" b="1" dirty="0">
                <a:solidFill>
                  <a:schemeClr val="accent1"/>
                </a:solidFill>
              </a:rPr>
              <a:t>4  </a:t>
            </a:r>
            <a:r>
              <a:rPr lang="en-US" sz="1500" b="1" dirty="0">
                <a:solidFill>
                  <a:schemeClr val="tx1"/>
                </a:solidFill>
              </a:rPr>
              <a:t>Apply and share</a:t>
            </a:r>
            <a:endParaRPr lang="en-US" sz="1500" dirty="0"/>
          </a:p>
        </p:txBody>
      </p:sp>
      <p:sp>
        <p:nvSpPr>
          <p:cNvPr id="43" name="Apply and share card"/>
          <p:cNvSpPr/>
          <p:nvPr/>
        </p:nvSpPr>
        <p:spPr>
          <a:xfrm>
            <a:off x="8878824" y="2377440"/>
            <a:ext cx="2578608" cy="3108960"/>
          </a:xfrm>
          <a:prstGeom prst="roundRect">
            <a:avLst>
              <a:gd name="adj" fmla="val 3546"/>
            </a:avLst>
          </a:prstGeom>
          <a:solidFill>
            <a:schemeClr val="bg1"/>
          </a:solidFill>
          <a:ln w="9525">
            <a:solidFill>
              <a:srgbClr val="E3DFD6"/>
            </a:solidFill>
            <a:prstDash val="solid"/>
          </a:ln>
        </p:spPr>
        <p:txBody>
          <a:bodyPr/>
          <a:p/>
        </p:txBody>
      </p:sp>
      <p:sp>
        <p:nvSpPr>
          <p:cNvPr id="44" name="Text 38"/>
          <p:cNvSpPr txBox="1"/>
          <p:nvPr/>
        </p:nvSpPr>
        <p:spPr>
          <a:xfrm>
            <a:off x="9034272" y="2468880"/>
            <a:ext cx="2286000" cy="201168"/>
          </a:xfrm>
          <a:prstGeom prst="rect">
            <a:avLst/>
          </a:prstGeom>
          <a:noFill/>
        </p:spPr>
        <p:txBody>
          <a:bodyPr wrap="square" lIns="0" tIns="0" rIns="0" bIns="0" rtlCol="0" anchor="ctr"/>
          <a:lstStyle/>
          <a:p>
            <a:pPr marL="0" indent="0">
              <a:buNone/>
            </a:pPr>
            <a:r>
              <a:rPr lang="en-US" sz="900" b="1" kern="0" spc="150" dirty="0">
                <a:solidFill>
                  <a:schemeClr val="tx2"/>
                </a:solidFill>
              </a:rPr>
              <a:t>YOU</a:t>
            </a:r>
            <a:endParaRPr lang="en-US" sz="900" dirty="0"/>
          </a:p>
        </p:txBody>
      </p:sp>
      <p:sp>
        <p:nvSpPr>
          <p:cNvPr id="45" name="Text 39"/>
          <p:cNvSpPr txBox="1"/>
          <p:nvPr/>
        </p:nvSpPr>
        <p:spPr>
          <a:xfrm>
            <a:off x="9034272" y="2670048"/>
            <a:ext cx="2286000" cy="566928"/>
          </a:xfrm>
          <a:prstGeom prst="rect">
            <a:avLst/>
          </a:prstGeom>
          <a:noFill/>
        </p:spPr>
        <p:txBody>
          <a:bodyPr wrap="square" lIns="0" tIns="0" rIns="0" bIns="0" rtlCol="0" anchor="t"/>
          <a:lstStyle/>
          <a:p>
            <a:pPr marL="0" indent="0">
              <a:buNone/>
            </a:pPr>
            <a:r>
              <a:rPr lang="en-US" sz="1100" dirty="0">
                <a:solidFill>
                  <a:schemeClr val="tx1"/>
                </a:solidFill>
              </a:rPr>
              <a:t>Look at real openings, practise an interview, and share your plan.</a:t>
            </a:r>
            <a:endParaRPr lang="en-US" sz="1100" dirty="0"/>
          </a:p>
        </p:txBody>
      </p:sp>
      <p:sp>
        <p:nvSpPr>
          <p:cNvPr id="46" name="Text 40"/>
          <p:cNvSpPr txBox="1"/>
          <p:nvPr/>
        </p:nvSpPr>
        <p:spPr>
          <a:xfrm>
            <a:off x="9034272" y="3273552"/>
            <a:ext cx="2286000" cy="201168"/>
          </a:xfrm>
          <a:prstGeom prst="rect">
            <a:avLst/>
          </a:prstGeom>
          <a:noFill/>
        </p:spPr>
        <p:txBody>
          <a:bodyPr wrap="square" lIns="0" tIns="0" rIns="0" bIns="0" rtlCol="0" anchor="ctr"/>
          <a:lstStyle/>
          <a:p>
            <a:pPr marL="0" indent="0">
              <a:buNone/>
            </a:pPr>
            <a:r>
              <a:rPr lang="en-US" sz="900" b="1" kern="0" spc="150" dirty="0">
                <a:solidFill>
                  <a:schemeClr val="accent1"/>
                </a:solidFill>
              </a:rPr>
              <a:t>LALUAN</a:t>
            </a:r>
            <a:endParaRPr lang="en-US" sz="900" dirty="0"/>
          </a:p>
        </p:txBody>
      </p:sp>
      <p:sp>
        <p:nvSpPr>
          <p:cNvPr id="47" name="Text 41"/>
          <p:cNvSpPr txBox="1"/>
          <p:nvPr/>
        </p:nvSpPr>
        <p:spPr>
          <a:xfrm>
            <a:off x="9034272" y="3474720"/>
            <a:ext cx="2286000" cy="1051560"/>
          </a:xfrm>
          <a:prstGeom prst="rect">
            <a:avLst/>
          </a:prstGeom>
          <a:noFill/>
        </p:spPr>
        <p:txBody>
          <a:bodyPr wrap="square" lIns="0" tIns="0" rIns="0" bIns="0" rtlCol="0" anchor="t"/>
          <a:lstStyle/>
          <a:p>
            <a:pPr marL="127000" indent="-127000">
              <a:spcAft>
                <a:spcPts val="300"/>
              </a:spcAft>
              <a:buSzPct val="100000"/>
              <a:buChar char="•"/>
            </a:pPr>
            <a:r>
              <a:rPr lang="en-US" sz="1050" dirty="0">
                <a:solidFill>
                  <a:schemeClr val="tx2"/>
                </a:solidFill>
              </a:rPr>
              <a:t>Open jobs in Malaysia from current job ads</a:t>
            </a:r>
            <a:endParaRPr lang="en-US" sz="1050" dirty="0"/>
          </a:p>
          <a:p>
            <a:pPr marL="127000" indent="-127000">
              <a:spcAft>
                <a:spcPts val="300"/>
              </a:spcAft>
              <a:buSzPct val="100000"/>
              <a:buChar char="•"/>
            </a:pPr>
            <a:r>
              <a:rPr lang="en-US" sz="1050" dirty="0">
                <a:solidFill>
                  <a:schemeClr val="tx2"/>
                </a:solidFill>
              </a:rPr>
              <a:t>5-question interview practice with feedback</a:t>
            </a:r>
            <a:endParaRPr lang="en-US" sz="1050" dirty="0"/>
          </a:p>
          <a:p>
            <a:pPr marL="127000" indent="-127000">
              <a:spcAft>
                <a:spcPts val="300"/>
              </a:spcAft>
              <a:buSzPct val="100000"/>
              <a:buChar char="•"/>
            </a:pPr>
            <a:r>
              <a:rPr lang="en-US" sz="1050" dirty="0">
                <a:solidFill>
                  <a:schemeClr val="tx2"/>
                </a:solidFill>
              </a:rPr>
              <a:t>Career identity statement and a Future Card</a:t>
            </a:r>
            <a:endParaRPr lang="en-US" sz="1050" dirty="0"/>
          </a:p>
        </p:txBody>
      </p:sp>
      <p:sp>
        <p:nvSpPr>
          <p:cNvPr id="48" name="Apply and share example"/>
          <p:cNvSpPr/>
          <p:nvPr/>
        </p:nvSpPr>
        <p:spPr>
          <a:xfrm>
            <a:off x="8970264" y="4590288"/>
            <a:ext cx="2395728" cy="804672"/>
          </a:xfrm>
          <a:prstGeom prst="roundRect">
            <a:avLst>
              <a:gd name="adj" fmla="val 9091"/>
            </a:avLst>
          </a:prstGeom>
          <a:solidFill>
            <a:schemeClr val="accent5"/>
          </a:solidFill>
        </p:spPr>
        <p:txBody>
          <a:bodyPr/>
          <a:p/>
        </p:txBody>
      </p:sp>
      <p:sp>
        <p:nvSpPr>
          <p:cNvPr id="49" name="Text 43"/>
          <p:cNvSpPr txBox="1"/>
          <p:nvPr/>
        </p:nvSpPr>
        <p:spPr>
          <a:xfrm>
            <a:off x="9079992" y="4626864"/>
            <a:ext cx="2194560" cy="731520"/>
          </a:xfrm>
          <a:prstGeom prst="rect">
            <a:avLst/>
          </a:prstGeom>
          <a:noFill/>
        </p:spPr>
        <p:txBody>
          <a:bodyPr wrap="square" lIns="0" tIns="0" rIns="0" bIns="0" rtlCol="0" anchor="ctr"/>
          <a:lstStyle/>
          <a:p>
            <a:pPr marL="0" indent="0">
              <a:buNone/>
            </a:pPr>
            <a:r>
              <a:rPr lang="en-US" sz="900" b="1" kern="0" spc="150" dirty="0">
                <a:solidFill>
                  <a:schemeClr val="accent1"/>
                </a:solidFill>
              </a:rPr>
              <a:t>AISYAH</a:t>
            </a:r>
            <a:endParaRPr lang="en-US" sz="900" dirty="0"/>
          </a:p>
          <a:p>
            <a:pPr marL="0" indent="0">
              <a:buNone/>
            </a:pPr>
            <a:r>
              <a:rPr lang="en-US" sz="1050" b="1" dirty="0">
                <a:solidFill>
                  <a:schemeClr val="tx1"/>
                </a:solidFill>
              </a:rPr>
              <a:t>Interview practice opens with “why BIM?”, then CAD and BIM.</a:t>
            </a:r>
            <a:endParaRPr lang="en-US" sz="900" dirty="0"/>
          </a:p>
        </p:txBody>
      </p:sp>
      <p:sp>
        <p:nvSpPr>
          <p:cNvPr id="50" name="Live strip"/>
          <p:cNvSpPr/>
          <p:nvPr/>
        </p:nvSpPr>
        <p:spPr>
          <a:xfrm>
            <a:off x="731520" y="5596128"/>
            <a:ext cx="10725912" cy="420624"/>
          </a:xfrm>
          <a:prstGeom prst="roundRect">
            <a:avLst>
              <a:gd name="adj" fmla="val 21739"/>
            </a:avLst>
          </a:prstGeom>
          <a:solidFill>
            <a:schemeClr val="bg1"/>
          </a:solidFill>
          <a:ln w="15875">
            <a:solidFill>
              <a:srgbClr val="0F6E6E"/>
            </a:solidFill>
            <a:prstDash val="solid"/>
          </a:ln>
        </p:spPr>
        <p:txBody>
          <a:bodyPr/>
          <a:p/>
        </p:txBody>
      </p:sp>
      <p:pic>
        <p:nvPicPr>
          <p:cNvPr id="51" name="LuGlobe icon" descr="preencoded.png"/>
          <p:cNvPicPr>
            <a:picLocks noChangeAspect="1"/>
          </p:cNvPicPr>
          <p:nvPr/>
        </p:nvPicPr>
        <p:blipFill>
          <a:blip r:embed="rId5"/>
          <a:stretch>
            <a:fillRect/>
          </a:stretch>
        </p:blipFill>
        <p:spPr>
          <a:xfrm>
            <a:off x="914400" y="5678424"/>
            <a:ext cx="246888" cy="246888"/>
          </a:xfrm>
          <a:prstGeom prst="rect">
            <a:avLst/>
          </a:prstGeom>
        </p:spPr>
      </p:pic>
      <p:sp>
        <p:nvSpPr>
          <p:cNvPr id="52" name="Text 45"/>
          <p:cNvSpPr txBox="1"/>
          <p:nvPr/>
        </p:nvSpPr>
        <p:spPr>
          <a:xfrm>
            <a:off x="1280160" y="5596128"/>
            <a:ext cx="10058400" cy="420624"/>
          </a:xfrm>
          <a:prstGeom prst="rect">
            <a:avLst/>
          </a:prstGeom>
          <a:noFill/>
        </p:spPr>
        <p:txBody>
          <a:bodyPr wrap="square" lIns="0" tIns="0" rIns="0" bIns="0" rtlCol="0" anchor="ctr"/>
          <a:lstStyle/>
          <a:p>
            <a:pPr marL="0" indent="0">
              <a:buNone/>
            </a:pPr>
            <a:r>
              <a:rPr lang="en-US" sz="1150" b="1" dirty="0">
                <a:solidFill>
                  <a:schemeClr val="accent1"/>
                </a:solidFill>
              </a:rPr>
              <a:t>Also live: </a:t>
            </a:r>
            <a:r>
              <a:rPr lang="en-US" sz="1150" dirty="0">
                <a:solidFill>
                  <a:schemeClr val="tx1"/>
                </a:solidFill>
              </a:rPr>
              <a:t>Future Skills Radar · AI coach that only suggests · re-planning when a forecast changes · HR and class views · EN, BM, 中文</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2514600" cy="329184"/>
          </a:xfrm>
          <a:prstGeom prst="rect">
            <a:avLst/>
          </a:prstGeom>
          <a:noFill/>
        </p:spPr>
        <p:txBody>
          <a:bodyPr wrap="square" lIns="0" tIns="0" rIns="0" bIns="0" rtlCol="0" anchor="ctr"/>
          <a:lstStyle/>
          <a:p>
            <a:pPr marL="0" indent="0">
              <a:buNone/>
            </a:pPr>
            <a:r>
              <a:rPr lang="en-US" sz="1300" b="1" kern="0" spc="150" dirty="0">
                <a:solidFill>
                  <a:schemeClr val="accent1"/>
                </a:solidFill>
              </a:rPr>
              <a:t>THE FORECAST ENGINE</a:t>
            </a:r>
            <a:endParaRPr lang="en-US" sz="1300" dirty="0"/>
          </a:p>
        </p:txBody>
      </p:sp>
      <p:sp>
        <p:nvSpPr>
          <p:cNvPr id="3" name="Innovation &amp; Creativity · 30% pill"/>
          <p:cNvSpPr/>
          <p:nvPr/>
        </p:nvSpPr>
        <p:spPr>
          <a:xfrm>
            <a:off x="3337560" y="457200"/>
            <a:ext cx="2788920" cy="329184"/>
          </a:xfrm>
          <a:prstGeom prst="roundRect">
            <a:avLst>
              <a:gd name="adj" fmla="val 50000"/>
            </a:avLst>
          </a:prstGeom>
          <a:solidFill>
            <a:schemeClr val="accent5"/>
          </a:solidFill>
        </p:spPr>
        <p:txBody>
          <a:bodyPr/>
          <a:p/>
        </p:txBody>
      </p:sp>
      <p:sp>
        <p:nvSpPr>
          <p:cNvPr id="4" name="Text 2"/>
          <p:cNvSpPr txBox="1"/>
          <p:nvPr/>
        </p:nvSpPr>
        <p:spPr>
          <a:xfrm>
            <a:off x="3337560" y="457200"/>
            <a:ext cx="2788920" cy="329184"/>
          </a:xfrm>
          <a:prstGeom prst="rect">
            <a:avLst/>
          </a:prstGeom>
          <a:noFill/>
        </p:spPr>
        <p:txBody>
          <a:bodyPr wrap="square" lIns="0" tIns="0" rIns="0" bIns="0" rtlCol="0" anchor="ctr"/>
          <a:lstStyle/>
          <a:p>
            <a:pPr marL="0" indent="0" algn="ctr">
              <a:buNone/>
            </a:pPr>
            <a:r>
              <a:rPr lang="en-US" sz="1200" b="1" dirty="0">
                <a:solidFill>
                  <a:schemeClr val="accent1"/>
                </a:solidFill>
              </a:rPr>
              <a:t>Innovation &amp; Creativity · 30%</a:t>
            </a:r>
            <a:endParaRPr lang="en-US" sz="1200" dirty="0"/>
          </a:p>
        </p:txBody>
      </p:sp>
      <p:sp>
        <p:nvSpPr>
          <p:cNvPr id="5" name="Live x-ray · BIM technician pill"/>
          <p:cNvSpPr/>
          <p:nvPr/>
        </p:nvSpPr>
        <p:spPr>
          <a:xfrm>
            <a:off x="8851392" y="457200"/>
            <a:ext cx="2606040" cy="329184"/>
          </a:xfrm>
          <a:prstGeom prst="roundRect">
            <a:avLst>
              <a:gd name="adj" fmla="val 50000"/>
            </a:avLst>
          </a:prstGeom>
          <a:solidFill>
            <a:srgbClr val="EFEDE8"/>
          </a:solidFill>
        </p:spPr>
        <p:txBody>
          <a:bodyPr/>
          <a:p/>
        </p:txBody>
      </p:sp>
      <p:sp>
        <p:nvSpPr>
          <p:cNvPr id="6" name="Text 4"/>
          <p:cNvSpPr txBox="1"/>
          <p:nvPr/>
        </p:nvSpPr>
        <p:spPr>
          <a:xfrm>
            <a:off x="8851392" y="457200"/>
            <a:ext cx="2606040" cy="329184"/>
          </a:xfrm>
          <a:prstGeom prst="rect">
            <a:avLst/>
          </a:prstGeom>
          <a:noFill/>
        </p:spPr>
        <p:txBody>
          <a:bodyPr wrap="square" lIns="0" tIns="0" rIns="0" bIns="0" rtlCol="0" anchor="ctr"/>
          <a:lstStyle/>
          <a:p>
            <a:pPr marL="0" indent="0" algn="ctr">
              <a:buNone/>
            </a:pPr>
            <a:r>
              <a:rPr lang="en-US" sz="1200" dirty="0">
                <a:solidFill>
                  <a:schemeClr val="tx2"/>
                </a:solidFill>
              </a:rPr>
              <a:t>Live x-ray · BIM technician</a:t>
            </a:r>
            <a:endParaRPr lang="en-US" sz="1200" dirty="0"/>
          </a:p>
        </p:txBody>
      </p:sp>
      <p:sp>
        <p:nvSpPr>
          <p:cNvPr id="7" name="Text 5"/>
          <p:cNvSpPr txBox="1"/>
          <p:nvPr/>
        </p:nvSpPr>
        <p:spPr>
          <a:xfrm>
            <a:off x="10543032" y="6309360"/>
            <a:ext cx="914400" cy="256032"/>
          </a:xfrm>
          <a:prstGeom prst="rect">
            <a:avLst/>
          </a:prstGeom>
          <a:noFill/>
        </p:spPr>
        <p:txBody>
          <a:bodyPr wrap="square" lIns="0" tIns="0" rIns="0" bIns="0" rtlCol="0" anchor="ctr"/>
          <a:lstStyle/>
          <a:p>
            <a:pPr marL="0" indent="0" algn="r">
              <a:buNone/>
            </a:pPr>
            <a:r>
              <a:rPr lang="en-US" sz="1200" dirty="0">
                <a:solidFill>
                  <a:schemeClr val="tx2"/>
                </a:solidFill>
              </a:rPr>
              <a:t>07 / 17</a:t>
            </a:r>
            <a:endParaRPr lang="en-US" sz="1200" dirty="0"/>
          </a:p>
        </p:txBody>
      </p:sp>
      <p:sp>
        <p:nvSpPr>
          <p:cNvPr id="8" name="Text 1"/>
          <p:cNvSpPr/>
          <p:nvPr>
            <p:ph type="title" idx="102" hasCustomPrompt="1"/>
          </p:nvPr>
        </p:nvSpPr>
        <p:spPr>
          <a:xfrm>
            <a:off x="731520" y="896112"/>
            <a:ext cx="10725912" cy="685800"/>
          </a:xfrm>
          <a:prstGeom prst="rect">
            <a:avLst/>
          </a:prstGeom>
          <a:noFill/>
        </p:spPr>
        <p:txBody>
          <a:bodyPr wrap="square" lIns="0" tIns="0" rIns="0" bIns="0" rtlCol="0" anchor="t"/>
          <a:lstStyle/>
          <a:p>
            <a:pPr marL="0" indent="0" algn="l">
              <a:buNone/>
            </a:pPr>
            <a:r>
              <a:rPr lang="en-US" sz="3200" b="1" dirty="0">
                <a:solidFill>
                  <a:schemeClr val="tx1"/>
                </a:solidFill>
              </a:rPr>
              <a:t>Every percentage opens to the steps behind it.</a:t>
            </a:r>
            <a:endParaRPr lang="en-US" sz="3200" dirty="0"/>
          </a:p>
        </p:txBody>
      </p:sp>
      <p:sp>
        <p:nvSpPr>
          <p:cNvPr id="9" name="Forecast x-ray frame"/>
          <p:cNvSpPr/>
          <p:nvPr/>
        </p:nvSpPr>
        <p:spPr>
          <a:xfrm>
            <a:off x="731520" y="1755648"/>
            <a:ext cx="4041648" cy="3968496"/>
          </a:xfrm>
          <a:prstGeom prst="roundRect">
            <a:avLst>
              <a:gd name="adj" fmla="val 1843"/>
            </a:avLst>
          </a:prstGeom>
          <a:solidFill>
            <a:schemeClr val="bg1"/>
          </a:solidFill>
          <a:ln w="9525">
            <a:solidFill>
              <a:srgbClr val="E3DFD6"/>
            </a:solidFill>
            <a:prstDash val="solid"/>
          </a:ln>
        </p:spPr>
        <p:txBody>
          <a:bodyPr/>
          <a:p/>
        </p:txBody>
      </p:sp>
      <p:pic>
        <p:nvPicPr>
          <p:cNvPr id="10" name="Forecast x-ray" descr="Screenshot: Forecast x-ray"/>
          <p:cNvPicPr>
            <a:picLocks noChangeAspect="1"/>
          </p:cNvPicPr>
          <p:nvPr/>
        </p:nvPicPr>
        <p:blipFill>
          <a:blip r:embed="rId1"/>
          <a:stretch>
            <a:fillRect/>
          </a:stretch>
        </p:blipFill>
        <p:spPr>
          <a:xfrm>
            <a:off x="786384" y="1810512"/>
            <a:ext cx="3931920" cy="3858768"/>
          </a:xfrm>
          <a:prstGeom prst="rect">
            <a:avLst/>
          </a:prstGeom>
        </p:spPr>
      </p:pic>
      <p:sp>
        <p:nvSpPr>
          <p:cNvPr id="11" name="Text 8"/>
          <p:cNvSpPr txBox="1"/>
          <p:nvPr/>
        </p:nvSpPr>
        <p:spPr>
          <a:xfrm>
            <a:off x="5120640" y="1783080"/>
            <a:ext cx="4572000" cy="274320"/>
          </a:xfrm>
          <a:prstGeom prst="rect">
            <a:avLst/>
          </a:prstGeom>
          <a:noFill/>
        </p:spPr>
        <p:txBody>
          <a:bodyPr wrap="square" lIns="0" tIns="0" rIns="0" bIns="0" rtlCol="0" anchor="ctr"/>
          <a:lstStyle/>
          <a:p>
            <a:pPr marL="0" indent="0">
              <a:buNone/>
            </a:pPr>
            <a:r>
              <a:rPr lang="en-US" sz="1200" b="1" kern="0" spc="150" dirty="0">
                <a:solidFill>
                  <a:schemeClr val="accent1"/>
                </a:solidFill>
              </a:rPr>
              <a:t>FIVE SIGNALS, EACH CAPPED</a:t>
            </a:r>
            <a:endParaRPr lang="en-US" sz="1200" dirty="0"/>
          </a:p>
        </p:txBody>
      </p:sp>
      <p:pic>
        <p:nvPicPr>
          <p:cNvPr id="12" name="LuGlobe icon" descr="preencoded.png"/>
          <p:cNvPicPr>
            <a:picLocks noChangeAspect="1"/>
          </p:cNvPicPr>
          <p:nvPr/>
        </p:nvPicPr>
        <p:blipFill>
          <a:blip r:embed="rId2"/>
          <a:stretch>
            <a:fillRect/>
          </a:stretch>
        </p:blipFill>
        <p:spPr>
          <a:xfrm>
            <a:off x="5120640" y="2176272"/>
            <a:ext cx="310896" cy="310896"/>
          </a:xfrm>
          <a:prstGeom prst="rect">
            <a:avLst/>
          </a:prstGeom>
        </p:spPr>
      </p:pic>
      <p:sp>
        <p:nvSpPr>
          <p:cNvPr id="13" name="Text 9"/>
          <p:cNvSpPr txBox="1"/>
          <p:nvPr/>
        </p:nvSpPr>
        <p:spPr>
          <a:xfrm>
            <a:off x="5577840" y="2103120"/>
            <a:ext cx="4754880" cy="256032"/>
          </a:xfrm>
          <a:prstGeom prst="rect">
            <a:avLst/>
          </a:prstGeom>
          <a:noFill/>
        </p:spPr>
        <p:txBody>
          <a:bodyPr wrap="square" lIns="0" tIns="0" rIns="0" bIns="0" rtlCol="0" anchor="ctr"/>
          <a:lstStyle/>
          <a:p>
            <a:pPr marL="0" indent="0">
              <a:buNone/>
            </a:pPr>
            <a:r>
              <a:rPr lang="en-US" sz="1400" b="1" dirty="0">
                <a:solidFill>
                  <a:schemeClr val="tx1"/>
                </a:solidFill>
              </a:rPr>
              <a:t>WEF Future of Jobs 2025</a:t>
            </a:r>
            <a:endParaRPr lang="en-US" sz="1400" dirty="0"/>
          </a:p>
        </p:txBody>
      </p:sp>
      <p:sp>
        <p:nvSpPr>
          <p:cNvPr id="14" name="Text 10"/>
          <p:cNvSpPr txBox="1"/>
          <p:nvPr/>
        </p:nvSpPr>
        <p:spPr>
          <a:xfrm>
            <a:off x="5577840" y="2350008"/>
            <a:ext cx="4846320" cy="246888"/>
          </a:xfrm>
          <a:prstGeom prst="rect">
            <a:avLst/>
          </a:prstGeom>
          <a:noFill/>
        </p:spPr>
        <p:txBody>
          <a:bodyPr wrap="square" lIns="0" tIns="0" rIns="0" bIns="0" rtlCol="0" anchor="ctr"/>
          <a:lstStyle/>
          <a:p>
            <a:pPr marL="0" indent="0">
              <a:buNone/>
            </a:pPr>
            <a:r>
              <a:rPr lang="en-US" sz="1200" dirty="0">
                <a:solidFill>
                  <a:schemeClr val="tx2"/>
                </a:solidFill>
              </a:rPr>
              <a:t>Published baseline by role, 2025 to 2030</a:t>
            </a:r>
            <a:endParaRPr lang="en-US" sz="1200" dirty="0"/>
          </a:p>
        </p:txBody>
      </p:sp>
      <p:sp>
        <p:nvSpPr>
          <p:cNvPr id="15" name="base pill"/>
          <p:cNvSpPr/>
          <p:nvPr/>
        </p:nvSpPr>
        <p:spPr>
          <a:xfrm>
            <a:off x="10725912" y="2194560"/>
            <a:ext cx="731520" cy="329184"/>
          </a:xfrm>
          <a:prstGeom prst="roundRect">
            <a:avLst>
              <a:gd name="adj" fmla="val 50000"/>
            </a:avLst>
          </a:prstGeom>
          <a:solidFill>
            <a:srgbClr val="EFEDE8"/>
          </a:solidFill>
        </p:spPr>
        <p:txBody>
          <a:bodyPr/>
          <a:p/>
        </p:txBody>
      </p:sp>
      <p:sp>
        <p:nvSpPr>
          <p:cNvPr id="16" name="Text 12"/>
          <p:cNvSpPr txBox="1"/>
          <p:nvPr/>
        </p:nvSpPr>
        <p:spPr>
          <a:xfrm>
            <a:off x="10725912" y="2194560"/>
            <a:ext cx="731520" cy="329184"/>
          </a:xfrm>
          <a:prstGeom prst="rect">
            <a:avLst/>
          </a:prstGeom>
          <a:noFill/>
        </p:spPr>
        <p:txBody>
          <a:bodyPr wrap="square" lIns="0" tIns="0" rIns="0" bIns="0" rtlCol="0" anchor="ctr"/>
          <a:lstStyle/>
          <a:p>
            <a:pPr marL="0" indent="0" algn="ctr">
              <a:buNone/>
            </a:pPr>
            <a:r>
              <a:rPr lang="en-US" sz="1100" b="1" dirty="0">
                <a:solidFill>
                  <a:schemeClr val="tx2"/>
                </a:solidFill>
              </a:rPr>
              <a:t>base</a:t>
            </a:r>
            <a:endParaRPr lang="en-US" sz="1100" dirty="0"/>
          </a:p>
        </p:txBody>
      </p:sp>
      <p:pic>
        <p:nvPicPr>
          <p:cNvPr id="17" name="LuBriefcase icon" descr="preencoded.png"/>
          <p:cNvPicPr>
            <a:picLocks noChangeAspect="1"/>
          </p:cNvPicPr>
          <p:nvPr/>
        </p:nvPicPr>
        <p:blipFill>
          <a:blip r:embed="rId3"/>
          <a:stretch>
            <a:fillRect/>
          </a:stretch>
        </p:blipFill>
        <p:spPr>
          <a:xfrm>
            <a:off x="5120640" y="2724912"/>
            <a:ext cx="310896" cy="310896"/>
          </a:xfrm>
          <a:prstGeom prst="rect">
            <a:avLst/>
          </a:prstGeom>
        </p:spPr>
      </p:pic>
      <p:sp>
        <p:nvSpPr>
          <p:cNvPr id="18" name="Text 13"/>
          <p:cNvSpPr txBox="1"/>
          <p:nvPr/>
        </p:nvSpPr>
        <p:spPr>
          <a:xfrm>
            <a:off x="5577840" y="2651760"/>
            <a:ext cx="4754880" cy="256032"/>
          </a:xfrm>
          <a:prstGeom prst="rect">
            <a:avLst/>
          </a:prstGeom>
          <a:noFill/>
        </p:spPr>
        <p:txBody>
          <a:bodyPr wrap="square" lIns="0" tIns="0" rIns="0" bIns="0" rtlCol="0" anchor="ctr"/>
          <a:lstStyle/>
          <a:p>
            <a:pPr marL="0" indent="0">
              <a:buNone/>
            </a:pPr>
            <a:r>
              <a:rPr lang="en-US" sz="1400" b="1" dirty="0">
                <a:solidFill>
                  <a:schemeClr val="tx1"/>
                </a:solidFill>
              </a:rPr>
              <a:t>Malaysian &amp; global job ads</a:t>
            </a:r>
            <a:endParaRPr lang="en-US" sz="1400" dirty="0"/>
          </a:p>
        </p:txBody>
      </p:sp>
      <p:sp>
        <p:nvSpPr>
          <p:cNvPr id="19" name="Text 14"/>
          <p:cNvSpPr txBox="1"/>
          <p:nvPr/>
        </p:nvSpPr>
        <p:spPr>
          <a:xfrm>
            <a:off x="5577840" y="2898648"/>
            <a:ext cx="4846320" cy="246888"/>
          </a:xfrm>
          <a:prstGeom prst="rect">
            <a:avLst/>
          </a:prstGeom>
          <a:noFill/>
        </p:spPr>
        <p:txBody>
          <a:bodyPr wrap="square" lIns="0" tIns="0" rIns="0" bIns="0" rtlCol="0" anchor="ctr"/>
          <a:lstStyle/>
          <a:p>
            <a:pPr marL="0" indent="0">
              <a:buNone/>
            </a:pPr>
            <a:r>
              <a:rPr lang="en-US" sz="1200" dirty="0">
                <a:solidFill>
                  <a:schemeClr val="tx2"/>
                </a:solidFill>
              </a:rPr>
              <a:t>Change in postings that mention the role's skills</a:t>
            </a:r>
            <a:endParaRPr lang="en-US" sz="1200" dirty="0"/>
          </a:p>
        </p:txBody>
      </p:sp>
      <p:sp>
        <p:nvSpPr>
          <p:cNvPr id="20" name="±15 pill"/>
          <p:cNvSpPr/>
          <p:nvPr/>
        </p:nvSpPr>
        <p:spPr>
          <a:xfrm>
            <a:off x="10725912" y="2743200"/>
            <a:ext cx="731520" cy="329184"/>
          </a:xfrm>
          <a:prstGeom prst="roundRect">
            <a:avLst>
              <a:gd name="adj" fmla="val 50000"/>
            </a:avLst>
          </a:prstGeom>
          <a:solidFill>
            <a:schemeClr val="accent5"/>
          </a:solidFill>
        </p:spPr>
        <p:txBody>
          <a:bodyPr/>
          <a:p/>
        </p:txBody>
      </p:sp>
      <p:sp>
        <p:nvSpPr>
          <p:cNvPr id="21" name="Text 16"/>
          <p:cNvSpPr txBox="1"/>
          <p:nvPr/>
        </p:nvSpPr>
        <p:spPr>
          <a:xfrm>
            <a:off x="10725912" y="2743200"/>
            <a:ext cx="731520" cy="329184"/>
          </a:xfrm>
          <a:prstGeom prst="rect">
            <a:avLst/>
          </a:prstGeom>
          <a:noFill/>
        </p:spPr>
        <p:txBody>
          <a:bodyPr wrap="square" lIns="0" tIns="0" rIns="0" bIns="0" rtlCol="0" anchor="ctr"/>
          <a:lstStyle/>
          <a:p>
            <a:pPr marL="0" indent="0" algn="ctr">
              <a:buNone/>
            </a:pPr>
            <a:r>
              <a:rPr lang="en-US" sz="1100" b="1" dirty="0">
                <a:solidFill>
                  <a:schemeClr val="accent1"/>
                </a:solidFill>
              </a:rPr>
              <a:t>±15</a:t>
            </a:r>
            <a:endParaRPr lang="en-US" sz="1100" dirty="0"/>
          </a:p>
        </p:txBody>
      </p:sp>
      <p:pic>
        <p:nvPicPr>
          <p:cNvPr id="22" name="LuChartColumn icon" descr="preencoded.png"/>
          <p:cNvPicPr>
            <a:picLocks noChangeAspect="1"/>
          </p:cNvPicPr>
          <p:nvPr/>
        </p:nvPicPr>
        <p:blipFill>
          <a:blip r:embed="rId4"/>
          <a:stretch>
            <a:fillRect/>
          </a:stretch>
        </p:blipFill>
        <p:spPr>
          <a:xfrm>
            <a:off x="5120640" y="3273552"/>
            <a:ext cx="310896" cy="310896"/>
          </a:xfrm>
          <a:prstGeom prst="rect">
            <a:avLst/>
          </a:prstGeom>
        </p:spPr>
      </p:pic>
      <p:sp>
        <p:nvSpPr>
          <p:cNvPr id="23" name="Text 17"/>
          <p:cNvSpPr txBox="1"/>
          <p:nvPr/>
        </p:nvSpPr>
        <p:spPr>
          <a:xfrm>
            <a:off x="5577840" y="3200400"/>
            <a:ext cx="4754880" cy="256032"/>
          </a:xfrm>
          <a:prstGeom prst="rect">
            <a:avLst/>
          </a:prstGeom>
          <a:noFill/>
        </p:spPr>
        <p:txBody>
          <a:bodyPr wrap="square" lIns="0" tIns="0" rIns="0" bIns="0" rtlCol="0" anchor="ctr"/>
          <a:lstStyle/>
          <a:p>
            <a:pPr marL="0" indent="0">
              <a:buNone/>
            </a:pPr>
            <a:r>
              <a:rPr lang="en-US" sz="1400" b="1" dirty="0">
                <a:solidFill>
                  <a:schemeClr val="tx1"/>
                </a:solidFill>
              </a:rPr>
              <a:t>OpenDOSM employment</a:t>
            </a:r>
            <a:endParaRPr lang="en-US" sz="1400" dirty="0"/>
          </a:p>
        </p:txBody>
      </p:sp>
      <p:sp>
        <p:nvSpPr>
          <p:cNvPr id="24" name="Text 18"/>
          <p:cNvSpPr txBox="1"/>
          <p:nvPr/>
        </p:nvSpPr>
        <p:spPr>
          <a:xfrm>
            <a:off x="5577840" y="3447288"/>
            <a:ext cx="4846320" cy="246888"/>
          </a:xfrm>
          <a:prstGeom prst="rect">
            <a:avLst/>
          </a:prstGeom>
          <a:noFill/>
        </p:spPr>
        <p:txBody>
          <a:bodyPr wrap="square" lIns="0" tIns="0" rIns="0" bIns="0" rtlCol="0" anchor="ctr"/>
          <a:lstStyle/>
          <a:p>
            <a:pPr marL="0" indent="0">
              <a:buNone/>
            </a:pPr>
            <a:r>
              <a:rPr lang="en-US" sz="1200" dirty="0">
                <a:solidFill>
                  <a:schemeClr val="tx2"/>
                </a:solidFill>
              </a:rPr>
              <a:t>Growth of the role's occupation group in Malaysia</a:t>
            </a:r>
            <a:endParaRPr lang="en-US" sz="1200" dirty="0"/>
          </a:p>
        </p:txBody>
      </p:sp>
      <p:sp>
        <p:nvSpPr>
          <p:cNvPr id="25" name="±10 pill"/>
          <p:cNvSpPr/>
          <p:nvPr/>
        </p:nvSpPr>
        <p:spPr>
          <a:xfrm>
            <a:off x="10725912" y="3291840"/>
            <a:ext cx="731520" cy="329184"/>
          </a:xfrm>
          <a:prstGeom prst="roundRect">
            <a:avLst>
              <a:gd name="adj" fmla="val 50000"/>
            </a:avLst>
          </a:prstGeom>
          <a:solidFill>
            <a:schemeClr val="accent5"/>
          </a:solidFill>
        </p:spPr>
        <p:txBody>
          <a:bodyPr/>
          <a:p/>
        </p:txBody>
      </p:sp>
      <p:sp>
        <p:nvSpPr>
          <p:cNvPr id="26" name="Text 20"/>
          <p:cNvSpPr txBox="1"/>
          <p:nvPr/>
        </p:nvSpPr>
        <p:spPr>
          <a:xfrm>
            <a:off x="10725912" y="3291840"/>
            <a:ext cx="731520" cy="329184"/>
          </a:xfrm>
          <a:prstGeom prst="rect">
            <a:avLst/>
          </a:prstGeom>
          <a:noFill/>
        </p:spPr>
        <p:txBody>
          <a:bodyPr wrap="square" lIns="0" tIns="0" rIns="0" bIns="0" rtlCol="0" anchor="ctr"/>
          <a:lstStyle/>
          <a:p>
            <a:pPr marL="0" indent="0" algn="ctr">
              <a:buNone/>
            </a:pPr>
            <a:r>
              <a:rPr lang="en-US" sz="1100" b="1" dirty="0">
                <a:solidFill>
                  <a:schemeClr val="accent1"/>
                </a:solidFill>
              </a:rPr>
              <a:t>±10</a:t>
            </a:r>
            <a:endParaRPr lang="en-US" sz="1100" dirty="0"/>
          </a:p>
        </p:txBody>
      </p:sp>
      <p:pic>
        <p:nvPicPr>
          <p:cNvPr id="27" name="LuFlaskConical icon" descr="preencoded.png"/>
          <p:cNvPicPr>
            <a:picLocks noChangeAspect="1"/>
          </p:cNvPicPr>
          <p:nvPr/>
        </p:nvPicPr>
        <p:blipFill>
          <a:blip r:embed="rId5"/>
          <a:stretch>
            <a:fillRect/>
          </a:stretch>
        </p:blipFill>
        <p:spPr>
          <a:xfrm>
            <a:off x="5120640" y="3822192"/>
            <a:ext cx="310896" cy="310896"/>
          </a:xfrm>
          <a:prstGeom prst="rect">
            <a:avLst/>
          </a:prstGeom>
        </p:spPr>
      </p:pic>
      <p:sp>
        <p:nvSpPr>
          <p:cNvPr id="28" name="Text 21"/>
          <p:cNvSpPr txBox="1"/>
          <p:nvPr/>
        </p:nvSpPr>
        <p:spPr>
          <a:xfrm>
            <a:off x="5577840" y="3749040"/>
            <a:ext cx="4754880" cy="256032"/>
          </a:xfrm>
          <a:prstGeom prst="rect">
            <a:avLst/>
          </a:prstGeom>
          <a:noFill/>
        </p:spPr>
        <p:txBody>
          <a:bodyPr wrap="square" lIns="0" tIns="0" rIns="0" bIns="0" rtlCol="0" anchor="ctr"/>
          <a:lstStyle/>
          <a:p>
            <a:pPr marL="0" indent="0">
              <a:buNone/>
            </a:pPr>
            <a:r>
              <a:rPr lang="en-US" sz="1400" b="1" dirty="0">
                <a:solidFill>
                  <a:schemeClr val="tx1"/>
                </a:solidFill>
              </a:rPr>
              <a:t>arXiv / OpenAlex research</a:t>
            </a:r>
            <a:endParaRPr lang="en-US" sz="1400" dirty="0"/>
          </a:p>
        </p:txBody>
      </p:sp>
      <p:sp>
        <p:nvSpPr>
          <p:cNvPr id="29" name="Text 22"/>
          <p:cNvSpPr txBox="1"/>
          <p:nvPr/>
        </p:nvSpPr>
        <p:spPr>
          <a:xfrm>
            <a:off x="5577840" y="3995928"/>
            <a:ext cx="4846320" cy="246888"/>
          </a:xfrm>
          <a:prstGeom prst="rect">
            <a:avLst/>
          </a:prstGeom>
          <a:noFill/>
        </p:spPr>
        <p:txBody>
          <a:bodyPr wrap="square" lIns="0" tIns="0" rIns="0" bIns="0" rtlCol="0" anchor="ctr"/>
          <a:lstStyle/>
          <a:p>
            <a:pPr marL="0" indent="0">
              <a:buNone/>
            </a:pPr>
            <a:r>
              <a:rPr lang="en-US" sz="1200" dirty="0">
                <a:solidFill>
                  <a:schemeClr val="tx2"/>
                </a:solidFill>
              </a:rPr>
              <a:t>Momentum of AI capabilities that help or replace it</a:t>
            </a:r>
            <a:endParaRPr lang="en-US" sz="1200" dirty="0"/>
          </a:p>
        </p:txBody>
      </p:sp>
      <p:sp>
        <p:nvSpPr>
          <p:cNvPr id="30" name="±15 pill"/>
          <p:cNvSpPr/>
          <p:nvPr/>
        </p:nvSpPr>
        <p:spPr>
          <a:xfrm>
            <a:off x="10725912" y="3840480"/>
            <a:ext cx="731520" cy="329184"/>
          </a:xfrm>
          <a:prstGeom prst="roundRect">
            <a:avLst>
              <a:gd name="adj" fmla="val 50000"/>
            </a:avLst>
          </a:prstGeom>
          <a:solidFill>
            <a:schemeClr val="accent5"/>
          </a:solidFill>
        </p:spPr>
        <p:txBody>
          <a:bodyPr/>
          <a:p/>
        </p:txBody>
      </p:sp>
      <p:sp>
        <p:nvSpPr>
          <p:cNvPr id="31" name="Text 24"/>
          <p:cNvSpPr txBox="1"/>
          <p:nvPr/>
        </p:nvSpPr>
        <p:spPr>
          <a:xfrm>
            <a:off x="10725912" y="3840480"/>
            <a:ext cx="731520" cy="329184"/>
          </a:xfrm>
          <a:prstGeom prst="rect">
            <a:avLst/>
          </a:prstGeom>
          <a:noFill/>
        </p:spPr>
        <p:txBody>
          <a:bodyPr wrap="square" lIns="0" tIns="0" rIns="0" bIns="0" rtlCol="0" anchor="ctr"/>
          <a:lstStyle/>
          <a:p>
            <a:pPr marL="0" indent="0" algn="ctr">
              <a:buNone/>
            </a:pPr>
            <a:r>
              <a:rPr lang="en-US" sz="1100" b="1" dirty="0">
                <a:solidFill>
                  <a:schemeClr val="accent1"/>
                </a:solidFill>
              </a:rPr>
              <a:t>±15</a:t>
            </a:r>
            <a:endParaRPr lang="en-US" sz="1100" dirty="0"/>
          </a:p>
        </p:txBody>
      </p:sp>
      <p:pic>
        <p:nvPicPr>
          <p:cNvPr id="32" name="LuSlidersHorizontal icon" descr="preencoded.png"/>
          <p:cNvPicPr>
            <a:picLocks noChangeAspect="1"/>
          </p:cNvPicPr>
          <p:nvPr/>
        </p:nvPicPr>
        <p:blipFill>
          <a:blip r:embed="rId6"/>
          <a:stretch>
            <a:fillRect/>
          </a:stretch>
        </p:blipFill>
        <p:spPr>
          <a:xfrm>
            <a:off x="5120640" y="4370832"/>
            <a:ext cx="310896" cy="310896"/>
          </a:xfrm>
          <a:prstGeom prst="rect">
            <a:avLst/>
          </a:prstGeom>
        </p:spPr>
      </p:pic>
      <p:sp>
        <p:nvSpPr>
          <p:cNvPr id="33" name="Text 25"/>
          <p:cNvSpPr txBox="1"/>
          <p:nvPr/>
        </p:nvSpPr>
        <p:spPr>
          <a:xfrm>
            <a:off x="5577840" y="4297680"/>
            <a:ext cx="4754880" cy="256032"/>
          </a:xfrm>
          <a:prstGeom prst="rect">
            <a:avLst/>
          </a:prstGeom>
          <a:noFill/>
        </p:spPr>
        <p:txBody>
          <a:bodyPr wrap="square" lIns="0" tIns="0" rIns="0" bIns="0" rtlCol="0" anchor="ctr"/>
          <a:lstStyle/>
          <a:p>
            <a:pPr marL="0" indent="0">
              <a:buNone/>
            </a:pPr>
            <a:r>
              <a:rPr lang="en-US" sz="1400" b="1" dirty="0">
                <a:solidFill>
                  <a:schemeClr val="tx1"/>
                </a:solidFill>
              </a:rPr>
              <a:t>AI adoption scenario</a:t>
            </a:r>
            <a:endParaRPr lang="en-US" sz="1400" dirty="0"/>
          </a:p>
        </p:txBody>
      </p:sp>
      <p:sp>
        <p:nvSpPr>
          <p:cNvPr id="34" name="Text 26"/>
          <p:cNvSpPr txBox="1"/>
          <p:nvPr/>
        </p:nvSpPr>
        <p:spPr>
          <a:xfrm>
            <a:off x="5577840" y="4544568"/>
            <a:ext cx="4846320" cy="246888"/>
          </a:xfrm>
          <a:prstGeom prst="rect">
            <a:avLst/>
          </a:prstGeom>
          <a:noFill/>
        </p:spPr>
        <p:txBody>
          <a:bodyPr wrap="square" lIns="0" tIns="0" rIns="0" bIns="0" rtlCol="0" anchor="ctr"/>
          <a:lstStyle/>
          <a:p>
            <a:pPr marL="0" indent="0">
              <a:buNone/>
            </a:pPr>
            <a:r>
              <a:rPr lang="en-US" sz="1200" dirty="0">
                <a:solidFill>
                  <a:schemeClr val="tx2"/>
                </a:solidFill>
              </a:rPr>
              <a:t>Slow, baseline, fast, or any speed from 0.5× to 2×</a:t>
            </a:r>
            <a:endParaRPr lang="en-US" sz="1200" dirty="0"/>
          </a:p>
        </p:txBody>
      </p:sp>
      <p:sp>
        <p:nvSpPr>
          <p:cNvPr id="35" name="0.5–2× pill"/>
          <p:cNvSpPr/>
          <p:nvPr/>
        </p:nvSpPr>
        <p:spPr>
          <a:xfrm>
            <a:off x="10725912" y="4389120"/>
            <a:ext cx="731520" cy="329184"/>
          </a:xfrm>
          <a:prstGeom prst="roundRect">
            <a:avLst>
              <a:gd name="adj" fmla="val 50000"/>
            </a:avLst>
          </a:prstGeom>
          <a:solidFill>
            <a:schemeClr val="accent5"/>
          </a:solidFill>
        </p:spPr>
        <p:txBody>
          <a:bodyPr/>
          <a:p/>
        </p:txBody>
      </p:sp>
      <p:sp>
        <p:nvSpPr>
          <p:cNvPr id="36" name="Text 28"/>
          <p:cNvSpPr txBox="1"/>
          <p:nvPr/>
        </p:nvSpPr>
        <p:spPr>
          <a:xfrm>
            <a:off x="10725912" y="4389120"/>
            <a:ext cx="731520" cy="329184"/>
          </a:xfrm>
          <a:prstGeom prst="rect">
            <a:avLst/>
          </a:prstGeom>
          <a:noFill/>
        </p:spPr>
        <p:txBody>
          <a:bodyPr wrap="square" lIns="0" tIns="0" rIns="0" bIns="0" rtlCol="0" anchor="ctr"/>
          <a:lstStyle/>
          <a:p>
            <a:pPr marL="0" indent="0" algn="ctr">
              <a:buNone/>
            </a:pPr>
            <a:r>
              <a:rPr lang="en-US" sz="1100" b="1" dirty="0">
                <a:solidFill>
                  <a:schemeClr val="accent1"/>
                </a:solidFill>
              </a:rPr>
              <a:t>0.5–2×</a:t>
            </a:r>
            <a:endParaRPr lang="en-US" sz="1100" dirty="0"/>
          </a:p>
        </p:txBody>
      </p:sp>
      <p:sp>
        <p:nvSpPr>
          <p:cNvPr id="37" name="Score band"/>
          <p:cNvSpPr/>
          <p:nvPr/>
        </p:nvSpPr>
        <p:spPr>
          <a:xfrm>
            <a:off x="5120640" y="4919472"/>
            <a:ext cx="6336792" cy="749808"/>
          </a:xfrm>
          <a:prstGeom prst="roundRect">
            <a:avLst>
              <a:gd name="adj" fmla="val 12195"/>
            </a:avLst>
          </a:prstGeom>
          <a:solidFill>
            <a:schemeClr val="accent4"/>
          </a:solidFill>
        </p:spPr>
        <p:txBody>
          <a:bodyPr/>
          <a:p/>
        </p:txBody>
      </p:sp>
      <p:sp>
        <p:nvSpPr>
          <p:cNvPr id="38" name="Text 30"/>
          <p:cNvSpPr txBox="1"/>
          <p:nvPr/>
        </p:nvSpPr>
        <p:spPr>
          <a:xfrm>
            <a:off x="5349240" y="4965192"/>
            <a:ext cx="5943600" cy="365760"/>
          </a:xfrm>
          <a:prstGeom prst="rect">
            <a:avLst/>
          </a:prstGeom>
          <a:noFill/>
        </p:spPr>
        <p:txBody>
          <a:bodyPr wrap="square" lIns="0" tIns="0" rIns="0" bIns="0" rtlCol="0" anchor="ctr"/>
          <a:lstStyle/>
          <a:p>
            <a:pPr marL="0" indent="0">
              <a:buNone/>
            </a:pPr>
            <a:r>
              <a:rPr lang="en-US" sz="1800" dirty="0">
                <a:solidFill>
                  <a:srgbClr val="C9D6D3"/>
                </a:solidFill>
              </a:rPr>
              <a:t>Rank = </a:t>
            </a:r>
            <a:r>
              <a:rPr lang="en-US" sz="1800" b="1" dirty="0">
                <a:solidFill>
                  <a:srgbClr val="D9971F"/>
                </a:solidFill>
              </a:rPr>
              <a:t>60% skill fit + 40% outlook</a:t>
            </a:r>
            <a:endParaRPr lang="en-US" sz="1800" dirty="0"/>
          </a:p>
        </p:txBody>
      </p:sp>
      <p:sp>
        <p:nvSpPr>
          <p:cNvPr id="39" name="Text 31"/>
          <p:cNvSpPr txBox="1"/>
          <p:nvPr/>
        </p:nvSpPr>
        <p:spPr>
          <a:xfrm>
            <a:off x="5349240" y="5303520"/>
            <a:ext cx="5943600" cy="320040"/>
          </a:xfrm>
          <a:prstGeom prst="rect">
            <a:avLst/>
          </a:prstGeom>
          <a:noFill/>
        </p:spPr>
        <p:txBody>
          <a:bodyPr wrap="square" lIns="0" tIns="0" rIns="0" bIns="0" rtlCol="0" anchor="ctr"/>
          <a:lstStyle/>
          <a:p>
            <a:pPr marL="0" indent="0">
              <a:buNone/>
            </a:pPr>
            <a:r>
              <a:rPr lang="en-US" sz="1200" dirty="0">
                <a:solidFill>
                  <a:srgbClr val="C9D6D3"/>
                </a:solidFill>
              </a:rPr>
              <a:t>80% ranges · backtest published · declining roles rank last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2514600" cy="329184"/>
          </a:xfrm>
          <a:prstGeom prst="rect">
            <a:avLst/>
          </a:prstGeom>
          <a:noFill/>
        </p:spPr>
        <p:txBody>
          <a:bodyPr wrap="square" lIns="0" tIns="0" rIns="0" bIns="0" rtlCol="0" anchor="ctr"/>
          <a:lstStyle/>
          <a:p>
            <a:pPr marL="0" indent="0">
              <a:buNone/>
            </a:pPr>
            <a:r>
              <a:rPr lang="en-US" sz="1300" b="1" kern="0" spc="150" dirty="0">
                <a:solidFill>
                  <a:schemeClr val="accent1"/>
                </a:solidFill>
              </a:rPr>
              <a:t>SYSTEM ARCHITECTURE</a:t>
            </a:r>
            <a:endParaRPr lang="en-US" sz="1300" dirty="0"/>
          </a:p>
        </p:txBody>
      </p:sp>
      <p:sp>
        <p:nvSpPr>
          <p:cNvPr id="3" name="Feasibility of Build · 25% pill"/>
          <p:cNvSpPr/>
          <p:nvPr/>
        </p:nvSpPr>
        <p:spPr>
          <a:xfrm>
            <a:off x="3337560" y="457200"/>
            <a:ext cx="2560320" cy="329184"/>
          </a:xfrm>
          <a:prstGeom prst="roundRect">
            <a:avLst>
              <a:gd name="adj" fmla="val 50000"/>
            </a:avLst>
          </a:prstGeom>
          <a:solidFill>
            <a:schemeClr val="accent5"/>
          </a:solidFill>
        </p:spPr>
        <p:txBody>
          <a:bodyPr/>
          <a:p/>
        </p:txBody>
      </p:sp>
      <p:sp>
        <p:nvSpPr>
          <p:cNvPr id="4" name="Text 2"/>
          <p:cNvSpPr txBox="1"/>
          <p:nvPr/>
        </p:nvSpPr>
        <p:spPr>
          <a:xfrm>
            <a:off x="3337560" y="457200"/>
            <a:ext cx="2560320" cy="329184"/>
          </a:xfrm>
          <a:prstGeom prst="rect">
            <a:avLst/>
          </a:prstGeom>
          <a:noFill/>
        </p:spPr>
        <p:txBody>
          <a:bodyPr wrap="square" lIns="0" tIns="0" rIns="0" bIns="0" rtlCol="0" anchor="ctr"/>
          <a:lstStyle/>
          <a:p>
            <a:pPr marL="0" indent="0" algn="ctr">
              <a:buNone/>
            </a:pPr>
            <a:r>
              <a:rPr lang="en-US" sz="1200" b="1" dirty="0">
                <a:solidFill>
                  <a:schemeClr val="accent1"/>
                </a:solidFill>
              </a:rPr>
              <a:t>Feasibility of Build · 25%</a:t>
            </a:r>
            <a:endParaRPr lang="en-US" sz="1200" dirty="0"/>
          </a:p>
        </p:txBody>
      </p:sp>
      <p:sp>
        <p:nvSpPr>
          <p:cNvPr id="5" name="Deployed · laluan-psi.vercel.app pill"/>
          <p:cNvSpPr/>
          <p:nvPr/>
        </p:nvSpPr>
        <p:spPr>
          <a:xfrm>
            <a:off x="8531352" y="457200"/>
            <a:ext cx="2926080" cy="329184"/>
          </a:xfrm>
          <a:prstGeom prst="roundRect">
            <a:avLst>
              <a:gd name="adj" fmla="val 50000"/>
            </a:avLst>
          </a:prstGeom>
          <a:solidFill>
            <a:srgbClr val="EFEDE8"/>
          </a:solidFill>
        </p:spPr>
        <p:txBody>
          <a:bodyPr/>
          <a:p/>
        </p:txBody>
      </p:sp>
      <p:sp>
        <p:nvSpPr>
          <p:cNvPr id="6" name="Text 4"/>
          <p:cNvSpPr txBox="1"/>
          <p:nvPr/>
        </p:nvSpPr>
        <p:spPr>
          <a:xfrm>
            <a:off x="8531352" y="457200"/>
            <a:ext cx="2926080" cy="329184"/>
          </a:xfrm>
          <a:prstGeom prst="rect">
            <a:avLst/>
          </a:prstGeom>
          <a:noFill/>
        </p:spPr>
        <p:txBody>
          <a:bodyPr wrap="square" lIns="0" tIns="0" rIns="0" bIns="0" rtlCol="0" anchor="ctr"/>
          <a:lstStyle/>
          <a:p>
            <a:pPr marL="0" indent="0" algn="ctr">
              <a:buNone/>
            </a:pPr>
            <a:r>
              <a:rPr lang="en-US" sz="1200" dirty="0">
                <a:solidFill>
                  <a:schemeClr val="tx2"/>
                </a:solidFill>
              </a:rPr>
              <a:t>Deployed · laluan-psi.vercel.app</a:t>
            </a:r>
            <a:endParaRPr lang="en-US" sz="1200" dirty="0"/>
          </a:p>
        </p:txBody>
      </p:sp>
      <p:sp>
        <p:nvSpPr>
          <p:cNvPr id="7" name="Text 5"/>
          <p:cNvSpPr txBox="1"/>
          <p:nvPr/>
        </p:nvSpPr>
        <p:spPr>
          <a:xfrm>
            <a:off x="10543032" y="6309360"/>
            <a:ext cx="914400" cy="256032"/>
          </a:xfrm>
          <a:prstGeom prst="rect">
            <a:avLst/>
          </a:prstGeom>
          <a:noFill/>
        </p:spPr>
        <p:txBody>
          <a:bodyPr wrap="square" lIns="0" tIns="0" rIns="0" bIns="0" rtlCol="0" anchor="ctr"/>
          <a:lstStyle/>
          <a:p>
            <a:pPr marL="0" indent="0" algn="r">
              <a:buNone/>
            </a:pPr>
            <a:r>
              <a:rPr lang="en-US" sz="1200" dirty="0">
                <a:solidFill>
                  <a:schemeClr val="tx2"/>
                </a:solidFill>
              </a:rPr>
              <a:t>13 / 17</a:t>
            </a:r>
            <a:endParaRPr lang="en-US" sz="1200" dirty="0"/>
          </a:p>
        </p:txBody>
      </p:sp>
      <p:sp>
        <p:nvSpPr>
          <p:cNvPr id="8" name="Text 1"/>
          <p:cNvSpPr/>
          <p:nvPr>
            <p:ph type="title" idx="102" hasCustomPrompt="1"/>
          </p:nvPr>
        </p:nvSpPr>
        <p:spPr>
          <a:xfrm>
            <a:off x="731520" y="896112"/>
            <a:ext cx="10725912" cy="685800"/>
          </a:xfrm>
          <a:prstGeom prst="rect">
            <a:avLst/>
          </a:prstGeom>
          <a:noFill/>
        </p:spPr>
        <p:txBody>
          <a:bodyPr wrap="square" lIns="0" tIns="0" rIns="0" bIns="0" rtlCol="0" anchor="t"/>
          <a:lstStyle/>
          <a:p>
            <a:pPr marL="0" indent="0" algn="l">
              <a:buNone/>
            </a:pPr>
            <a:r>
              <a:rPr lang="en-US" sz="3200" b="1" dirty="0">
                <a:solidFill>
                  <a:schemeClr val="tx1"/>
                </a:solidFill>
              </a:rPr>
              <a:t>Four tiers, one approval gate.</a:t>
            </a:r>
            <a:endParaRPr lang="en-US" sz="3200" dirty="0"/>
          </a:p>
        </p:txBody>
      </p:sp>
      <p:sp>
        <p:nvSpPr>
          <p:cNvPr id="9" name="Text 7"/>
          <p:cNvSpPr txBox="1"/>
          <p:nvPr/>
        </p:nvSpPr>
        <p:spPr>
          <a:xfrm>
            <a:off x="731520" y="1737360"/>
            <a:ext cx="1737360" cy="274320"/>
          </a:xfrm>
          <a:prstGeom prst="rect">
            <a:avLst/>
          </a:prstGeom>
          <a:noFill/>
        </p:spPr>
        <p:txBody>
          <a:bodyPr wrap="square" lIns="0" tIns="0" rIns="0" bIns="0" rtlCol="0" anchor="ctr"/>
          <a:lstStyle/>
          <a:p>
            <a:pPr marL="0" indent="0">
              <a:buNone/>
            </a:pPr>
            <a:r>
              <a:rPr lang="en-US" sz="1100" b="1" kern="0" spc="120" dirty="0">
                <a:solidFill>
                  <a:schemeClr val="accent1"/>
                </a:solidFill>
              </a:rPr>
              <a:t>USERS</a:t>
            </a:r>
            <a:endParaRPr lang="en-US" sz="1100" dirty="0"/>
          </a:p>
        </p:txBody>
      </p:sp>
      <p:sp>
        <p:nvSpPr>
          <p:cNvPr id="10" name="Worker or student node"/>
          <p:cNvSpPr/>
          <p:nvPr/>
        </p:nvSpPr>
        <p:spPr>
          <a:xfrm>
            <a:off x="731520" y="2103120"/>
            <a:ext cx="1737360" cy="411480"/>
          </a:xfrm>
          <a:prstGeom prst="roundRect">
            <a:avLst>
              <a:gd name="adj" fmla="val 17778"/>
            </a:avLst>
          </a:prstGeom>
          <a:solidFill>
            <a:schemeClr val="bg1"/>
          </a:solidFill>
          <a:ln w="9525">
            <a:solidFill>
              <a:srgbClr val="E3DFD6"/>
            </a:solidFill>
            <a:prstDash val="solid"/>
          </a:ln>
        </p:spPr>
        <p:txBody>
          <a:bodyPr/>
          <a:p/>
        </p:txBody>
      </p:sp>
      <p:sp>
        <p:nvSpPr>
          <p:cNvPr id="11" name="Text 9"/>
          <p:cNvSpPr txBox="1"/>
          <p:nvPr/>
        </p:nvSpPr>
        <p:spPr>
          <a:xfrm>
            <a:off x="822960" y="2103120"/>
            <a:ext cx="1554480" cy="411480"/>
          </a:xfrm>
          <a:prstGeom prst="rect">
            <a:avLst/>
          </a:prstGeom>
          <a:noFill/>
        </p:spPr>
        <p:txBody>
          <a:bodyPr wrap="square" lIns="0" tIns="0" rIns="0" bIns="0" rtlCol="0" anchor="ctr"/>
          <a:lstStyle/>
          <a:p>
            <a:pPr marL="0" indent="0" algn="ctr">
              <a:buNone/>
            </a:pPr>
            <a:r>
              <a:rPr lang="en-US" sz="1100" b="1" dirty="0">
                <a:solidFill>
                  <a:schemeClr val="tx1"/>
                </a:solidFill>
              </a:rPr>
              <a:t>Worker or student</a:t>
            </a:r>
            <a:endParaRPr lang="en-US" sz="1100" dirty="0"/>
          </a:p>
        </p:txBody>
      </p:sp>
      <p:sp>
        <p:nvSpPr>
          <p:cNvPr id="12" name="HR / L&amp;D team node"/>
          <p:cNvSpPr/>
          <p:nvPr/>
        </p:nvSpPr>
        <p:spPr>
          <a:xfrm>
            <a:off x="731520" y="2606040"/>
            <a:ext cx="1737360" cy="411480"/>
          </a:xfrm>
          <a:prstGeom prst="roundRect">
            <a:avLst>
              <a:gd name="adj" fmla="val 17778"/>
            </a:avLst>
          </a:prstGeom>
          <a:solidFill>
            <a:schemeClr val="bg1"/>
          </a:solidFill>
          <a:ln w="9525">
            <a:solidFill>
              <a:srgbClr val="E3DFD6"/>
            </a:solidFill>
            <a:prstDash val="solid"/>
          </a:ln>
        </p:spPr>
        <p:txBody>
          <a:bodyPr/>
          <a:p/>
        </p:txBody>
      </p:sp>
      <p:sp>
        <p:nvSpPr>
          <p:cNvPr id="13" name="Text 11"/>
          <p:cNvSpPr txBox="1"/>
          <p:nvPr/>
        </p:nvSpPr>
        <p:spPr>
          <a:xfrm>
            <a:off x="822960" y="2606040"/>
            <a:ext cx="1554480" cy="411480"/>
          </a:xfrm>
          <a:prstGeom prst="rect">
            <a:avLst/>
          </a:prstGeom>
          <a:noFill/>
        </p:spPr>
        <p:txBody>
          <a:bodyPr wrap="square" lIns="0" tIns="0" rIns="0" bIns="0" rtlCol="0" anchor="ctr"/>
          <a:lstStyle/>
          <a:p>
            <a:pPr marL="0" indent="0" algn="ctr">
              <a:buNone/>
            </a:pPr>
            <a:r>
              <a:rPr lang="en-US" sz="1100" b="1" dirty="0">
                <a:solidFill>
                  <a:schemeClr val="tx1"/>
                </a:solidFill>
              </a:rPr>
              <a:t>HR / L&amp;D team</a:t>
            </a:r>
            <a:endParaRPr lang="en-US" sz="1100" dirty="0"/>
          </a:p>
        </p:txBody>
      </p:sp>
      <p:sp>
        <p:nvSpPr>
          <p:cNvPr id="14" name="Career centre node"/>
          <p:cNvSpPr/>
          <p:nvPr/>
        </p:nvSpPr>
        <p:spPr>
          <a:xfrm>
            <a:off x="731520" y="3108960"/>
            <a:ext cx="1737360" cy="411480"/>
          </a:xfrm>
          <a:prstGeom prst="roundRect">
            <a:avLst>
              <a:gd name="adj" fmla="val 17778"/>
            </a:avLst>
          </a:prstGeom>
          <a:solidFill>
            <a:schemeClr val="bg1"/>
          </a:solidFill>
          <a:ln w="9525">
            <a:solidFill>
              <a:srgbClr val="E3DFD6"/>
            </a:solidFill>
            <a:prstDash val="solid"/>
          </a:ln>
        </p:spPr>
        <p:txBody>
          <a:bodyPr/>
          <a:p/>
        </p:txBody>
      </p:sp>
      <p:sp>
        <p:nvSpPr>
          <p:cNvPr id="15" name="Text 13"/>
          <p:cNvSpPr txBox="1"/>
          <p:nvPr/>
        </p:nvSpPr>
        <p:spPr>
          <a:xfrm>
            <a:off x="822960" y="3108960"/>
            <a:ext cx="1554480" cy="411480"/>
          </a:xfrm>
          <a:prstGeom prst="rect">
            <a:avLst/>
          </a:prstGeom>
          <a:noFill/>
        </p:spPr>
        <p:txBody>
          <a:bodyPr wrap="square" lIns="0" tIns="0" rIns="0" bIns="0" rtlCol="0" anchor="ctr"/>
          <a:lstStyle/>
          <a:p>
            <a:pPr marL="0" indent="0" algn="ctr">
              <a:buNone/>
            </a:pPr>
            <a:r>
              <a:rPr lang="en-US" sz="1100" b="1" dirty="0">
                <a:solidFill>
                  <a:schemeClr val="tx1"/>
                </a:solidFill>
              </a:rPr>
              <a:t>Career centre</a:t>
            </a:r>
            <a:endParaRPr lang="en-US" sz="1100" dirty="0"/>
          </a:p>
        </p:txBody>
      </p:sp>
      <p:sp>
        <p:nvSpPr>
          <p:cNvPr id="16" name="Admin reviewer node"/>
          <p:cNvSpPr/>
          <p:nvPr/>
        </p:nvSpPr>
        <p:spPr>
          <a:xfrm>
            <a:off x="731520" y="3611880"/>
            <a:ext cx="1737360" cy="411480"/>
          </a:xfrm>
          <a:prstGeom prst="roundRect">
            <a:avLst>
              <a:gd name="adj" fmla="val 17778"/>
            </a:avLst>
          </a:prstGeom>
          <a:solidFill>
            <a:schemeClr val="bg1"/>
          </a:solidFill>
          <a:ln w="9525">
            <a:solidFill>
              <a:srgbClr val="E3DFD6"/>
            </a:solidFill>
            <a:prstDash val="solid"/>
          </a:ln>
        </p:spPr>
        <p:txBody>
          <a:bodyPr/>
          <a:p/>
        </p:txBody>
      </p:sp>
      <p:sp>
        <p:nvSpPr>
          <p:cNvPr id="17" name="Text 15"/>
          <p:cNvSpPr txBox="1"/>
          <p:nvPr/>
        </p:nvSpPr>
        <p:spPr>
          <a:xfrm>
            <a:off x="822960" y="3611880"/>
            <a:ext cx="1554480" cy="411480"/>
          </a:xfrm>
          <a:prstGeom prst="rect">
            <a:avLst/>
          </a:prstGeom>
          <a:noFill/>
        </p:spPr>
        <p:txBody>
          <a:bodyPr wrap="square" lIns="0" tIns="0" rIns="0" bIns="0" rtlCol="0" anchor="ctr"/>
          <a:lstStyle/>
          <a:p>
            <a:pPr marL="0" indent="0" algn="ctr">
              <a:buNone/>
            </a:pPr>
            <a:r>
              <a:rPr lang="en-US" sz="1100" b="1" dirty="0">
                <a:solidFill>
                  <a:schemeClr val="tx1"/>
                </a:solidFill>
              </a:rPr>
              <a:t>Admin reviewer</a:t>
            </a:r>
            <a:endParaRPr lang="en-US" sz="1100" dirty="0"/>
          </a:p>
        </p:txBody>
      </p:sp>
      <p:sp>
        <p:nvSpPr>
          <p:cNvPr id="18" name="Flow arrow"/>
          <p:cNvSpPr/>
          <p:nvPr/>
        </p:nvSpPr>
        <p:spPr>
          <a:xfrm>
            <a:off x="2487168" y="3063240"/>
            <a:ext cx="283464" cy="0"/>
          </a:xfrm>
          <a:prstGeom prst="line">
            <a:avLst/>
          </a:prstGeom>
          <a:noFill/>
          <a:ln w="19050">
            <a:solidFill>
              <a:schemeClr val="accent1"/>
            </a:solidFill>
            <a:prstDash val="solid"/>
            <a:tailEnd type="triangle"/>
          </a:ln>
        </p:spPr>
        <p:txBody>
          <a:bodyPr/>
          <a:p/>
        </p:txBody>
      </p:sp>
      <p:sp>
        <p:nvSpPr>
          <p:cNvPr id="19" name="Text 17"/>
          <p:cNvSpPr txBox="1"/>
          <p:nvPr/>
        </p:nvSpPr>
        <p:spPr>
          <a:xfrm>
            <a:off x="2788920" y="1737360"/>
            <a:ext cx="2011680" cy="274320"/>
          </a:xfrm>
          <a:prstGeom prst="rect">
            <a:avLst/>
          </a:prstGeom>
          <a:noFill/>
        </p:spPr>
        <p:txBody>
          <a:bodyPr wrap="square" lIns="0" tIns="0" rIns="0" bIns="0" rtlCol="0" anchor="ctr"/>
          <a:lstStyle/>
          <a:p>
            <a:pPr marL="0" indent="0">
              <a:buNone/>
            </a:pPr>
            <a:r>
              <a:rPr lang="en-US" sz="1100" b="1" kern="0" spc="120" dirty="0">
                <a:solidFill>
                  <a:schemeClr val="accent1"/>
                </a:solidFill>
              </a:rPr>
              <a:t>WEB APP · VERCEL</a:t>
            </a:r>
            <a:endParaRPr lang="en-US" sz="1100" dirty="0"/>
          </a:p>
        </p:txBody>
      </p:sp>
      <p:sp>
        <p:nvSpPr>
          <p:cNvPr id="20" name="Web app node"/>
          <p:cNvSpPr/>
          <p:nvPr/>
        </p:nvSpPr>
        <p:spPr>
          <a:xfrm>
            <a:off x="2788920" y="2103120"/>
            <a:ext cx="2011680" cy="1920240"/>
          </a:xfrm>
          <a:prstGeom prst="roundRect">
            <a:avLst>
              <a:gd name="adj" fmla="val 3810"/>
            </a:avLst>
          </a:prstGeom>
          <a:solidFill>
            <a:schemeClr val="accent5"/>
          </a:solidFill>
        </p:spPr>
        <p:txBody>
          <a:bodyPr/>
          <a:p/>
        </p:txBody>
      </p:sp>
      <p:pic>
        <p:nvPicPr>
          <p:cNvPr id="21" name="LuMonitorSmartphone icon" descr="preencoded.png"/>
          <p:cNvPicPr>
            <a:picLocks noChangeAspect="1"/>
          </p:cNvPicPr>
          <p:nvPr/>
        </p:nvPicPr>
        <p:blipFill>
          <a:blip r:embed="rId1"/>
          <a:stretch>
            <a:fillRect/>
          </a:stretch>
        </p:blipFill>
        <p:spPr>
          <a:xfrm>
            <a:off x="2944368" y="2240280"/>
            <a:ext cx="310896" cy="310896"/>
          </a:xfrm>
          <a:prstGeom prst="rect">
            <a:avLst/>
          </a:prstGeom>
        </p:spPr>
      </p:pic>
      <p:sp>
        <p:nvSpPr>
          <p:cNvPr id="22" name="Text 19"/>
          <p:cNvSpPr txBox="1"/>
          <p:nvPr/>
        </p:nvSpPr>
        <p:spPr>
          <a:xfrm>
            <a:off x="2944368" y="2651760"/>
            <a:ext cx="1783080" cy="1325880"/>
          </a:xfrm>
          <a:prstGeom prst="rect">
            <a:avLst/>
          </a:prstGeom>
          <a:noFill/>
        </p:spPr>
        <p:txBody>
          <a:bodyPr wrap="square" lIns="0" tIns="0" rIns="0" bIns="0" rtlCol="0" anchor="t"/>
          <a:lstStyle/>
          <a:p>
            <a:pPr marL="0" indent="0">
              <a:spcAft>
                <a:spcPts val="300"/>
              </a:spcAft>
              <a:buNone/>
            </a:pPr>
            <a:r>
              <a:rPr lang="en-US" sz="1200" b="1" dirty="0">
                <a:solidFill>
                  <a:schemeClr val="tx1"/>
                </a:solidFill>
              </a:rPr>
              <a:t>React 18 + TypeScript</a:t>
            </a:r>
            <a:endParaRPr lang="en-US" sz="1200" dirty="0"/>
          </a:p>
          <a:p>
            <a:pPr marL="0" indent="0">
              <a:spcAft>
                <a:spcPts val="300"/>
              </a:spcAft>
              <a:buNone/>
            </a:pPr>
            <a:r>
              <a:rPr lang="en-US" sz="1000" dirty="0">
                <a:solidFill>
                  <a:schemeClr val="tx2"/>
                </a:solidFill>
              </a:rPr>
              <a:t>Vite build · installable</a:t>
            </a:r>
            <a:endParaRPr lang="en-US" sz="1200" dirty="0"/>
          </a:p>
          <a:p>
            <a:pPr marL="0" indent="0">
              <a:spcAft>
                <a:spcPts val="300"/>
              </a:spcAft>
              <a:buNone/>
            </a:pPr>
            <a:r>
              <a:rPr lang="en-US" sz="1000" dirty="0">
                <a:solidFill>
                  <a:schemeClr val="tx2"/>
                </a:solidFill>
              </a:rPr>
              <a:t>EN · BM · 中文</a:t>
            </a:r>
            <a:endParaRPr lang="en-US" sz="1200" dirty="0"/>
          </a:p>
          <a:p>
            <a:pPr marL="0" indent="0">
              <a:spcAft>
                <a:spcPts val="300"/>
              </a:spcAft>
              <a:buNone/>
            </a:pPr>
            <a:r>
              <a:rPr lang="en-US" sz="1000" dirty="0">
                <a:solidFill>
                  <a:schemeClr val="tx2"/>
                </a:solidFill>
              </a:rPr>
              <a:t>Google login (Supabase)</a:t>
            </a:r>
            <a:endParaRPr lang="en-US" sz="1200" dirty="0"/>
          </a:p>
          <a:p>
            <a:pPr marL="0" indent="0">
              <a:spcAft>
                <a:spcPts val="300"/>
              </a:spcAft>
              <a:buNone/>
            </a:pPr>
            <a:r>
              <a:rPr lang="en-US" sz="1000" dirty="0">
                <a:solidFill>
                  <a:schemeClr val="tx2"/>
                </a:solidFill>
              </a:rPr>
              <a:t>Strict CSP · Sentry</a:t>
            </a:r>
            <a:endParaRPr lang="en-US" sz="1200" dirty="0"/>
          </a:p>
        </p:txBody>
      </p:sp>
      <p:sp>
        <p:nvSpPr>
          <p:cNvPr id="23" name="Flow arrow"/>
          <p:cNvSpPr/>
          <p:nvPr/>
        </p:nvSpPr>
        <p:spPr>
          <a:xfrm>
            <a:off x="4818888" y="3063240"/>
            <a:ext cx="329184" cy="0"/>
          </a:xfrm>
          <a:prstGeom prst="line">
            <a:avLst/>
          </a:prstGeom>
          <a:noFill/>
          <a:ln w="19050">
            <a:solidFill>
              <a:schemeClr val="accent1"/>
            </a:solidFill>
            <a:prstDash val="solid"/>
            <a:tailEnd type="triangle"/>
          </a:ln>
        </p:spPr>
        <p:txBody>
          <a:bodyPr/>
          <a:p/>
        </p:txBody>
      </p:sp>
      <p:sp>
        <p:nvSpPr>
          <p:cNvPr id="24" name="Text 21"/>
          <p:cNvSpPr txBox="1"/>
          <p:nvPr/>
        </p:nvSpPr>
        <p:spPr>
          <a:xfrm>
            <a:off x="5166360" y="1737360"/>
            <a:ext cx="3291840" cy="274320"/>
          </a:xfrm>
          <a:prstGeom prst="rect">
            <a:avLst/>
          </a:prstGeom>
          <a:noFill/>
        </p:spPr>
        <p:txBody>
          <a:bodyPr wrap="square" lIns="0" tIns="0" rIns="0" bIns="0" rtlCol="0" anchor="ctr"/>
          <a:lstStyle/>
          <a:p>
            <a:pPr marL="0" indent="0">
              <a:buNone/>
            </a:pPr>
            <a:r>
              <a:rPr lang="en-US" sz="1100" b="1" kern="0" spc="120" dirty="0">
                <a:solidFill>
                  <a:schemeClr val="accent1"/>
                </a:solidFill>
              </a:rPr>
              <a:t>API · FASTAPI IN DOCKER ON RENDER</a:t>
            </a:r>
            <a:endParaRPr lang="en-US" sz="1100" dirty="0"/>
          </a:p>
        </p:txBody>
      </p:sp>
      <p:sp>
        <p:nvSpPr>
          <p:cNvPr id="25" name="API node"/>
          <p:cNvSpPr/>
          <p:nvPr/>
        </p:nvSpPr>
        <p:spPr>
          <a:xfrm>
            <a:off x="5166360" y="2103120"/>
            <a:ext cx="3291840" cy="1920240"/>
          </a:xfrm>
          <a:prstGeom prst="roundRect">
            <a:avLst>
              <a:gd name="adj" fmla="val 3810"/>
            </a:avLst>
          </a:prstGeom>
          <a:solidFill>
            <a:schemeClr val="bg1"/>
          </a:solidFill>
          <a:ln w="19050">
            <a:solidFill>
              <a:srgbClr val="0F6E6E"/>
            </a:solidFill>
            <a:prstDash val="solid"/>
          </a:ln>
        </p:spPr>
        <p:txBody>
          <a:bodyPr/>
          <a:p/>
        </p:txBody>
      </p:sp>
      <p:sp>
        <p:nvSpPr>
          <p:cNvPr id="26" name="Intake node"/>
          <p:cNvSpPr/>
          <p:nvPr/>
        </p:nvSpPr>
        <p:spPr>
          <a:xfrm>
            <a:off x="5303520" y="2221992"/>
            <a:ext cx="1463040" cy="502920"/>
          </a:xfrm>
          <a:prstGeom prst="roundRect">
            <a:avLst>
              <a:gd name="adj" fmla="val 14545"/>
            </a:avLst>
          </a:prstGeom>
          <a:solidFill>
            <a:schemeClr val="accent5"/>
          </a:solidFill>
        </p:spPr>
        <p:txBody>
          <a:bodyPr/>
          <a:p/>
        </p:txBody>
      </p:sp>
      <p:sp>
        <p:nvSpPr>
          <p:cNvPr id="27" name="Text 24"/>
          <p:cNvSpPr txBox="1"/>
          <p:nvPr/>
        </p:nvSpPr>
        <p:spPr>
          <a:xfrm>
            <a:off x="5394960" y="2221992"/>
            <a:ext cx="1280160" cy="502920"/>
          </a:xfrm>
          <a:prstGeom prst="rect">
            <a:avLst/>
          </a:prstGeom>
          <a:noFill/>
        </p:spPr>
        <p:txBody>
          <a:bodyPr wrap="square" lIns="0" tIns="0" rIns="0" bIns="0" rtlCol="0" anchor="ctr"/>
          <a:lstStyle/>
          <a:p>
            <a:pPr marL="0" indent="0" algn="l">
              <a:buNone/>
            </a:pPr>
            <a:r>
              <a:rPr lang="en-US" sz="1100" b="1" dirty="0">
                <a:solidFill>
                  <a:schemeClr val="tx1"/>
                </a:solidFill>
              </a:rPr>
              <a:t>Intake</a:t>
            </a:r>
            <a:endParaRPr lang="en-US" sz="1100" dirty="0"/>
          </a:p>
          <a:p>
            <a:pPr marL="0" indent="0" algn="l">
              <a:buNone/>
            </a:pPr>
            <a:r>
              <a:rPr lang="en-US" sz="900" dirty="0">
                <a:solidFill>
                  <a:schemeClr val="tx2"/>
                </a:solidFill>
              </a:rPr>
              <a:t>CV · OCR · PII scrubber</a:t>
            </a:r>
            <a:endParaRPr lang="en-US" sz="1100" dirty="0"/>
          </a:p>
        </p:txBody>
      </p:sp>
      <p:sp>
        <p:nvSpPr>
          <p:cNvPr id="28" name="Matching node"/>
          <p:cNvSpPr/>
          <p:nvPr/>
        </p:nvSpPr>
        <p:spPr>
          <a:xfrm>
            <a:off x="6839712" y="2221992"/>
            <a:ext cx="1463040" cy="502920"/>
          </a:xfrm>
          <a:prstGeom prst="roundRect">
            <a:avLst>
              <a:gd name="adj" fmla="val 14545"/>
            </a:avLst>
          </a:prstGeom>
          <a:solidFill>
            <a:schemeClr val="accent5"/>
          </a:solidFill>
        </p:spPr>
        <p:txBody>
          <a:bodyPr/>
          <a:p/>
        </p:txBody>
      </p:sp>
      <p:sp>
        <p:nvSpPr>
          <p:cNvPr id="29" name="Text 26"/>
          <p:cNvSpPr txBox="1"/>
          <p:nvPr/>
        </p:nvSpPr>
        <p:spPr>
          <a:xfrm>
            <a:off x="6931152" y="2221992"/>
            <a:ext cx="1280160" cy="502920"/>
          </a:xfrm>
          <a:prstGeom prst="rect">
            <a:avLst/>
          </a:prstGeom>
          <a:noFill/>
        </p:spPr>
        <p:txBody>
          <a:bodyPr wrap="square" lIns="0" tIns="0" rIns="0" bIns="0" rtlCol="0" anchor="ctr"/>
          <a:lstStyle/>
          <a:p>
            <a:pPr marL="0" indent="0" algn="l">
              <a:buNone/>
            </a:pPr>
            <a:r>
              <a:rPr lang="en-US" sz="1100" b="1" dirty="0">
                <a:solidFill>
                  <a:schemeClr val="tx1"/>
                </a:solidFill>
              </a:rPr>
              <a:t>Matching</a:t>
            </a:r>
            <a:endParaRPr lang="en-US" sz="1100" dirty="0"/>
          </a:p>
          <a:p>
            <a:pPr marL="0" indent="0" algn="l">
              <a:buNone/>
            </a:pPr>
            <a:r>
              <a:rPr lang="en-US" sz="900" dirty="0">
                <a:solidFill>
                  <a:schemeClr val="tx2"/>
                </a:solidFill>
              </a:rPr>
              <a:t>Rank · x-ray · tipping</a:t>
            </a:r>
            <a:endParaRPr lang="en-US" sz="1100" dirty="0"/>
          </a:p>
        </p:txBody>
      </p:sp>
      <p:sp>
        <p:nvSpPr>
          <p:cNvPr id="30" name="Pathway node"/>
          <p:cNvSpPr/>
          <p:nvPr/>
        </p:nvSpPr>
        <p:spPr>
          <a:xfrm>
            <a:off x="5303520" y="2798064"/>
            <a:ext cx="1463040" cy="502920"/>
          </a:xfrm>
          <a:prstGeom prst="roundRect">
            <a:avLst>
              <a:gd name="adj" fmla="val 14545"/>
            </a:avLst>
          </a:prstGeom>
          <a:solidFill>
            <a:schemeClr val="accent5"/>
          </a:solidFill>
        </p:spPr>
        <p:txBody>
          <a:bodyPr/>
          <a:p/>
        </p:txBody>
      </p:sp>
      <p:sp>
        <p:nvSpPr>
          <p:cNvPr id="31" name="Text 28"/>
          <p:cNvSpPr txBox="1"/>
          <p:nvPr/>
        </p:nvSpPr>
        <p:spPr>
          <a:xfrm>
            <a:off x="5394960" y="2798064"/>
            <a:ext cx="1280160" cy="502920"/>
          </a:xfrm>
          <a:prstGeom prst="rect">
            <a:avLst/>
          </a:prstGeom>
          <a:noFill/>
        </p:spPr>
        <p:txBody>
          <a:bodyPr wrap="square" lIns="0" tIns="0" rIns="0" bIns="0" rtlCol="0" anchor="ctr"/>
          <a:lstStyle/>
          <a:p>
            <a:pPr marL="0" indent="0" algn="l">
              <a:buNone/>
            </a:pPr>
            <a:r>
              <a:rPr lang="en-US" sz="1100" b="1" dirty="0">
                <a:solidFill>
                  <a:schemeClr val="tx1"/>
                </a:solidFill>
              </a:rPr>
              <a:t>Pathway</a:t>
            </a:r>
            <a:endParaRPr lang="en-US" sz="1100" dirty="0"/>
          </a:p>
          <a:p>
            <a:pPr marL="0" indent="0" algn="l">
              <a:buNone/>
            </a:pPr>
            <a:r>
              <a:rPr lang="en-US" sz="900" dirty="0">
                <a:solidFill>
                  <a:schemeClr val="tx2"/>
                </a:solidFill>
              </a:rPr>
              <a:t>Courses · grounding</a:t>
            </a:r>
            <a:endParaRPr lang="en-US" sz="1100" dirty="0"/>
          </a:p>
        </p:txBody>
      </p:sp>
      <p:sp>
        <p:nvSpPr>
          <p:cNvPr id="32" name="Coach &amp; interview node"/>
          <p:cNvSpPr/>
          <p:nvPr/>
        </p:nvSpPr>
        <p:spPr>
          <a:xfrm>
            <a:off x="6839712" y="2798064"/>
            <a:ext cx="1463040" cy="502920"/>
          </a:xfrm>
          <a:prstGeom prst="roundRect">
            <a:avLst>
              <a:gd name="adj" fmla="val 14545"/>
            </a:avLst>
          </a:prstGeom>
          <a:solidFill>
            <a:schemeClr val="accent5"/>
          </a:solidFill>
        </p:spPr>
        <p:txBody>
          <a:bodyPr/>
          <a:p/>
        </p:txBody>
      </p:sp>
      <p:sp>
        <p:nvSpPr>
          <p:cNvPr id="33" name="Text 30"/>
          <p:cNvSpPr txBox="1"/>
          <p:nvPr/>
        </p:nvSpPr>
        <p:spPr>
          <a:xfrm>
            <a:off x="6931152" y="2798064"/>
            <a:ext cx="1280160" cy="502920"/>
          </a:xfrm>
          <a:prstGeom prst="rect">
            <a:avLst/>
          </a:prstGeom>
          <a:noFill/>
        </p:spPr>
        <p:txBody>
          <a:bodyPr wrap="square" lIns="0" tIns="0" rIns="0" bIns="0" rtlCol="0" anchor="ctr"/>
          <a:lstStyle/>
          <a:p>
            <a:pPr marL="0" indent="0" algn="l">
              <a:buNone/>
            </a:pPr>
            <a:r>
              <a:rPr lang="en-US" sz="1100" b="1" dirty="0">
                <a:solidFill>
                  <a:schemeClr val="tx1"/>
                </a:solidFill>
              </a:rPr>
              <a:t>Coach &amp; interview</a:t>
            </a:r>
            <a:endParaRPr lang="en-US" sz="1100" dirty="0"/>
          </a:p>
          <a:p>
            <a:pPr marL="0" indent="0" algn="l">
              <a:buNone/>
            </a:pPr>
            <a:r>
              <a:rPr lang="en-US" sz="900" dirty="0">
                <a:solidFill>
                  <a:schemeClr val="tx2"/>
                </a:solidFill>
              </a:rPr>
              <a:t>Guardrails</a:t>
            </a:r>
            <a:endParaRPr lang="en-US" sz="1100" dirty="0"/>
          </a:p>
        </p:txBody>
      </p:sp>
      <p:sp>
        <p:nvSpPr>
          <p:cNvPr id="34" name="Workforce &amp; class node"/>
          <p:cNvSpPr/>
          <p:nvPr/>
        </p:nvSpPr>
        <p:spPr>
          <a:xfrm>
            <a:off x="5303520" y="3374136"/>
            <a:ext cx="1463040" cy="502920"/>
          </a:xfrm>
          <a:prstGeom prst="roundRect">
            <a:avLst>
              <a:gd name="adj" fmla="val 14545"/>
            </a:avLst>
          </a:prstGeom>
          <a:solidFill>
            <a:schemeClr val="accent5"/>
          </a:solidFill>
        </p:spPr>
        <p:txBody>
          <a:bodyPr/>
          <a:p/>
        </p:txBody>
      </p:sp>
      <p:sp>
        <p:nvSpPr>
          <p:cNvPr id="35" name="Text 32"/>
          <p:cNvSpPr txBox="1"/>
          <p:nvPr/>
        </p:nvSpPr>
        <p:spPr>
          <a:xfrm>
            <a:off x="5394960" y="3374136"/>
            <a:ext cx="1280160" cy="502920"/>
          </a:xfrm>
          <a:prstGeom prst="rect">
            <a:avLst/>
          </a:prstGeom>
          <a:noFill/>
        </p:spPr>
        <p:txBody>
          <a:bodyPr wrap="square" lIns="0" tIns="0" rIns="0" bIns="0" rtlCol="0" anchor="ctr"/>
          <a:lstStyle/>
          <a:p>
            <a:pPr marL="0" indent="0" algn="l">
              <a:buNone/>
            </a:pPr>
            <a:r>
              <a:rPr lang="en-US" sz="1100" b="1" dirty="0">
                <a:solidFill>
                  <a:schemeClr val="tx1"/>
                </a:solidFill>
              </a:rPr>
              <a:t>Workforce &amp; class</a:t>
            </a:r>
            <a:endParaRPr lang="en-US" sz="1100" dirty="0"/>
          </a:p>
          <a:p>
            <a:pPr marL="0" indent="0" algn="l">
              <a:buNone/>
            </a:pPr>
            <a:r>
              <a:rPr lang="en-US" sz="900" dirty="0">
                <a:solidFill>
                  <a:schemeClr val="tx2"/>
                </a:solidFill>
              </a:rPr>
              <a:t>Totals only</a:t>
            </a:r>
            <a:endParaRPr lang="en-US" sz="1100" dirty="0"/>
          </a:p>
        </p:txBody>
      </p:sp>
      <p:sp>
        <p:nvSpPr>
          <p:cNvPr id="36" name="Admin review node"/>
          <p:cNvSpPr/>
          <p:nvPr/>
        </p:nvSpPr>
        <p:spPr>
          <a:xfrm>
            <a:off x="6839712" y="3374136"/>
            <a:ext cx="1463040" cy="502920"/>
          </a:xfrm>
          <a:prstGeom prst="roundRect">
            <a:avLst>
              <a:gd name="adj" fmla="val 14545"/>
            </a:avLst>
          </a:prstGeom>
          <a:solidFill>
            <a:schemeClr val="accent5"/>
          </a:solidFill>
        </p:spPr>
        <p:txBody>
          <a:bodyPr/>
          <a:p/>
        </p:txBody>
      </p:sp>
      <p:sp>
        <p:nvSpPr>
          <p:cNvPr id="37" name="Text 34"/>
          <p:cNvSpPr txBox="1"/>
          <p:nvPr/>
        </p:nvSpPr>
        <p:spPr>
          <a:xfrm>
            <a:off x="6931152" y="3374136"/>
            <a:ext cx="1280160" cy="502920"/>
          </a:xfrm>
          <a:prstGeom prst="rect">
            <a:avLst/>
          </a:prstGeom>
          <a:noFill/>
        </p:spPr>
        <p:txBody>
          <a:bodyPr wrap="square" lIns="0" tIns="0" rIns="0" bIns="0" rtlCol="0" anchor="ctr"/>
          <a:lstStyle/>
          <a:p>
            <a:pPr marL="0" indent="0" algn="l">
              <a:buNone/>
            </a:pPr>
            <a:r>
              <a:rPr lang="en-US" sz="1100" b="1" dirty="0">
                <a:solidFill>
                  <a:schemeClr val="tx1"/>
                </a:solidFill>
              </a:rPr>
              <a:t>Admin review</a:t>
            </a:r>
            <a:endParaRPr lang="en-US" sz="1100" dirty="0"/>
          </a:p>
          <a:p>
            <a:pPr marL="0" indent="0" algn="l">
              <a:buNone/>
            </a:pPr>
            <a:r>
              <a:rPr lang="en-US" sz="900" dirty="0">
                <a:solidFill>
                  <a:schemeClr val="tx2"/>
                </a:solidFill>
              </a:rPr>
              <a:t>Approve / reject</a:t>
            </a:r>
            <a:endParaRPr lang="en-US" sz="1100" dirty="0"/>
          </a:p>
        </p:txBody>
      </p:sp>
      <p:sp>
        <p:nvSpPr>
          <p:cNvPr id="38" name="Flow arrow"/>
          <p:cNvSpPr/>
          <p:nvPr/>
        </p:nvSpPr>
        <p:spPr>
          <a:xfrm>
            <a:off x="8476488" y="3063240"/>
            <a:ext cx="329184" cy="0"/>
          </a:xfrm>
          <a:prstGeom prst="line">
            <a:avLst/>
          </a:prstGeom>
          <a:noFill/>
          <a:ln w="19050">
            <a:solidFill>
              <a:schemeClr val="accent1"/>
            </a:solidFill>
            <a:prstDash val="solid"/>
            <a:tailEnd type="triangle"/>
          </a:ln>
        </p:spPr>
        <p:txBody>
          <a:bodyPr/>
          <a:p/>
        </p:txBody>
      </p:sp>
      <p:sp>
        <p:nvSpPr>
          <p:cNvPr id="39" name="Text 36"/>
          <p:cNvSpPr txBox="1"/>
          <p:nvPr/>
        </p:nvSpPr>
        <p:spPr>
          <a:xfrm>
            <a:off x="8823960" y="1737360"/>
            <a:ext cx="2633472" cy="274320"/>
          </a:xfrm>
          <a:prstGeom prst="rect">
            <a:avLst/>
          </a:prstGeom>
          <a:noFill/>
        </p:spPr>
        <p:txBody>
          <a:bodyPr wrap="square" lIns="0" tIns="0" rIns="0" bIns="0" rtlCol="0" anchor="ctr"/>
          <a:lstStyle/>
          <a:p>
            <a:pPr marL="0" indent="0">
              <a:buNone/>
            </a:pPr>
            <a:r>
              <a:rPr lang="en-US" sz="1100" b="1" kern="0" spc="120" dirty="0">
                <a:solidFill>
                  <a:schemeClr val="accent1"/>
                </a:solidFill>
              </a:rPr>
              <a:t>DATA</a:t>
            </a:r>
            <a:endParaRPr lang="en-US" sz="1100" dirty="0"/>
          </a:p>
        </p:txBody>
      </p:sp>
      <p:sp>
        <p:nvSpPr>
          <p:cNvPr id="40" name="Supabase Postgres node"/>
          <p:cNvSpPr/>
          <p:nvPr/>
        </p:nvSpPr>
        <p:spPr>
          <a:xfrm>
            <a:off x="8823960" y="2103120"/>
            <a:ext cx="2633472" cy="914400"/>
          </a:xfrm>
          <a:prstGeom prst="roundRect">
            <a:avLst>
              <a:gd name="adj" fmla="val 8000"/>
            </a:avLst>
          </a:prstGeom>
          <a:solidFill>
            <a:schemeClr val="accent4"/>
          </a:solidFill>
        </p:spPr>
        <p:txBody>
          <a:bodyPr/>
          <a:p/>
        </p:txBody>
      </p:sp>
      <p:sp>
        <p:nvSpPr>
          <p:cNvPr id="41" name="Text 38"/>
          <p:cNvSpPr txBox="1"/>
          <p:nvPr/>
        </p:nvSpPr>
        <p:spPr>
          <a:xfrm>
            <a:off x="8915400" y="2103120"/>
            <a:ext cx="2450592" cy="914400"/>
          </a:xfrm>
          <a:prstGeom prst="rect">
            <a:avLst/>
          </a:prstGeom>
          <a:noFill/>
        </p:spPr>
        <p:txBody>
          <a:bodyPr wrap="square" lIns="0" tIns="0" rIns="0" bIns="0" rtlCol="0" anchor="ctr"/>
          <a:lstStyle/>
          <a:p>
            <a:pPr marL="0" indent="0" algn="l">
              <a:buNone/>
            </a:pPr>
            <a:r>
              <a:rPr lang="en-US" sz="1200" b="1" dirty="0">
                <a:solidFill>
                  <a:schemeClr val="bg1"/>
                </a:solidFill>
              </a:rPr>
              <a:t>Supabase Postgres</a:t>
            </a:r>
            <a:endParaRPr lang="en-US" sz="1200" dirty="0"/>
          </a:p>
          <a:p>
            <a:pPr marL="0" indent="0" algn="l">
              <a:buNone/>
            </a:pPr>
            <a:r>
              <a:rPr lang="en-US" sz="1000" dirty="0">
                <a:solidFill>
                  <a:srgbClr val="C9D6D3"/>
                </a:solidFill>
              </a:rPr>
              <a:t>Profiles · progress · trend snapshots · review decisions</a:t>
            </a:r>
            <a:endParaRPr lang="en-US" sz="1200" dirty="0"/>
          </a:p>
        </p:txBody>
      </p:sp>
      <p:sp>
        <p:nvSpPr>
          <p:cNvPr id="42" name="Reference data in git node"/>
          <p:cNvSpPr/>
          <p:nvPr/>
        </p:nvSpPr>
        <p:spPr>
          <a:xfrm>
            <a:off x="8823960" y="3108960"/>
            <a:ext cx="2633472" cy="914400"/>
          </a:xfrm>
          <a:prstGeom prst="roundRect">
            <a:avLst>
              <a:gd name="adj" fmla="val 8000"/>
            </a:avLst>
          </a:prstGeom>
          <a:solidFill>
            <a:schemeClr val="bg1"/>
          </a:solidFill>
          <a:ln w="9525">
            <a:solidFill>
              <a:srgbClr val="E3DFD6"/>
            </a:solidFill>
            <a:prstDash val="solid"/>
          </a:ln>
        </p:spPr>
        <p:txBody>
          <a:bodyPr/>
          <a:p/>
        </p:txBody>
      </p:sp>
      <p:sp>
        <p:nvSpPr>
          <p:cNvPr id="43" name="Text 40"/>
          <p:cNvSpPr txBox="1"/>
          <p:nvPr/>
        </p:nvSpPr>
        <p:spPr>
          <a:xfrm>
            <a:off x="8915400" y="3108960"/>
            <a:ext cx="2450592" cy="914400"/>
          </a:xfrm>
          <a:prstGeom prst="rect">
            <a:avLst/>
          </a:prstGeom>
          <a:noFill/>
        </p:spPr>
        <p:txBody>
          <a:bodyPr wrap="square" lIns="0" tIns="0" rIns="0" bIns="0" rtlCol="0" anchor="ctr"/>
          <a:lstStyle/>
          <a:p>
            <a:pPr marL="0" indent="0" algn="l">
              <a:buNone/>
            </a:pPr>
            <a:r>
              <a:rPr lang="en-US" sz="1200" b="1" dirty="0">
                <a:solidFill>
                  <a:schemeClr val="tx1"/>
                </a:solidFill>
              </a:rPr>
              <a:t>Reference data in git</a:t>
            </a:r>
            <a:endParaRPr lang="en-US" sz="1200" dirty="0"/>
          </a:p>
          <a:p>
            <a:pPr marL="0" indent="0" algn="l">
              <a:buNone/>
            </a:pPr>
            <a:r>
              <a:rPr lang="en-US" sz="1000" dirty="0">
                <a:solidFill>
                  <a:schemeClr val="tx2"/>
                </a:solidFill>
              </a:rPr>
              <a:t>23 roles · 38 courses · skills · SDG links · translations</a:t>
            </a:r>
            <a:endParaRPr lang="en-US" sz="1200" dirty="0"/>
          </a:p>
        </p:txBody>
      </p:sp>
      <p:sp>
        <p:nvSpPr>
          <p:cNvPr id="44" name="Flow arrow"/>
          <p:cNvSpPr/>
          <p:nvPr/>
        </p:nvSpPr>
        <p:spPr>
          <a:xfrm>
            <a:off x="6812280" y="4041648"/>
            <a:ext cx="0" cy="283464"/>
          </a:xfrm>
          <a:prstGeom prst="line">
            <a:avLst/>
          </a:prstGeom>
          <a:noFill/>
          <a:ln w="19050">
            <a:solidFill>
              <a:schemeClr val="accent1"/>
            </a:solidFill>
            <a:prstDash val="solid"/>
            <a:headEnd type="triangle"/>
            <a:tailEnd type="triangle"/>
          </a:ln>
        </p:spPr>
        <p:txBody>
          <a:bodyPr/>
          <a:p/>
        </p:txBody>
      </p:sp>
      <p:sp>
        <p:nvSpPr>
          <p:cNvPr id="45" name="AI providers (optional) node"/>
          <p:cNvSpPr/>
          <p:nvPr/>
        </p:nvSpPr>
        <p:spPr>
          <a:xfrm>
            <a:off x="5166360" y="4343400"/>
            <a:ext cx="3291840" cy="566928"/>
          </a:xfrm>
          <a:prstGeom prst="roundRect">
            <a:avLst>
              <a:gd name="adj" fmla="val 12903"/>
            </a:avLst>
          </a:prstGeom>
          <a:solidFill>
            <a:srgbClr val="EFEDE8"/>
          </a:solidFill>
        </p:spPr>
        <p:txBody>
          <a:bodyPr/>
          <a:p/>
        </p:txBody>
      </p:sp>
      <p:sp>
        <p:nvSpPr>
          <p:cNvPr id="46" name="Text 43"/>
          <p:cNvSpPr txBox="1"/>
          <p:nvPr/>
        </p:nvSpPr>
        <p:spPr>
          <a:xfrm>
            <a:off x="5257800" y="4343400"/>
            <a:ext cx="3108960" cy="566928"/>
          </a:xfrm>
          <a:prstGeom prst="rect">
            <a:avLst/>
          </a:prstGeom>
          <a:noFill/>
        </p:spPr>
        <p:txBody>
          <a:bodyPr wrap="square" lIns="0" tIns="0" rIns="0" bIns="0" rtlCol="0" anchor="ctr"/>
          <a:lstStyle/>
          <a:p>
            <a:pPr marL="0" indent="0" algn="l">
              <a:buNone/>
            </a:pPr>
            <a:r>
              <a:rPr lang="en-US" sz="1100" b="1" dirty="0">
                <a:solidFill>
                  <a:schemeClr val="tx1"/>
                </a:solidFill>
              </a:rPr>
              <a:t>AI providers (optional)</a:t>
            </a:r>
            <a:endParaRPr lang="en-US" sz="1100" dirty="0"/>
          </a:p>
          <a:p>
            <a:pPr marL="0" indent="0" algn="l">
              <a:buNone/>
            </a:pPr>
            <a:r>
              <a:rPr lang="en-US" sz="950" dirty="0">
                <a:solidFill>
                  <a:schemeClr val="tx2"/>
                </a:solidFill>
              </a:rPr>
              <a:t>Gemini · RunPod: Qwen CV reader, Whisper, OCR</a:t>
            </a:r>
            <a:endParaRPr lang="en-US" sz="1100" dirty="0"/>
          </a:p>
        </p:txBody>
      </p:sp>
      <p:sp>
        <p:nvSpPr>
          <p:cNvPr id="47" name="Text 44"/>
          <p:cNvSpPr txBox="1"/>
          <p:nvPr/>
        </p:nvSpPr>
        <p:spPr>
          <a:xfrm>
            <a:off x="8823960" y="4343400"/>
            <a:ext cx="2633472" cy="566928"/>
          </a:xfrm>
          <a:prstGeom prst="rect">
            <a:avLst/>
          </a:prstGeom>
          <a:noFill/>
        </p:spPr>
        <p:txBody>
          <a:bodyPr wrap="square" lIns="0" tIns="0" rIns="0" bIns="0" rtlCol="0" anchor="ctr"/>
          <a:lstStyle/>
          <a:p>
            <a:pPr marL="0" indent="0">
              <a:buNone/>
            </a:pPr>
            <a:r>
              <a:rPr lang="en-US" sz="1000" b="1" dirty="0">
                <a:solidFill>
                  <a:schemeClr val="tx2"/>
                </a:solidFill>
              </a:rPr>
              <a:t>Scrubbed text only.</a:t>
            </a:r>
            <a:endParaRPr lang="en-US" sz="1000" dirty="0"/>
          </a:p>
          <a:p>
            <a:pPr marL="0" indent="0">
              <a:buNone/>
            </a:pPr>
            <a:r>
              <a:rPr lang="en-US" sz="1000" dirty="0">
                <a:solidFill>
                  <a:schemeClr val="tx2"/>
                </a:solidFill>
              </a:rPr>
              <a:t>If AI is down, rules answer.</a:t>
            </a:r>
            <a:endParaRPr lang="en-US" sz="1000" dirty="0"/>
          </a:p>
        </p:txBody>
      </p:sp>
      <p:sp>
        <p:nvSpPr>
          <p:cNvPr id="48" name="Text 45"/>
          <p:cNvSpPr txBox="1"/>
          <p:nvPr/>
        </p:nvSpPr>
        <p:spPr>
          <a:xfrm>
            <a:off x="2788920" y="4343400"/>
            <a:ext cx="2194560" cy="566928"/>
          </a:xfrm>
          <a:prstGeom prst="rect">
            <a:avLst/>
          </a:prstGeom>
          <a:noFill/>
        </p:spPr>
        <p:txBody>
          <a:bodyPr wrap="square" lIns="0" tIns="0" rIns="0" bIns="0" rtlCol="0" anchor="ctr"/>
          <a:lstStyle/>
          <a:p>
            <a:pPr marL="0" indent="0">
              <a:buNone/>
            </a:pPr>
            <a:r>
              <a:rPr lang="en-US" sz="1000" b="1" dirty="0">
                <a:solidFill>
                  <a:schemeClr val="tx2"/>
                </a:solidFill>
              </a:rPr>
              <a:t>Rate-limited</a:t>
            </a:r>
            <a:endParaRPr lang="en-US" sz="1000" dirty="0"/>
          </a:p>
          <a:p>
            <a:pPr marL="0" indent="0">
              <a:buNone/>
            </a:pPr>
            <a:r>
              <a:rPr lang="en-US" sz="1000" dirty="0">
                <a:solidFill>
                  <a:schemeClr val="tx2"/>
                </a:solidFill>
              </a:rPr>
              <a:t>per IP, per profile, in total</a:t>
            </a:r>
            <a:endParaRPr lang="en-US" sz="1000" dirty="0"/>
          </a:p>
        </p:txBody>
      </p:sp>
      <p:sp>
        <p:nvSpPr>
          <p:cNvPr id="49" name="Text 46"/>
          <p:cNvSpPr txBox="1"/>
          <p:nvPr/>
        </p:nvSpPr>
        <p:spPr>
          <a:xfrm>
            <a:off x="731520" y="5120640"/>
            <a:ext cx="1005840" cy="566928"/>
          </a:xfrm>
          <a:prstGeom prst="rect">
            <a:avLst/>
          </a:prstGeom>
          <a:noFill/>
        </p:spPr>
        <p:txBody>
          <a:bodyPr wrap="square" lIns="0" tIns="0" rIns="0" bIns="0" rtlCol="0" anchor="ctr"/>
          <a:lstStyle/>
          <a:p>
            <a:pPr marL="0" indent="0">
              <a:buNone/>
            </a:pPr>
            <a:r>
              <a:rPr lang="en-US" sz="1100" b="1" kern="0" spc="120" dirty="0">
                <a:solidFill>
                  <a:srgbClr val="D9971F"/>
                </a:solidFill>
              </a:rPr>
              <a:t>TREND</a:t>
            </a:r>
            <a:endParaRPr lang="en-US" sz="1100" dirty="0"/>
          </a:p>
          <a:p>
            <a:pPr marL="0" indent="0">
              <a:buNone/>
            </a:pPr>
            <a:r>
              <a:rPr lang="en-US" sz="1100" b="1" kern="0" spc="120" dirty="0">
                <a:solidFill>
                  <a:srgbClr val="D9971F"/>
                </a:solidFill>
              </a:rPr>
              <a:t>ENGINE</a:t>
            </a:r>
            <a:endParaRPr lang="en-US" sz="1100" dirty="0"/>
          </a:p>
        </p:txBody>
      </p:sp>
      <p:sp>
        <p:nvSpPr>
          <p:cNvPr id="50" name="Public sources node"/>
          <p:cNvSpPr/>
          <p:nvPr/>
        </p:nvSpPr>
        <p:spPr>
          <a:xfrm>
            <a:off x="1783080" y="5120640"/>
            <a:ext cx="1371600" cy="566928"/>
          </a:xfrm>
          <a:prstGeom prst="roundRect">
            <a:avLst>
              <a:gd name="adj" fmla="val 12903"/>
            </a:avLst>
          </a:prstGeom>
          <a:solidFill>
            <a:schemeClr val="bg1"/>
          </a:solidFill>
          <a:ln w="9525">
            <a:solidFill>
              <a:srgbClr val="E3DFD6"/>
            </a:solidFill>
            <a:prstDash val="solid"/>
          </a:ln>
        </p:spPr>
        <p:txBody>
          <a:bodyPr/>
          <a:p/>
        </p:txBody>
      </p:sp>
      <p:sp>
        <p:nvSpPr>
          <p:cNvPr id="51" name="Text 48"/>
          <p:cNvSpPr txBox="1"/>
          <p:nvPr/>
        </p:nvSpPr>
        <p:spPr>
          <a:xfrm>
            <a:off x="1874520" y="5120640"/>
            <a:ext cx="1188720" cy="566928"/>
          </a:xfrm>
          <a:prstGeom prst="rect">
            <a:avLst/>
          </a:prstGeom>
          <a:noFill/>
        </p:spPr>
        <p:txBody>
          <a:bodyPr wrap="square" lIns="0" tIns="0" rIns="0" bIns="0" rtlCol="0" anchor="ctr"/>
          <a:lstStyle/>
          <a:p>
            <a:pPr marL="0" indent="0" algn="l">
              <a:buNone/>
            </a:pPr>
            <a:r>
              <a:rPr lang="en-US" sz="1050" b="1" dirty="0">
                <a:solidFill>
                  <a:schemeClr val="tx1"/>
                </a:solidFill>
              </a:rPr>
              <a:t>Public sources</a:t>
            </a:r>
            <a:endParaRPr lang="en-US" sz="1050" dirty="0"/>
          </a:p>
          <a:p>
            <a:pPr marL="0" indent="0" algn="l">
              <a:buNone/>
            </a:pPr>
            <a:r>
              <a:rPr lang="en-US" sz="850" dirty="0">
                <a:solidFill>
                  <a:schemeClr val="tx2"/>
                </a:solidFill>
              </a:rPr>
              <a:t>WEF · job ads · DOSM</a:t>
            </a:r>
            <a:endParaRPr lang="en-US" sz="1050" dirty="0"/>
          </a:p>
        </p:txBody>
      </p:sp>
      <p:sp>
        <p:nvSpPr>
          <p:cNvPr id="52" name="Flow arrow"/>
          <p:cNvSpPr/>
          <p:nvPr/>
        </p:nvSpPr>
        <p:spPr>
          <a:xfrm>
            <a:off x="3172968" y="5404104"/>
            <a:ext cx="164592" cy="0"/>
          </a:xfrm>
          <a:prstGeom prst="line">
            <a:avLst/>
          </a:prstGeom>
          <a:noFill/>
          <a:ln w="19050">
            <a:solidFill>
              <a:schemeClr val="accent1"/>
            </a:solidFill>
            <a:prstDash val="solid"/>
            <a:tailEnd type="triangle"/>
          </a:ln>
        </p:spPr>
        <p:txBody>
          <a:bodyPr/>
          <a:p/>
        </p:txBody>
      </p:sp>
      <p:sp>
        <p:nvSpPr>
          <p:cNvPr id="53" name="Collectors node"/>
          <p:cNvSpPr/>
          <p:nvPr/>
        </p:nvSpPr>
        <p:spPr>
          <a:xfrm>
            <a:off x="3355848" y="5120640"/>
            <a:ext cx="1371600" cy="566928"/>
          </a:xfrm>
          <a:prstGeom prst="roundRect">
            <a:avLst>
              <a:gd name="adj" fmla="val 12903"/>
            </a:avLst>
          </a:prstGeom>
          <a:solidFill>
            <a:schemeClr val="bg1"/>
          </a:solidFill>
          <a:ln w="9525">
            <a:solidFill>
              <a:srgbClr val="E3DFD6"/>
            </a:solidFill>
            <a:prstDash val="solid"/>
          </a:ln>
        </p:spPr>
        <p:txBody>
          <a:bodyPr/>
          <a:p/>
        </p:txBody>
      </p:sp>
      <p:sp>
        <p:nvSpPr>
          <p:cNvPr id="54" name="Text 51"/>
          <p:cNvSpPr txBox="1"/>
          <p:nvPr/>
        </p:nvSpPr>
        <p:spPr>
          <a:xfrm>
            <a:off x="3447288" y="5120640"/>
            <a:ext cx="1188720" cy="566928"/>
          </a:xfrm>
          <a:prstGeom prst="rect">
            <a:avLst/>
          </a:prstGeom>
          <a:noFill/>
        </p:spPr>
        <p:txBody>
          <a:bodyPr wrap="square" lIns="0" tIns="0" rIns="0" bIns="0" rtlCol="0" anchor="ctr"/>
          <a:lstStyle/>
          <a:p>
            <a:pPr marL="0" indent="0" algn="l">
              <a:buNone/>
            </a:pPr>
            <a:r>
              <a:rPr lang="en-US" sz="1050" b="1" dirty="0">
                <a:solidFill>
                  <a:schemeClr val="tx1"/>
                </a:solidFill>
              </a:rPr>
              <a:t>Collectors</a:t>
            </a:r>
            <a:endParaRPr lang="en-US" sz="1050" dirty="0"/>
          </a:p>
          <a:p>
            <a:pPr marL="0" indent="0" algn="l">
              <a:buNone/>
            </a:pPr>
            <a:r>
              <a:rPr lang="en-US" sz="850" dirty="0">
                <a:solidFill>
                  <a:schemeClr val="tx2"/>
                </a:solidFill>
              </a:rPr>
              <a:t>Weekly / on demand</a:t>
            </a:r>
            <a:endParaRPr lang="en-US" sz="1050" dirty="0"/>
          </a:p>
        </p:txBody>
      </p:sp>
      <p:sp>
        <p:nvSpPr>
          <p:cNvPr id="55" name="Flow arrow"/>
          <p:cNvSpPr/>
          <p:nvPr/>
        </p:nvSpPr>
        <p:spPr>
          <a:xfrm>
            <a:off x="4745736" y="5404104"/>
            <a:ext cx="164592" cy="0"/>
          </a:xfrm>
          <a:prstGeom prst="line">
            <a:avLst/>
          </a:prstGeom>
          <a:noFill/>
          <a:ln w="19050">
            <a:solidFill>
              <a:schemeClr val="accent1"/>
            </a:solidFill>
            <a:prstDash val="solid"/>
            <a:tailEnd type="triangle"/>
          </a:ln>
        </p:spPr>
        <p:txBody>
          <a:bodyPr/>
          <a:p/>
        </p:txBody>
      </p:sp>
      <p:sp>
        <p:nvSpPr>
          <p:cNvPr id="56" name="Dated snapshot node"/>
          <p:cNvSpPr/>
          <p:nvPr/>
        </p:nvSpPr>
        <p:spPr>
          <a:xfrm>
            <a:off x="4928616" y="5120640"/>
            <a:ext cx="1371600" cy="566928"/>
          </a:xfrm>
          <a:prstGeom prst="roundRect">
            <a:avLst>
              <a:gd name="adj" fmla="val 12903"/>
            </a:avLst>
          </a:prstGeom>
          <a:solidFill>
            <a:schemeClr val="bg1"/>
          </a:solidFill>
          <a:ln w="9525">
            <a:solidFill>
              <a:srgbClr val="E3DFD6"/>
            </a:solidFill>
            <a:prstDash val="solid"/>
          </a:ln>
        </p:spPr>
        <p:txBody>
          <a:bodyPr/>
          <a:p/>
        </p:txBody>
      </p:sp>
      <p:sp>
        <p:nvSpPr>
          <p:cNvPr id="57" name="Text 54"/>
          <p:cNvSpPr txBox="1"/>
          <p:nvPr/>
        </p:nvSpPr>
        <p:spPr>
          <a:xfrm>
            <a:off x="5020056" y="5120640"/>
            <a:ext cx="1188720" cy="566928"/>
          </a:xfrm>
          <a:prstGeom prst="rect">
            <a:avLst/>
          </a:prstGeom>
          <a:noFill/>
        </p:spPr>
        <p:txBody>
          <a:bodyPr wrap="square" lIns="0" tIns="0" rIns="0" bIns="0" rtlCol="0" anchor="ctr"/>
          <a:lstStyle/>
          <a:p>
            <a:pPr marL="0" indent="0" algn="l">
              <a:buNone/>
            </a:pPr>
            <a:r>
              <a:rPr lang="en-US" sz="1050" b="1" dirty="0">
                <a:solidFill>
                  <a:schemeClr val="tx1"/>
                </a:solidFill>
              </a:rPr>
              <a:t>Dated snapshot</a:t>
            </a:r>
            <a:endParaRPr lang="en-US" sz="1050" dirty="0"/>
          </a:p>
          <a:p>
            <a:pPr marL="0" indent="0" algn="l">
              <a:buNone/>
            </a:pPr>
            <a:r>
              <a:rPr lang="en-US" sz="850" dirty="0">
                <a:solidFill>
                  <a:schemeClr val="tx2"/>
                </a:solidFill>
              </a:rPr>
              <a:t>Never edited</a:t>
            </a:r>
            <a:endParaRPr lang="en-US" sz="1050" dirty="0"/>
          </a:p>
        </p:txBody>
      </p:sp>
      <p:sp>
        <p:nvSpPr>
          <p:cNvPr id="58" name="Flow arrow"/>
          <p:cNvSpPr/>
          <p:nvPr/>
        </p:nvSpPr>
        <p:spPr>
          <a:xfrm>
            <a:off x="6318504" y="5404104"/>
            <a:ext cx="164592" cy="0"/>
          </a:xfrm>
          <a:prstGeom prst="line">
            <a:avLst/>
          </a:prstGeom>
          <a:noFill/>
          <a:ln w="19050">
            <a:solidFill>
              <a:schemeClr val="accent1"/>
            </a:solidFill>
            <a:prstDash val="solid"/>
            <a:tailEnd type="triangle"/>
          </a:ln>
        </p:spPr>
        <p:txBody>
          <a:bodyPr/>
          <a:p/>
        </p:txBody>
      </p:sp>
      <p:sp>
        <p:nvSpPr>
          <p:cNvPr id="59" name="Forecast 2030 node"/>
          <p:cNvSpPr/>
          <p:nvPr/>
        </p:nvSpPr>
        <p:spPr>
          <a:xfrm>
            <a:off x="6501384" y="5120640"/>
            <a:ext cx="1371600" cy="566928"/>
          </a:xfrm>
          <a:prstGeom prst="roundRect">
            <a:avLst>
              <a:gd name="adj" fmla="val 12903"/>
            </a:avLst>
          </a:prstGeom>
          <a:solidFill>
            <a:schemeClr val="bg1"/>
          </a:solidFill>
          <a:ln w="9525">
            <a:solidFill>
              <a:srgbClr val="E3DFD6"/>
            </a:solidFill>
            <a:prstDash val="solid"/>
          </a:ln>
        </p:spPr>
        <p:txBody>
          <a:bodyPr/>
          <a:p/>
        </p:txBody>
      </p:sp>
      <p:sp>
        <p:nvSpPr>
          <p:cNvPr id="60" name="Text 57"/>
          <p:cNvSpPr txBox="1"/>
          <p:nvPr/>
        </p:nvSpPr>
        <p:spPr>
          <a:xfrm>
            <a:off x="6592824" y="5120640"/>
            <a:ext cx="1188720" cy="566928"/>
          </a:xfrm>
          <a:prstGeom prst="rect">
            <a:avLst/>
          </a:prstGeom>
          <a:noFill/>
        </p:spPr>
        <p:txBody>
          <a:bodyPr wrap="square" lIns="0" tIns="0" rIns="0" bIns="0" rtlCol="0" anchor="ctr"/>
          <a:lstStyle/>
          <a:p>
            <a:pPr marL="0" indent="0" algn="l">
              <a:buNone/>
            </a:pPr>
            <a:r>
              <a:rPr lang="en-US" sz="1050" b="1" dirty="0">
                <a:solidFill>
                  <a:schemeClr val="tx1"/>
                </a:solidFill>
              </a:rPr>
              <a:t>Forecast 2030</a:t>
            </a:r>
            <a:endParaRPr lang="en-US" sz="1050" dirty="0"/>
          </a:p>
          <a:p>
            <a:pPr marL="0" indent="0" algn="l">
              <a:buNone/>
            </a:pPr>
            <a:r>
              <a:rPr lang="en-US" sz="850" dirty="0">
                <a:solidFill>
                  <a:schemeClr val="tx2"/>
                </a:solidFill>
              </a:rPr>
              <a:t>3 futures · ranges</a:t>
            </a:r>
            <a:endParaRPr lang="en-US" sz="1050" dirty="0"/>
          </a:p>
        </p:txBody>
      </p:sp>
      <p:sp>
        <p:nvSpPr>
          <p:cNvPr id="61" name="Flow arrow"/>
          <p:cNvSpPr/>
          <p:nvPr/>
        </p:nvSpPr>
        <p:spPr>
          <a:xfrm>
            <a:off x="7891272" y="5404104"/>
            <a:ext cx="164592" cy="0"/>
          </a:xfrm>
          <a:prstGeom prst="line">
            <a:avLst/>
          </a:prstGeom>
          <a:noFill/>
          <a:ln w="19050">
            <a:solidFill>
              <a:schemeClr val="accent1"/>
            </a:solidFill>
            <a:prstDash val="solid"/>
            <a:tailEnd type="triangle"/>
          </a:ln>
        </p:spPr>
        <p:txBody>
          <a:bodyPr/>
          <a:p/>
        </p:txBody>
      </p:sp>
      <p:sp>
        <p:nvSpPr>
          <p:cNvPr id="62" name="Person approves node"/>
          <p:cNvSpPr/>
          <p:nvPr/>
        </p:nvSpPr>
        <p:spPr>
          <a:xfrm>
            <a:off x="8074152" y="5120640"/>
            <a:ext cx="1371600" cy="566928"/>
          </a:xfrm>
          <a:prstGeom prst="roundRect">
            <a:avLst>
              <a:gd name="adj" fmla="val 12903"/>
            </a:avLst>
          </a:prstGeom>
          <a:solidFill>
            <a:srgbClr val="F8EBD3"/>
          </a:solidFill>
          <a:ln w="19050">
            <a:solidFill>
              <a:srgbClr val="D9971F"/>
            </a:solidFill>
            <a:prstDash val="solid"/>
          </a:ln>
        </p:spPr>
        <p:txBody>
          <a:bodyPr/>
          <a:p/>
        </p:txBody>
      </p:sp>
      <p:sp>
        <p:nvSpPr>
          <p:cNvPr id="63" name="Text 60"/>
          <p:cNvSpPr txBox="1"/>
          <p:nvPr/>
        </p:nvSpPr>
        <p:spPr>
          <a:xfrm>
            <a:off x="8165592" y="5120640"/>
            <a:ext cx="1188720" cy="566928"/>
          </a:xfrm>
          <a:prstGeom prst="rect">
            <a:avLst/>
          </a:prstGeom>
          <a:noFill/>
        </p:spPr>
        <p:txBody>
          <a:bodyPr wrap="square" lIns="0" tIns="0" rIns="0" bIns="0" rtlCol="0" anchor="ctr"/>
          <a:lstStyle/>
          <a:p>
            <a:pPr marL="0" indent="0" algn="l">
              <a:buNone/>
            </a:pPr>
            <a:r>
              <a:rPr lang="en-US" sz="1050" b="1" dirty="0">
                <a:solidFill>
                  <a:schemeClr val="tx1"/>
                </a:solidFill>
              </a:rPr>
              <a:t>Person approves</a:t>
            </a:r>
            <a:endParaRPr lang="en-US" sz="1050" dirty="0"/>
          </a:p>
          <a:p>
            <a:pPr marL="0" indent="0" algn="l">
              <a:buNone/>
            </a:pPr>
            <a:r>
              <a:rPr lang="en-US" sz="850" dirty="0">
                <a:solidFill>
                  <a:schemeClr val="tx2"/>
                </a:solidFill>
              </a:rPr>
              <a:t>Before/after table</a:t>
            </a:r>
            <a:endParaRPr lang="en-US" sz="1050" dirty="0"/>
          </a:p>
        </p:txBody>
      </p:sp>
      <p:sp>
        <p:nvSpPr>
          <p:cNvPr id="64" name="Flow arrow"/>
          <p:cNvSpPr/>
          <p:nvPr/>
        </p:nvSpPr>
        <p:spPr>
          <a:xfrm>
            <a:off x="9464040" y="5404104"/>
            <a:ext cx="164592" cy="0"/>
          </a:xfrm>
          <a:prstGeom prst="line">
            <a:avLst/>
          </a:prstGeom>
          <a:noFill/>
          <a:ln w="19050">
            <a:solidFill>
              <a:schemeClr val="accent1"/>
            </a:solidFill>
            <a:prstDash val="solid"/>
            <a:tailEnd type="triangle"/>
          </a:ln>
        </p:spPr>
        <p:txBody>
          <a:bodyPr/>
          <a:p/>
        </p:txBody>
      </p:sp>
      <p:sp>
        <p:nvSpPr>
          <p:cNvPr id="65" name="Live: rankings update node"/>
          <p:cNvSpPr/>
          <p:nvPr/>
        </p:nvSpPr>
        <p:spPr>
          <a:xfrm>
            <a:off x="9646920" y="5120640"/>
            <a:ext cx="1810512" cy="566928"/>
          </a:xfrm>
          <a:prstGeom prst="roundRect">
            <a:avLst>
              <a:gd name="adj" fmla="val 12903"/>
            </a:avLst>
          </a:prstGeom>
          <a:solidFill>
            <a:schemeClr val="accent4"/>
          </a:solidFill>
        </p:spPr>
        <p:txBody>
          <a:bodyPr/>
          <a:p/>
        </p:txBody>
      </p:sp>
      <p:sp>
        <p:nvSpPr>
          <p:cNvPr id="66" name="Text 63"/>
          <p:cNvSpPr txBox="1"/>
          <p:nvPr/>
        </p:nvSpPr>
        <p:spPr>
          <a:xfrm>
            <a:off x="9738360" y="5120640"/>
            <a:ext cx="1627632" cy="566928"/>
          </a:xfrm>
          <a:prstGeom prst="rect">
            <a:avLst/>
          </a:prstGeom>
          <a:noFill/>
        </p:spPr>
        <p:txBody>
          <a:bodyPr wrap="square" lIns="0" tIns="0" rIns="0" bIns="0" rtlCol="0" anchor="ctr"/>
          <a:lstStyle/>
          <a:p>
            <a:pPr marL="0" indent="0" algn="l">
              <a:buNone/>
            </a:pPr>
            <a:r>
              <a:rPr lang="en-US" sz="1050" b="1" dirty="0">
                <a:solidFill>
                  <a:schemeClr val="bg1"/>
                </a:solidFill>
              </a:rPr>
              <a:t>Live: rankings update</a:t>
            </a:r>
            <a:endParaRPr lang="en-US" sz="1050" dirty="0"/>
          </a:p>
          <a:p>
            <a:pPr marL="0" indent="0" algn="l">
              <a:buNone/>
            </a:pPr>
            <a:r>
              <a:rPr lang="en-US" sz="850" dirty="0">
                <a:solidFill>
                  <a:srgbClr val="C9D6D3"/>
                </a:solidFill>
              </a:rPr>
              <a:t>Saved to Postgres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737360" cy="329184"/>
          </a:xfrm>
          <a:prstGeom prst="rect">
            <a:avLst/>
          </a:prstGeom>
          <a:noFill/>
        </p:spPr>
        <p:txBody>
          <a:bodyPr wrap="square" lIns="0" tIns="0" rIns="0" bIns="0" rtlCol="0" anchor="ctr"/>
          <a:lstStyle/>
          <a:p>
            <a:pPr marL="0" indent="0">
              <a:buNone/>
            </a:pPr>
            <a:r>
              <a:rPr lang="en-US" sz="1300" b="1" kern="0" spc="150" dirty="0">
                <a:solidFill>
                  <a:schemeClr val="accent3"/>
                </a:solidFill>
              </a:rPr>
              <a:t>TRUST &amp; PROOF</a:t>
            </a:r>
            <a:endParaRPr lang="en-US" sz="1300" dirty="0"/>
          </a:p>
        </p:txBody>
      </p:sp>
      <p:sp>
        <p:nvSpPr>
          <p:cNvPr id="3" name="Human-centred AI · Impact pill"/>
          <p:cNvSpPr/>
          <p:nvPr/>
        </p:nvSpPr>
        <p:spPr>
          <a:xfrm>
            <a:off x="2560320" y="457200"/>
            <a:ext cx="2560320" cy="329184"/>
          </a:xfrm>
          <a:prstGeom prst="roundRect">
            <a:avLst>
              <a:gd name="adj" fmla="val 50000"/>
            </a:avLst>
          </a:prstGeom>
          <a:solidFill>
            <a:schemeClr val="accent5"/>
          </a:solidFill>
        </p:spPr>
        <p:txBody>
          <a:bodyPr/>
          <a:p/>
        </p:txBody>
      </p:sp>
      <p:sp>
        <p:nvSpPr>
          <p:cNvPr id="4" name="Text 2"/>
          <p:cNvSpPr txBox="1"/>
          <p:nvPr/>
        </p:nvSpPr>
        <p:spPr>
          <a:xfrm>
            <a:off x="2560320" y="457200"/>
            <a:ext cx="2560320" cy="329184"/>
          </a:xfrm>
          <a:prstGeom prst="rect">
            <a:avLst/>
          </a:prstGeom>
          <a:noFill/>
        </p:spPr>
        <p:txBody>
          <a:bodyPr wrap="square" lIns="0" tIns="0" rIns="0" bIns="0" rtlCol="0" anchor="ctr"/>
          <a:lstStyle/>
          <a:p>
            <a:pPr marL="0" indent="0" algn="ctr">
              <a:buNone/>
            </a:pPr>
            <a:r>
              <a:rPr lang="en-US" sz="1200" b="1" dirty="0">
                <a:solidFill>
                  <a:schemeClr val="accent1"/>
                </a:solidFill>
              </a:rPr>
              <a:t>Human-centred AI · Impact</a:t>
            </a:r>
            <a:endParaRPr lang="en-US" sz="1200" dirty="0"/>
          </a:p>
        </p:txBody>
      </p:sp>
      <p:sp>
        <p:nvSpPr>
          <p:cNvPr id="5" name="Text 3"/>
          <p:cNvSpPr txBox="1"/>
          <p:nvPr/>
        </p:nvSpPr>
        <p:spPr>
          <a:xfrm>
            <a:off x="10543032" y="6309360"/>
            <a:ext cx="914400" cy="256032"/>
          </a:xfrm>
          <a:prstGeom prst="rect">
            <a:avLst/>
          </a:prstGeom>
          <a:noFill/>
        </p:spPr>
        <p:txBody>
          <a:bodyPr wrap="square" lIns="0" tIns="0" rIns="0" bIns="0" rtlCol="0" anchor="ctr"/>
          <a:lstStyle/>
          <a:p>
            <a:pPr marL="0" indent="0" algn="r">
              <a:buNone/>
            </a:pPr>
            <a:r>
              <a:rPr lang="en-US" sz="1200" dirty="0">
                <a:solidFill>
                  <a:schemeClr val="tx2"/>
                </a:solidFill>
              </a:rPr>
              <a:t>17 / 17</a:t>
            </a:r>
            <a:endParaRPr lang="en-US" sz="1200" dirty="0"/>
          </a:p>
        </p:txBody>
      </p:sp>
      <p:sp>
        <p:nvSpPr>
          <p:cNvPr id="6" name="Text 1"/>
          <p:cNvSpPr/>
          <p:nvPr>
            <p:ph type="title" idx="102" hasCustomPrompt="1"/>
          </p:nvPr>
        </p:nvSpPr>
        <p:spPr>
          <a:xfrm>
            <a:off x="731520" y="896112"/>
            <a:ext cx="10725912" cy="685800"/>
          </a:xfrm>
          <a:prstGeom prst="rect">
            <a:avLst/>
          </a:prstGeom>
          <a:noFill/>
        </p:spPr>
        <p:txBody>
          <a:bodyPr wrap="square" lIns="0" tIns="0" rIns="0" bIns="0" rtlCol="0" anchor="t"/>
          <a:lstStyle/>
          <a:p>
            <a:pPr marL="0" indent="0" algn="l">
              <a:buNone/>
            </a:pPr>
            <a:r>
              <a:rPr lang="en-US" sz="3200" b="1" dirty="0">
                <a:solidFill>
                  <a:schemeClr val="tx1"/>
                </a:solidFill>
              </a:rPr>
              <a:t>People stay in charge. Try it live today.</a:t>
            </a:r>
            <a:endParaRPr lang="en-US" sz="3200" dirty="0"/>
          </a:p>
        </p:txBody>
      </p:sp>
      <p:sp>
        <p:nvSpPr>
          <p:cNvPr id="7" name="Human approval card"/>
          <p:cNvSpPr/>
          <p:nvPr/>
        </p:nvSpPr>
        <p:spPr>
          <a:xfrm>
            <a:off x="731520" y="1783080"/>
            <a:ext cx="2544318" cy="1554480"/>
          </a:xfrm>
          <a:prstGeom prst="roundRect">
            <a:avLst>
              <a:gd name="adj" fmla="val 5882"/>
            </a:avLst>
          </a:prstGeom>
          <a:solidFill>
            <a:schemeClr val="bg1"/>
          </a:solidFill>
          <a:ln w="9525">
            <a:solidFill>
              <a:srgbClr val="E3DFD6"/>
            </a:solidFill>
            <a:prstDash val="solid"/>
          </a:ln>
        </p:spPr>
        <p:txBody>
          <a:bodyPr/>
          <a:p/>
        </p:txBody>
      </p:sp>
      <p:sp>
        <p:nvSpPr>
          <p:cNvPr id="8" name="LuUserCheck tile"/>
          <p:cNvSpPr/>
          <p:nvPr/>
        </p:nvSpPr>
        <p:spPr>
          <a:xfrm>
            <a:off x="932688" y="1965960"/>
            <a:ext cx="457200" cy="457200"/>
          </a:xfrm>
          <a:prstGeom prst="roundRect">
            <a:avLst>
              <a:gd name="adj" fmla="val 20000"/>
            </a:avLst>
          </a:prstGeom>
          <a:solidFill>
            <a:srgbClr val="F7E3E0"/>
          </a:solidFill>
        </p:spPr>
        <p:txBody>
          <a:bodyPr/>
          <a:p/>
        </p:txBody>
      </p:sp>
      <p:pic>
        <p:nvPicPr>
          <p:cNvPr id="9" name="LuUserCheck icon" descr="preencoded.png"/>
          <p:cNvPicPr>
            <a:picLocks noChangeAspect="1"/>
          </p:cNvPicPr>
          <p:nvPr/>
        </p:nvPicPr>
        <p:blipFill>
          <a:blip r:embed="rId1"/>
          <a:stretch>
            <a:fillRect/>
          </a:stretch>
        </p:blipFill>
        <p:spPr>
          <a:xfrm>
            <a:off x="1046988" y="2080260"/>
            <a:ext cx="228600" cy="228600"/>
          </a:xfrm>
          <a:prstGeom prst="rect">
            <a:avLst/>
          </a:prstGeom>
        </p:spPr>
      </p:pic>
      <p:sp>
        <p:nvSpPr>
          <p:cNvPr id="10" name="Text 7"/>
          <p:cNvSpPr txBox="1"/>
          <p:nvPr/>
        </p:nvSpPr>
        <p:spPr>
          <a:xfrm>
            <a:off x="1508760" y="1965960"/>
            <a:ext cx="1629918" cy="457200"/>
          </a:xfrm>
          <a:prstGeom prst="rect">
            <a:avLst/>
          </a:prstGeom>
          <a:noFill/>
        </p:spPr>
        <p:txBody>
          <a:bodyPr wrap="square" lIns="0" tIns="0" rIns="0" bIns="0" rtlCol="0" anchor="ctr"/>
          <a:lstStyle/>
          <a:p>
            <a:pPr marL="0" indent="0">
              <a:buNone/>
            </a:pPr>
            <a:r>
              <a:rPr lang="en-US" sz="1400" b="1" dirty="0">
                <a:solidFill>
                  <a:schemeClr val="tx1"/>
                </a:solidFill>
              </a:rPr>
              <a:t>Human approval</a:t>
            </a:r>
            <a:endParaRPr lang="en-US" sz="1400" dirty="0"/>
          </a:p>
        </p:txBody>
      </p:sp>
      <p:sp>
        <p:nvSpPr>
          <p:cNvPr id="11" name="Text 8"/>
          <p:cNvSpPr txBox="1"/>
          <p:nvPr/>
        </p:nvSpPr>
        <p:spPr>
          <a:xfrm>
            <a:off x="932688" y="2560320"/>
            <a:ext cx="2178558" cy="731520"/>
          </a:xfrm>
          <a:prstGeom prst="rect">
            <a:avLst/>
          </a:prstGeom>
          <a:noFill/>
        </p:spPr>
        <p:txBody>
          <a:bodyPr wrap="square" lIns="0" tIns="0" rIns="0" bIns="0" rtlCol="0" anchor="t"/>
          <a:lstStyle/>
          <a:p>
            <a:pPr marL="0" indent="0">
              <a:buNone/>
            </a:pPr>
            <a:r>
              <a:rPr lang="en-US" sz="1200" dirty="0">
                <a:solidFill>
                  <a:schemeClr val="tx2"/>
                </a:solidFill>
              </a:rPr>
              <a:t>Trend updates wait for a person to approve, or reject with a reason.</a:t>
            </a:r>
            <a:endParaRPr lang="en-US" sz="1200" dirty="0"/>
          </a:p>
        </p:txBody>
      </p:sp>
      <p:sp>
        <p:nvSpPr>
          <p:cNvPr id="12" name="Privacy by design card"/>
          <p:cNvSpPr/>
          <p:nvPr/>
        </p:nvSpPr>
        <p:spPr>
          <a:xfrm>
            <a:off x="3458718" y="1783080"/>
            <a:ext cx="2544318" cy="1554480"/>
          </a:xfrm>
          <a:prstGeom prst="roundRect">
            <a:avLst>
              <a:gd name="adj" fmla="val 5882"/>
            </a:avLst>
          </a:prstGeom>
          <a:solidFill>
            <a:schemeClr val="bg1"/>
          </a:solidFill>
          <a:ln w="9525">
            <a:solidFill>
              <a:srgbClr val="E3DFD6"/>
            </a:solidFill>
            <a:prstDash val="solid"/>
          </a:ln>
        </p:spPr>
        <p:txBody>
          <a:bodyPr/>
          <a:p/>
        </p:txBody>
      </p:sp>
      <p:sp>
        <p:nvSpPr>
          <p:cNvPr id="13" name="LuEyeOff tile"/>
          <p:cNvSpPr/>
          <p:nvPr/>
        </p:nvSpPr>
        <p:spPr>
          <a:xfrm>
            <a:off x="3659886" y="1965960"/>
            <a:ext cx="457200" cy="457200"/>
          </a:xfrm>
          <a:prstGeom prst="roundRect">
            <a:avLst>
              <a:gd name="adj" fmla="val 20000"/>
            </a:avLst>
          </a:prstGeom>
          <a:solidFill>
            <a:srgbClr val="F7E3E0"/>
          </a:solidFill>
        </p:spPr>
        <p:txBody>
          <a:bodyPr/>
          <a:p/>
        </p:txBody>
      </p:sp>
      <p:pic>
        <p:nvPicPr>
          <p:cNvPr id="14" name="LuEyeOff icon" descr="preencoded.png"/>
          <p:cNvPicPr>
            <a:picLocks noChangeAspect="1"/>
          </p:cNvPicPr>
          <p:nvPr/>
        </p:nvPicPr>
        <p:blipFill>
          <a:blip r:embed="rId2"/>
          <a:stretch>
            <a:fillRect/>
          </a:stretch>
        </p:blipFill>
        <p:spPr>
          <a:xfrm>
            <a:off x="3774186" y="2080260"/>
            <a:ext cx="228600" cy="228600"/>
          </a:xfrm>
          <a:prstGeom prst="rect">
            <a:avLst/>
          </a:prstGeom>
        </p:spPr>
      </p:pic>
      <p:sp>
        <p:nvSpPr>
          <p:cNvPr id="15" name="Text 11"/>
          <p:cNvSpPr txBox="1"/>
          <p:nvPr/>
        </p:nvSpPr>
        <p:spPr>
          <a:xfrm>
            <a:off x="4235958" y="1965960"/>
            <a:ext cx="1629918" cy="457200"/>
          </a:xfrm>
          <a:prstGeom prst="rect">
            <a:avLst/>
          </a:prstGeom>
          <a:noFill/>
        </p:spPr>
        <p:txBody>
          <a:bodyPr wrap="square" lIns="0" tIns="0" rIns="0" bIns="0" rtlCol="0" anchor="ctr"/>
          <a:lstStyle/>
          <a:p>
            <a:pPr marL="0" indent="0">
              <a:buNone/>
            </a:pPr>
            <a:r>
              <a:rPr lang="en-US" sz="1400" b="1" dirty="0">
                <a:solidFill>
                  <a:schemeClr val="tx1"/>
                </a:solidFill>
              </a:rPr>
              <a:t>Privacy by design</a:t>
            </a:r>
            <a:endParaRPr lang="en-US" sz="1400" dirty="0"/>
          </a:p>
        </p:txBody>
      </p:sp>
      <p:sp>
        <p:nvSpPr>
          <p:cNvPr id="16" name="Text 12"/>
          <p:cNvSpPr txBox="1"/>
          <p:nvPr/>
        </p:nvSpPr>
        <p:spPr>
          <a:xfrm>
            <a:off x="3659886" y="2560320"/>
            <a:ext cx="2178558" cy="731520"/>
          </a:xfrm>
          <a:prstGeom prst="rect">
            <a:avLst/>
          </a:prstGeom>
          <a:noFill/>
        </p:spPr>
        <p:txBody>
          <a:bodyPr wrap="square" lIns="0" tIns="0" rIns="0" bIns="0" rtlCol="0" anchor="t"/>
          <a:lstStyle/>
          <a:p>
            <a:pPr marL="0" indent="0">
              <a:buNone/>
            </a:pPr>
            <a:r>
              <a:rPr lang="en-US" sz="1200" dirty="0">
                <a:solidFill>
                  <a:schemeClr val="tx2"/>
                </a:solidFill>
              </a:rPr>
              <a:t>Names, IC, phone and email removed before AI reads text. CVs never stored.</a:t>
            </a:r>
            <a:endParaRPr lang="en-US" sz="1200" dirty="0"/>
          </a:p>
        </p:txBody>
      </p:sp>
      <p:sp>
        <p:nvSpPr>
          <p:cNvPr id="17" name="Fairness, tested card"/>
          <p:cNvSpPr/>
          <p:nvPr/>
        </p:nvSpPr>
        <p:spPr>
          <a:xfrm>
            <a:off x="6185916" y="1783080"/>
            <a:ext cx="2544318" cy="1554480"/>
          </a:xfrm>
          <a:prstGeom prst="roundRect">
            <a:avLst>
              <a:gd name="adj" fmla="val 5882"/>
            </a:avLst>
          </a:prstGeom>
          <a:solidFill>
            <a:schemeClr val="bg1"/>
          </a:solidFill>
          <a:ln w="9525">
            <a:solidFill>
              <a:srgbClr val="E3DFD6"/>
            </a:solidFill>
            <a:prstDash val="solid"/>
          </a:ln>
        </p:spPr>
        <p:txBody>
          <a:bodyPr/>
          <a:p/>
        </p:txBody>
      </p:sp>
      <p:sp>
        <p:nvSpPr>
          <p:cNvPr id="18" name="LuScale tile"/>
          <p:cNvSpPr/>
          <p:nvPr/>
        </p:nvSpPr>
        <p:spPr>
          <a:xfrm>
            <a:off x="6387084" y="1965960"/>
            <a:ext cx="457200" cy="457200"/>
          </a:xfrm>
          <a:prstGeom prst="roundRect">
            <a:avLst>
              <a:gd name="adj" fmla="val 20000"/>
            </a:avLst>
          </a:prstGeom>
          <a:solidFill>
            <a:srgbClr val="F7E3E0"/>
          </a:solidFill>
        </p:spPr>
        <p:txBody>
          <a:bodyPr/>
          <a:p/>
        </p:txBody>
      </p:sp>
      <p:pic>
        <p:nvPicPr>
          <p:cNvPr id="19" name="LuScale icon" descr="preencoded.png"/>
          <p:cNvPicPr>
            <a:picLocks noChangeAspect="1"/>
          </p:cNvPicPr>
          <p:nvPr/>
        </p:nvPicPr>
        <p:blipFill>
          <a:blip r:embed="rId3"/>
          <a:stretch>
            <a:fillRect/>
          </a:stretch>
        </p:blipFill>
        <p:spPr>
          <a:xfrm>
            <a:off x="6501384" y="2080260"/>
            <a:ext cx="228600" cy="228600"/>
          </a:xfrm>
          <a:prstGeom prst="rect">
            <a:avLst/>
          </a:prstGeom>
        </p:spPr>
      </p:pic>
      <p:sp>
        <p:nvSpPr>
          <p:cNvPr id="20" name="Text 15"/>
          <p:cNvSpPr txBox="1"/>
          <p:nvPr/>
        </p:nvSpPr>
        <p:spPr>
          <a:xfrm>
            <a:off x="6963156" y="1965960"/>
            <a:ext cx="1629918" cy="457200"/>
          </a:xfrm>
          <a:prstGeom prst="rect">
            <a:avLst/>
          </a:prstGeom>
          <a:noFill/>
        </p:spPr>
        <p:txBody>
          <a:bodyPr wrap="square" lIns="0" tIns="0" rIns="0" bIns="0" rtlCol="0" anchor="ctr"/>
          <a:lstStyle/>
          <a:p>
            <a:pPr marL="0" indent="0">
              <a:buNone/>
            </a:pPr>
            <a:r>
              <a:rPr lang="en-US" sz="1400" b="1" dirty="0">
                <a:solidFill>
                  <a:schemeClr val="tx1"/>
                </a:solidFill>
              </a:rPr>
              <a:t>Fairness, tested</a:t>
            </a:r>
            <a:endParaRPr lang="en-US" sz="1400" dirty="0"/>
          </a:p>
        </p:txBody>
      </p:sp>
      <p:sp>
        <p:nvSpPr>
          <p:cNvPr id="21" name="Text 16"/>
          <p:cNvSpPr txBox="1"/>
          <p:nvPr/>
        </p:nvSpPr>
        <p:spPr>
          <a:xfrm>
            <a:off x="6387084" y="2560320"/>
            <a:ext cx="2178558" cy="731520"/>
          </a:xfrm>
          <a:prstGeom prst="rect">
            <a:avLst/>
          </a:prstGeom>
          <a:noFill/>
        </p:spPr>
        <p:txBody>
          <a:bodyPr wrap="square" lIns="0" tIns="0" rIns="0" bIns="0" rtlCol="0" anchor="t"/>
          <a:lstStyle/>
          <a:p>
            <a:pPr marL="0" indent="0">
              <a:buNone/>
            </a:pPr>
            <a:r>
              <a:rPr lang="en-US" sz="1200" dirty="0">
                <a:solidFill>
                  <a:schemeClr val="tx2"/>
                </a:solidFill>
              </a:rPr>
              <a:t>Run under 8 Malaysian names; rankings must be identical.</a:t>
            </a:r>
            <a:endParaRPr lang="en-US" sz="1200" dirty="0"/>
          </a:p>
        </p:txBody>
      </p:sp>
      <p:sp>
        <p:nvSpPr>
          <p:cNvPr id="22" name="Nothing invented card"/>
          <p:cNvSpPr/>
          <p:nvPr/>
        </p:nvSpPr>
        <p:spPr>
          <a:xfrm>
            <a:off x="8913114" y="1783080"/>
            <a:ext cx="2544318" cy="1554480"/>
          </a:xfrm>
          <a:prstGeom prst="roundRect">
            <a:avLst>
              <a:gd name="adj" fmla="val 5882"/>
            </a:avLst>
          </a:prstGeom>
          <a:solidFill>
            <a:schemeClr val="bg1"/>
          </a:solidFill>
          <a:ln w="9525">
            <a:solidFill>
              <a:srgbClr val="E3DFD6"/>
            </a:solidFill>
            <a:prstDash val="solid"/>
          </a:ln>
        </p:spPr>
        <p:txBody>
          <a:bodyPr/>
          <a:p/>
        </p:txBody>
      </p:sp>
      <p:sp>
        <p:nvSpPr>
          <p:cNvPr id="23" name="LuBookCheck tile"/>
          <p:cNvSpPr/>
          <p:nvPr/>
        </p:nvSpPr>
        <p:spPr>
          <a:xfrm>
            <a:off x="9114282" y="1965960"/>
            <a:ext cx="457200" cy="457200"/>
          </a:xfrm>
          <a:prstGeom prst="roundRect">
            <a:avLst>
              <a:gd name="adj" fmla="val 20000"/>
            </a:avLst>
          </a:prstGeom>
          <a:solidFill>
            <a:srgbClr val="F7E3E0"/>
          </a:solidFill>
        </p:spPr>
        <p:txBody>
          <a:bodyPr/>
          <a:p/>
        </p:txBody>
      </p:sp>
      <p:pic>
        <p:nvPicPr>
          <p:cNvPr id="24" name="LuBookCheck icon" descr="preencoded.png"/>
          <p:cNvPicPr>
            <a:picLocks noChangeAspect="1"/>
          </p:cNvPicPr>
          <p:nvPr/>
        </p:nvPicPr>
        <p:blipFill>
          <a:blip r:embed="rId4"/>
          <a:stretch>
            <a:fillRect/>
          </a:stretch>
        </p:blipFill>
        <p:spPr>
          <a:xfrm>
            <a:off x="9228582" y="2080260"/>
            <a:ext cx="228600" cy="228600"/>
          </a:xfrm>
          <a:prstGeom prst="rect">
            <a:avLst/>
          </a:prstGeom>
        </p:spPr>
      </p:pic>
      <p:sp>
        <p:nvSpPr>
          <p:cNvPr id="25" name="Text 19"/>
          <p:cNvSpPr txBox="1"/>
          <p:nvPr/>
        </p:nvSpPr>
        <p:spPr>
          <a:xfrm>
            <a:off x="9690354" y="1965960"/>
            <a:ext cx="1629918" cy="457200"/>
          </a:xfrm>
          <a:prstGeom prst="rect">
            <a:avLst/>
          </a:prstGeom>
          <a:noFill/>
        </p:spPr>
        <p:txBody>
          <a:bodyPr wrap="square" lIns="0" tIns="0" rIns="0" bIns="0" rtlCol="0" anchor="ctr"/>
          <a:lstStyle/>
          <a:p>
            <a:pPr marL="0" indent="0">
              <a:buNone/>
            </a:pPr>
            <a:r>
              <a:rPr lang="en-US" sz="1400" b="1" dirty="0">
                <a:solidFill>
                  <a:schemeClr val="tx1"/>
                </a:solidFill>
              </a:rPr>
              <a:t>Nothing invented</a:t>
            </a:r>
            <a:endParaRPr lang="en-US" sz="1400" dirty="0"/>
          </a:p>
        </p:txBody>
      </p:sp>
      <p:sp>
        <p:nvSpPr>
          <p:cNvPr id="26" name="Text 20"/>
          <p:cNvSpPr txBox="1"/>
          <p:nvPr/>
        </p:nvSpPr>
        <p:spPr>
          <a:xfrm>
            <a:off x="9114282" y="2560320"/>
            <a:ext cx="2178558" cy="731520"/>
          </a:xfrm>
          <a:prstGeom prst="rect">
            <a:avLst/>
          </a:prstGeom>
          <a:noFill/>
        </p:spPr>
        <p:txBody>
          <a:bodyPr wrap="square" lIns="0" tIns="0" rIns="0" bIns="0" rtlCol="0" anchor="t"/>
          <a:lstStyle/>
          <a:p>
            <a:pPr marL="0" indent="0">
              <a:buNone/>
            </a:pPr>
            <a:r>
              <a:rPr lang="en-US" sz="1200" dirty="0">
                <a:solidFill>
                  <a:schemeClr val="tx2"/>
                </a:solidFill>
              </a:rPr>
              <a:t>Courses only from a checked catalogue; AI text checked against sources.</a:t>
            </a:r>
            <a:endParaRPr lang="en-US" sz="1200" dirty="0"/>
          </a:p>
        </p:txBody>
      </p:sp>
      <p:sp>
        <p:nvSpPr>
          <p:cNvPr id="27" name="59 / 59 stat"/>
          <p:cNvSpPr/>
          <p:nvPr/>
        </p:nvSpPr>
        <p:spPr>
          <a:xfrm>
            <a:off x="731520" y="3493008"/>
            <a:ext cx="2544318" cy="868680"/>
          </a:xfrm>
          <a:prstGeom prst="roundRect">
            <a:avLst>
              <a:gd name="adj" fmla="val 10526"/>
            </a:avLst>
          </a:prstGeom>
          <a:solidFill>
            <a:schemeClr val="accent4"/>
          </a:solidFill>
        </p:spPr>
        <p:txBody>
          <a:bodyPr/>
          <a:p/>
        </p:txBody>
      </p:sp>
      <p:sp>
        <p:nvSpPr>
          <p:cNvPr id="28" name="Text 22"/>
          <p:cNvSpPr txBox="1"/>
          <p:nvPr/>
        </p:nvSpPr>
        <p:spPr>
          <a:xfrm>
            <a:off x="932688" y="3566160"/>
            <a:ext cx="2178558" cy="438912"/>
          </a:xfrm>
          <a:prstGeom prst="rect">
            <a:avLst/>
          </a:prstGeom>
          <a:noFill/>
        </p:spPr>
        <p:txBody>
          <a:bodyPr wrap="square" lIns="0" tIns="0" rIns="0" bIns="0" rtlCol="0" anchor="ctr"/>
          <a:lstStyle/>
          <a:p>
            <a:pPr marL="0" indent="0">
              <a:buNone/>
            </a:pPr>
            <a:r>
              <a:rPr lang="en-US" sz="2400" b="1" dirty="0">
                <a:solidFill>
                  <a:srgbClr val="D9971F"/>
                </a:solidFill>
              </a:rPr>
              <a:t>59 / 59</a:t>
            </a:r>
            <a:endParaRPr lang="en-US" sz="2400" dirty="0"/>
          </a:p>
        </p:txBody>
      </p:sp>
      <p:sp>
        <p:nvSpPr>
          <p:cNvPr id="29" name="Text 23"/>
          <p:cNvSpPr txBox="1"/>
          <p:nvPr/>
        </p:nvSpPr>
        <p:spPr>
          <a:xfrm>
            <a:off x="932688" y="4005072"/>
            <a:ext cx="2178558" cy="274320"/>
          </a:xfrm>
          <a:prstGeom prst="rect">
            <a:avLst/>
          </a:prstGeom>
          <a:noFill/>
        </p:spPr>
        <p:txBody>
          <a:bodyPr wrap="square" lIns="0" tIns="0" rIns="0" bIns="0" rtlCol="0" anchor="ctr"/>
          <a:lstStyle/>
          <a:p>
            <a:pPr marL="0" indent="0">
              <a:buNone/>
            </a:pPr>
            <a:r>
              <a:rPr lang="en-US" sz="1150" dirty="0">
                <a:solidFill>
                  <a:srgbClr val="C9D6D3"/>
                </a:solidFill>
              </a:rPr>
              <a:t>fairness checks pass</a:t>
            </a:r>
            <a:endParaRPr lang="en-US" sz="1150" dirty="0"/>
          </a:p>
        </p:txBody>
      </p:sp>
      <p:sp>
        <p:nvSpPr>
          <p:cNvPr id="30" name="430+ stat"/>
          <p:cNvSpPr/>
          <p:nvPr/>
        </p:nvSpPr>
        <p:spPr>
          <a:xfrm>
            <a:off x="3458718" y="3493008"/>
            <a:ext cx="2544318" cy="868680"/>
          </a:xfrm>
          <a:prstGeom prst="roundRect">
            <a:avLst>
              <a:gd name="adj" fmla="val 10526"/>
            </a:avLst>
          </a:prstGeom>
          <a:solidFill>
            <a:schemeClr val="bg1"/>
          </a:solidFill>
          <a:ln w="9525">
            <a:solidFill>
              <a:srgbClr val="E3DFD6"/>
            </a:solidFill>
            <a:prstDash val="solid"/>
          </a:ln>
        </p:spPr>
        <p:txBody>
          <a:bodyPr/>
          <a:p/>
        </p:txBody>
      </p:sp>
      <p:sp>
        <p:nvSpPr>
          <p:cNvPr id="31" name="Text 25"/>
          <p:cNvSpPr txBox="1"/>
          <p:nvPr/>
        </p:nvSpPr>
        <p:spPr>
          <a:xfrm>
            <a:off x="3659886" y="3566160"/>
            <a:ext cx="2178558" cy="438912"/>
          </a:xfrm>
          <a:prstGeom prst="rect">
            <a:avLst/>
          </a:prstGeom>
          <a:noFill/>
        </p:spPr>
        <p:txBody>
          <a:bodyPr wrap="square" lIns="0" tIns="0" rIns="0" bIns="0" rtlCol="0" anchor="ctr"/>
          <a:lstStyle/>
          <a:p>
            <a:pPr marL="0" indent="0">
              <a:buNone/>
            </a:pPr>
            <a:r>
              <a:rPr lang="en-US" sz="2400" b="1" dirty="0">
                <a:solidFill>
                  <a:schemeClr val="tx1"/>
                </a:solidFill>
              </a:rPr>
              <a:t>500+</a:t>
            </a:r>
            <a:endParaRPr lang="en-US" sz="2400" dirty="0"/>
          </a:p>
        </p:txBody>
      </p:sp>
      <p:sp>
        <p:nvSpPr>
          <p:cNvPr id="32" name="Text 26"/>
          <p:cNvSpPr txBox="1"/>
          <p:nvPr/>
        </p:nvSpPr>
        <p:spPr>
          <a:xfrm>
            <a:off x="3659886" y="4005072"/>
            <a:ext cx="2178558" cy="274320"/>
          </a:xfrm>
          <a:prstGeom prst="rect">
            <a:avLst/>
          </a:prstGeom>
          <a:noFill/>
        </p:spPr>
        <p:txBody>
          <a:bodyPr wrap="square" lIns="0" tIns="0" rIns="0" bIns="0" rtlCol="0" anchor="ctr"/>
          <a:lstStyle/>
          <a:p>
            <a:pPr marL="0" indent="0">
              <a:buNone/>
            </a:pPr>
            <a:r>
              <a:rPr lang="en-US" sz="1150" dirty="0">
                <a:solidFill>
                  <a:schemeClr val="tx2"/>
                </a:solidFill>
              </a:rPr>
              <a:t>backend tests on every push</a:t>
            </a:r>
            <a:endParaRPr lang="en-US" sz="1150" dirty="0"/>
          </a:p>
        </p:txBody>
      </p:sp>
      <p:sp>
        <p:nvSpPr>
          <p:cNvPr id="33" name="60 stat"/>
          <p:cNvSpPr/>
          <p:nvPr/>
        </p:nvSpPr>
        <p:spPr>
          <a:xfrm>
            <a:off x="6185916" y="3493008"/>
            <a:ext cx="2544318" cy="868680"/>
          </a:xfrm>
          <a:prstGeom prst="roundRect">
            <a:avLst>
              <a:gd name="adj" fmla="val 10526"/>
            </a:avLst>
          </a:prstGeom>
          <a:solidFill>
            <a:schemeClr val="bg1"/>
          </a:solidFill>
          <a:ln w="9525">
            <a:solidFill>
              <a:srgbClr val="E3DFD6"/>
            </a:solidFill>
            <a:prstDash val="solid"/>
          </a:ln>
        </p:spPr>
        <p:txBody>
          <a:bodyPr/>
          <a:p/>
        </p:txBody>
      </p:sp>
      <p:sp>
        <p:nvSpPr>
          <p:cNvPr id="34" name="Text 28"/>
          <p:cNvSpPr txBox="1"/>
          <p:nvPr/>
        </p:nvSpPr>
        <p:spPr>
          <a:xfrm>
            <a:off x="6387084" y="3566160"/>
            <a:ext cx="2178558" cy="438912"/>
          </a:xfrm>
          <a:prstGeom prst="rect">
            <a:avLst/>
          </a:prstGeom>
          <a:noFill/>
        </p:spPr>
        <p:txBody>
          <a:bodyPr wrap="square" lIns="0" tIns="0" rIns="0" bIns="0" rtlCol="0" anchor="ctr"/>
          <a:lstStyle/>
          <a:p>
            <a:pPr marL="0" indent="0">
              <a:buNone/>
            </a:pPr>
            <a:r>
              <a:rPr lang="en-US" sz="2400" b="1" dirty="0">
                <a:solidFill>
                  <a:schemeClr val="tx1"/>
                </a:solidFill>
              </a:rPr>
              <a:t>63</a:t>
            </a:r>
            <a:endParaRPr lang="en-US" sz="2400" dirty="0"/>
          </a:p>
        </p:txBody>
      </p:sp>
      <p:sp>
        <p:nvSpPr>
          <p:cNvPr id="35" name="Text 29"/>
          <p:cNvSpPr txBox="1"/>
          <p:nvPr/>
        </p:nvSpPr>
        <p:spPr>
          <a:xfrm>
            <a:off x="6387084" y="4005072"/>
            <a:ext cx="2178558" cy="274320"/>
          </a:xfrm>
          <a:prstGeom prst="rect">
            <a:avLst/>
          </a:prstGeom>
          <a:noFill/>
        </p:spPr>
        <p:txBody>
          <a:bodyPr wrap="square" lIns="0" tIns="0" rIns="0" bIns="0" rtlCol="0" anchor="ctr"/>
          <a:lstStyle/>
          <a:p>
            <a:pPr marL="0" indent="0">
              <a:buNone/>
            </a:pPr>
            <a:r>
              <a:rPr lang="en-US" sz="1150" dirty="0">
                <a:solidFill>
                  <a:schemeClr val="tx2"/>
                </a:solidFill>
              </a:rPr>
              <a:t>frontend and accessibility tests</a:t>
            </a:r>
            <a:endParaRPr lang="en-US" sz="1150" dirty="0"/>
          </a:p>
        </p:txBody>
      </p:sp>
      <p:sp>
        <p:nvSpPr>
          <p:cNvPr id="36" name="0 stat"/>
          <p:cNvSpPr/>
          <p:nvPr/>
        </p:nvSpPr>
        <p:spPr>
          <a:xfrm>
            <a:off x="8913114" y="3493008"/>
            <a:ext cx="2544318" cy="868680"/>
          </a:xfrm>
          <a:prstGeom prst="roundRect">
            <a:avLst>
              <a:gd name="adj" fmla="val 10526"/>
            </a:avLst>
          </a:prstGeom>
          <a:solidFill>
            <a:schemeClr val="bg1"/>
          </a:solidFill>
          <a:ln w="9525">
            <a:solidFill>
              <a:srgbClr val="E3DFD6"/>
            </a:solidFill>
            <a:prstDash val="solid"/>
          </a:ln>
        </p:spPr>
        <p:txBody>
          <a:bodyPr/>
          <a:p/>
        </p:txBody>
      </p:sp>
      <p:sp>
        <p:nvSpPr>
          <p:cNvPr id="37" name="Text 31"/>
          <p:cNvSpPr txBox="1"/>
          <p:nvPr/>
        </p:nvSpPr>
        <p:spPr>
          <a:xfrm>
            <a:off x="9114282" y="3566160"/>
            <a:ext cx="2178558" cy="438912"/>
          </a:xfrm>
          <a:prstGeom prst="rect">
            <a:avLst/>
          </a:prstGeom>
          <a:noFill/>
        </p:spPr>
        <p:txBody>
          <a:bodyPr wrap="square" lIns="0" tIns="0" rIns="0" bIns="0" rtlCol="0" anchor="ctr"/>
          <a:lstStyle/>
          <a:p>
            <a:pPr marL="0" indent="0">
              <a:buNone/>
            </a:pPr>
            <a:r>
              <a:rPr lang="en-US" sz="2400" b="1" dirty="0">
                <a:solidFill>
                  <a:schemeClr val="tx1"/>
                </a:solidFill>
              </a:rPr>
              <a:t>0</a:t>
            </a:r>
            <a:endParaRPr lang="en-US" sz="2400" dirty="0"/>
          </a:p>
        </p:txBody>
      </p:sp>
      <p:sp>
        <p:nvSpPr>
          <p:cNvPr id="38" name="Text 32"/>
          <p:cNvSpPr txBox="1"/>
          <p:nvPr/>
        </p:nvSpPr>
        <p:spPr>
          <a:xfrm>
            <a:off x="9114282" y="4005072"/>
            <a:ext cx="2178558" cy="274320"/>
          </a:xfrm>
          <a:prstGeom prst="rect">
            <a:avLst/>
          </a:prstGeom>
          <a:noFill/>
        </p:spPr>
        <p:txBody>
          <a:bodyPr wrap="square" lIns="0" tIns="0" rIns="0" bIns="0" rtlCol="0" anchor="ctr"/>
          <a:lstStyle/>
          <a:p>
            <a:pPr marL="0" indent="0">
              <a:buNone/>
            </a:pPr>
            <a:r>
              <a:rPr lang="en-US" sz="1150" dirty="0">
                <a:solidFill>
                  <a:schemeClr val="tx2"/>
                </a:solidFill>
              </a:rPr>
              <a:t>CVs stored</a:t>
            </a:r>
            <a:endParaRPr lang="en-US" sz="1150" dirty="0"/>
          </a:p>
        </p:txBody>
      </p:sp>
      <p:sp>
        <p:nvSpPr>
          <p:cNvPr id="39" name="Close band"/>
          <p:cNvSpPr/>
          <p:nvPr/>
        </p:nvSpPr>
        <p:spPr>
          <a:xfrm>
            <a:off x="731520" y="4544568"/>
            <a:ext cx="10725912" cy="1536192"/>
          </a:xfrm>
          <a:prstGeom prst="roundRect">
            <a:avLst>
              <a:gd name="adj" fmla="val 8929"/>
            </a:avLst>
          </a:prstGeom>
          <a:solidFill>
            <a:schemeClr val="accent4"/>
          </a:solidFill>
        </p:spPr>
        <p:txBody>
          <a:bodyPr/>
          <a:p/>
        </p:txBody>
      </p:sp>
      <p:sp>
        <p:nvSpPr>
          <p:cNvPr id="40" name="Text 34"/>
          <p:cNvSpPr txBox="1"/>
          <p:nvPr/>
        </p:nvSpPr>
        <p:spPr>
          <a:xfrm>
            <a:off x="1097280" y="4636008"/>
            <a:ext cx="6583680" cy="731520"/>
          </a:xfrm>
          <a:prstGeom prst="rect">
            <a:avLst/>
          </a:prstGeom>
          <a:noFill/>
        </p:spPr>
        <p:txBody>
          <a:bodyPr wrap="square" lIns="0" tIns="0" rIns="0" bIns="0" rtlCol="0" anchor="ctr"/>
          <a:lstStyle/>
          <a:p>
            <a:pPr marL="0" indent="0">
              <a:buNone/>
            </a:pPr>
            <a:r>
              <a:rPr lang="en-US" sz="2200" b="1" dirty="0">
                <a:solidFill>
                  <a:schemeClr val="bg1"/>
                </a:solidFill>
              </a:rPr>
              <a:t>See where your career goes</a:t>
            </a:r>
            <a:endParaRPr lang="en-US" sz="2200" dirty="0"/>
          </a:p>
          <a:p>
            <a:pPr marL="0" indent="0">
              <a:buNone/>
            </a:pPr>
            <a:r>
              <a:rPr lang="en-US" sz="2200" b="1" dirty="0">
                <a:solidFill>
                  <a:srgbClr val="D9971F"/>
                </a:solidFill>
              </a:rPr>
              <a:t>before AI changes it.</a:t>
            </a:r>
            <a:endParaRPr lang="en-US" sz="2200" dirty="0"/>
          </a:p>
        </p:txBody>
      </p:sp>
      <p:sp>
        <p:nvSpPr>
          <p:cNvPr id="41" name="SDG 4 tile"/>
          <p:cNvSpPr/>
          <p:nvPr/>
        </p:nvSpPr>
        <p:spPr>
          <a:xfrm>
            <a:off x="1097280" y="5532120"/>
            <a:ext cx="329184" cy="329184"/>
          </a:xfrm>
          <a:prstGeom prst="rect">
            <a:avLst/>
          </a:prstGeom>
          <a:solidFill>
            <a:srgbClr val="C5192D"/>
          </a:solidFill>
        </p:spPr>
        <p:txBody>
          <a:bodyPr/>
          <a:p/>
        </p:txBody>
      </p:sp>
      <p:sp>
        <p:nvSpPr>
          <p:cNvPr id="42" name="Text 36"/>
          <p:cNvSpPr txBox="1"/>
          <p:nvPr/>
        </p:nvSpPr>
        <p:spPr>
          <a:xfrm>
            <a:off x="1097280" y="5532120"/>
            <a:ext cx="329184" cy="329184"/>
          </a:xfrm>
          <a:prstGeom prst="rect">
            <a:avLst/>
          </a:prstGeom>
          <a:noFill/>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43" name="Text 37"/>
          <p:cNvSpPr txBox="1"/>
          <p:nvPr/>
        </p:nvSpPr>
        <p:spPr>
          <a:xfrm>
            <a:off x="1508760" y="5532120"/>
            <a:ext cx="2194560" cy="329184"/>
          </a:xfrm>
          <a:prstGeom prst="rect">
            <a:avLst/>
          </a:prstGeom>
          <a:noFill/>
        </p:spPr>
        <p:txBody>
          <a:bodyPr wrap="square" lIns="0" tIns="0" rIns="0" bIns="0" rtlCol="0" anchor="ctr"/>
          <a:lstStyle/>
          <a:p>
            <a:pPr marL="0" indent="0">
              <a:buNone/>
            </a:pPr>
            <a:r>
              <a:rPr lang="en-US" sz="1100" dirty="0">
                <a:solidFill>
                  <a:srgbClr val="C9D6D3"/>
                </a:solidFill>
              </a:rPr>
              <a:t>SDG 4 · Quality Education</a:t>
            </a:r>
            <a:endParaRPr lang="en-US" sz="1100" dirty="0"/>
          </a:p>
        </p:txBody>
      </p:sp>
      <p:sp>
        <p:nvSpPr>
          <p:cNvPr id="44" name="SDG 8 tile"/>
          <p:cNvSpPr/>
          <p:nvPr/>
        </p:nvSpPr>
        <p:spPr>
          <a:xfrm>
            <a:off x="3749040" y="5532120"/>
            <a:ext cx="329184" cy="329184"/>
          </a:xfrm>
          <a:prstGeom prst="rect">
            <a:avLst/>
          </a:prstGeom>
          <a:solidFill>
            <a:srgbClr val="A21942"/>
          </a:solidFill>
        </p:spPr>
        <p:txBody>
          <a:bodyPr/>
          <a:p/>
        </p:txBody>
      </p:sp>
      <p:sp>
        <p:nvSpPr>
          <p:cNvPr id="45" name="Text 39"/>
          <p:cNvSpPr txBox="1"/>
          <p:nvPr/>
        </p:nvSpPr>
        <p:spPr>
          <a:xfrm>
            <a:off x="3749040" y="5532120"/>
            <a:ext cx="329184" cy="329184"/>
          </a:xfrm>
          <a:prstGeom prst="rect">
            <a:avLst/>
          </a:prstGeom>
          <a:noFill/>
        </p:spPr>
        <p:txBody>
          <a:bodyPr wrap="square" lIns="0" tIns="0" rIns="0" bIns="0" rtlCol="0" anchor="ctr"/>
          <a:lstStyle/>
          <a:p>
            <a:pPr marL="0" indent="0" algn="ctr">
              <a:buNone/>
            </a:pPr>
            <a:r>
              <a:rPr lang="en-US" sz="1300" b="1" dirty="0">
                <a:solidFill>
                  <a:schemeClr val="bg1"/>
                </a:solidFill>
              </a:rPr>
              <a:t>8</a:t>
            </a:r>
            <a:endParaRPr lang="en-US" sz="1300" dirty="0"/>
          </a:p>
        </p:txBody>
      </p:sp>
      <p:sp>
        <p:nvSpPr>
          <p:cNvPr id="46" name="Text 40"/>
          <p:cNvSpPr txBox="1"/>
          <p:nvPr/>
        </p:nvSpPr>
        <p:spPr>
          <a:xfrm>
            <a:off x="4160520" y="5532120"/>
            <a:ext cx="2194560" cy="329184"/>
          </a:xfrm>
          <a:prstGeom prst="rect">
            <a:avLst/>
          </a:prstGeom>
          <a:noFill/>
        </p:spPr>
        <p:txBody>
          <a:bodyPr wrap="square" lIns="0" tIns="0" rIns="0" bIns="0" rtlCol="0" anchor="ctr"/>
          <a:lstStyle/>
          <a:p>
            <a:pPr marL="0" indent="0">
              <a:buNone/>
            </a:pPr>
            <a:r>
              <a:rPr lang="en-US" sz="1100" dirty="0">
                <a:solidFill>
                  <a:srgbClr val="C9D6D3"/>
                </a:solidFill>
              </a:rPr>
              <a:t>SDG 8 · Decent Work</a:t>
            </a:r>
            <a:endParaRPr lang="en-US" sz="1100" dirty="0"/>
          </a:p>
        </p:txBody>
      </p:sp>
      <p:sp>
        <p:nvSpPr>
          <p:cNvPr id="47" name="Demo button"/>
          <p:cNvSpPr/>
          <p:nvPr/>
        </p:nvSpPr>
        <p:spPr>
          <a:xfrm>
            <a:off x="8183880" y="4773168"/>
            <a:ext cx="2971800" cy="530352"/>
          </a:xfrm>
          <a:prstGeom prst="roundRect">
            <a:avLst>
              <a:gd name="adj" fmla="val 17241"/>
            </a:avLst>
          </a:prstGeom>
          <a:solidFill>
            <a:schemeClr val="bg1"/>
          </a:solidFill>
        </p:spPr>
        <p:txBody>
          <a:bodyPr/>
          <a:p/>
        </p:txBody>
      </p:sp>
      <p:sp>
        <p:nvSpPr>
          <p:cNvPr id="48" name="Text 42">
            <a:hlinkClick r:id="rId5"/>
          </p:cNvPr>
          <p:cNvSpPr txBox="1"/>
          <p:nvPr/>
        </p:nvSpPr>
        <p:spPr>
          <a:xfrm>
            <a:off x="8183880" y="4773168"/>
            <a:ext cx="2971800" cy="530352"/>
          </a:xfrm>
          <a:prstGeom prst="rect">
            <a:avLst/>
          </a:prstGeom>
          <a:noFill/>
        </p:spPr>
        <p:txBody>
          <a:bodyPr wrap="square" lIns="0" tIns="0" rIns="0" bIns="0" rtlCol="0" anchor="ctr"/>
          <a:lstStyle/>
          <a:p>
            <a:pPr marL="0" indent="0" algn="ctr">
              <a:buNone/>
            </a:pPr>
            <a:r>
              <a:rPr lang="en-US" sz="1500" b="1" u="sng" dirty="0">
                <a:solidFill>
                  <a:schemeClr val="tx1"/>
                </a:solidFill>
              </a:rPr>
              <a:t>Open the demo profile</a:t>
            </a:r>
            <a:endParaRPr lang="en-US" sz="1500" dirty="0"/>
          </a:p>
        </p:txBody>
      </p:sp>
      <p:sp>
        <p:nvSpPr>
          <p:cNvPr id="49" name="Text 43">
            <a:hlinkClick r:id="rId6"/>
          </p:cNvPr>
          <p:cNvSpPr txBox="1"/>
          <p:nvPr/>
        </p:nvSpPr>
        <p:spPr>
          <a:xfrm>
            <a:off x="8183880" y="5376672"/>
            <a:ext cx="2971800" cy="274320"/>
          </a:xfrm>
          <a:prstGeom prst="rect">
            <a:avLst/>
          </a:prstGeom>
          <a:noFill/>
        </p:spPr>
        <p:txBody>
          <a:bodyPr wrap="square" lIns="0" tIns="0" rIns="0" bIns="0" rtlCol="0" anchor="ctr"/>
          <a:lstStyle/>
          <a:p>
            <a:pPr marL="0" indent="0" algn="ctr">
              <a:buNone/>
            </a:pPr>
            <a:r>
              <a:rPr lang="en-US" sz="1300" u="sng" dirty="0">
                <a:solidFill>
                  <a:srgbClr val="C9D6D3"/>
                </a:solidFill>
              </a:rPr>
              <a:t>laluan-psi.vercel.app</a:t>
            </a:r>
            <a:endParaRPr lang="en-US" sz="1300" dirty="0"/>
          </a:p>
        </p:txBody>
      </p:sp>
      <p:sp>
        <p:nvSpPr>
          <p:cNvPr id="50" name="Text 44">
            <a:hlinkClick r:id="rId7"/>
          </p:cNvPr>
          <p:cNvSpPr txBox="1"/>
          <p:nvPr/>
        </p:nvSpPr>
        <p:spPr>
          <a:xfrm>
            <a:off x="6126480" y="5669280"/>
            <a:ext cx="5257800" cy="274320"/>
          </a:xfrm>
          <a:prstGeom prst="rect">
            <a:avLst/>
          </a:prstGeom>
          <a:noFill/>
        </p:spPr>
        <p:txBody>
          <a:bodyPr wrap="square" lIns="0" tIns="0" rIns="0" bIns="0" rtlCol="0" anchor="ctr"/>
          <a:lstStyle/>
          <a:p>
            <a:pPr marL="0" indent="0" algn="ctr">
              <a:buNone/>
            </a:pPr>
            <a:r>
              <a:rPr lang="en-US" sz="950" u="sng" dirty="0">
                <a:solidFill>
                  <a:srgbClr val="C9D6D3"/>
                </a:solidFill>
              </a:rPr>
              <a:t>github.com/tanhongsheng050204-code/SDC-HACKATHON-2026-XMUM---Made-In-UTM</a:t>
            </a:r>
            <a:endParaRPr lang="en-US" sz="9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Clerical work shrinks; AI-adjacent work grows</a:t>
            </a:r>
          </a:p>
        </p:txBody>
      </p:sp>
      <p:sp>
        <p:nvSpPr>
          <p:cNvPr id="3" name="TextBox 2"/>
          <p:cNvSpPr txBox="1"/>
          <p:nvPr/>
        </p:nvSpPr>
        <p:spPr>
          <a:xfrm>
            <a:off x="731520" y="457200"/>
            <a:ext cx="1220724" cy="329184"/>
          </a:xfrm>
          <a:prstGeom prst="rect">
            <a:avLst/>
          </a:prstGeom>
          <a:noFill/>
        </p:spPr>
        <p:txBody>
          <a:bodyPr wrap="square" lIns="0" rIns="0" tIns="0" bIns="0" anchor="ctr">
            <a:spAutoFit/>
          </a:bodyPr>
          <a:lstStyle/>
          <a:p>
            <a:pPr algn="l"/>
            <a:r>
              <a:rPr sz="1300" b="1" spc="150">
                <a:solidFill>
                  <a:schemeClr val="accent1"/>
                </a:solidFill>
              </a:rPr>
              <a:t>WHY NOW</a:t>
            </a:r>
          </a:p>
        </p:txBody>
      </p:sp>
      <p:sp>
        <p:nvSpPr>
          <p:cNvPr id="4" name="Problem-Solution Fit · 25% pill"/>
          <p:cNvSpPr/>
          <p:nvPr/>
        </p:nvSpPr>
        <p:spPr>
          <a:xfrm>
            <a:off x="2043684" y="457200"/>
            <a:ext cx="251460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043684" y="457200"/>
            <a:ext cx="2514600" cy="329184"/>
          </a:xfrm>
          <a:prstGeom prst="rect">
            <a:avLst/>
          </a:prstGeom>
          <a:noFill/>
        </p:spPr>
        <p:txBody>
          <a:bodyPr wrap="square" lIns="0" rIns="0" tIns="0" bIns="0" anchor="ctr">
            <a:spAutoFit/>
          </a:bodyPr>
          <a:lstStyle/>
          <a:p>
            <a:pPr algn="ctr"/>
            <a:r>
              <a:rPr sz="1200" b="1">
                <a:solidFill>
                  <a:schemeClr val="accent1"/>
                </a:solidFill>
              </a:rPr>
              <a:t>Problem-Solution Fit · 25%</a:t>
            </a:r>
          </a:p>
        </p:txBody>
      </p:sp>
      <p:sp>
        <p:nvSpPr>
          <p:cNvPr id="6" name="Rounded Rectangle 5"/>
          <p:cNvSpPr/>
          <p:nvPr/>
        </p:nvSpPr>
        <p:spPr>
          <a:xfrm>
            <a:off x="8837676" y="457200"/>
            <a:ext cx="2619756" cy="329184"/>
          </a:xfrm>
          <a:prstGeom prst="roundRect">
            <a:avLst>
              <a:gd name="adj" fmla="val 50000"/>
            </a:avLst>
          </a:prstGeom>
          <a:solidFill>
            <a:schemeClr val="bg1"/>
          </a:solidFill>
          <a:ln w="9525">
            <a:solidFill>
              <a:srgbClr val="E3DFD6"/>
            </a:solidFill>
          </a:ln>
        </p:spPr>
        <p:txBody>
          <a:bodyPr rtlCol="0" anchor="ctr"/>
          <a:lstStyle/>
          <a:p>
            <a:pPr algn="ctr"/>
          </a:p>
        </p:txBody>
      </p:sp>
      <p:sp>
        <p:nvSpPr>
          <p:cNvPr id="7" name="TextBox 6"/>
          <p:cNvSpPr txBox="1"/>
          <p:nvPr/>
        </p:nvSpPr>
        <p:spPr>
          <a:xfrm>
            <a:off x="8837676" y="457200"/>
            <a:ext cx="2619756" cy="329184"/>
          </a:xfrm>
          <a:prstGeom prst="rect">
            <a:avLst/>
          </a:prstGeom>
          <a:noFill/>
        </p:spPr>
        <p:txBody>
          <a:bodyPr wrap="square" lIns="0" rIns="0" tIns="0" bIns="0" anchor="ctr">
            <a:spAutoFit/>
          </a:bodyPr>
          <a:lstStyle/>
          <a:p>
            <a:pPr algn="ctr"/>
            <a:r>
              <a:rPr sz="1100" b="0">
                <a:solidFill>
                  <a:schemeClr val="tx2"/>
                </a:solidFill>
              </a:rPr>
              <a:t>Laluan forecast · 23 Oct 2026</a:t>
            </a:r>
          </a:p>
        </p:txBody>
      </p:sp>
      <p:sp>
        <p:nvSpPr>
          <p:cNvPr id="8" name="TextBox 7"/>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03 / 17</a:t>
            </a:r>
          </a:p>
        </p:txBody>
      </p:sp>
      <p:graphicFrame>
        <p:nvGraphicFramePr>
          <p:cNvPr id="9" name="Outlook by role, baseline, 2030"/>
          <p:cNvGraphicFramePr>
            <a:graphicFrameLocks noGrp="1"/>
          </p:cNvGraphicFramePr>
          <p:nvPr/>
        </p:nvGraphicFramePr>
        <p:xfrm>
          <a:off x="731520" y="1783080"/>
          <a:ext cx="6949440" cy="3977639"/>
        </p:xfrm>
        <a:graphic>
          <a:graphicData uri="http://schemas.openxmlformats.org/drawingml/2006/chart">
            <c:chart xmlns:c="http://schemas.openxmlformats.org/drawingml/2006/chart" r:id="rId3"/>
          </a:graphicData>
        </a:graphic>
      </p:graphicFrame>
      <p:sp>
        <p:nvSpPr>
          <p:cNvPr id="10" name="Rounded Rectangle 9"/>
          <p:cNvSpPr/>
          <p:nvPr/>
        </p:nvSpPr>
        <p:spPr>
          <a:xfrm>
            <a:off x="8001000" y="1783080"/>
            <a:ext cx="3456432" cy="1207008"/>
          </a:xfrm>
          <a:prstGeom prst="roundRect">
            <a:avLst>
              <a:gd name="adj" fmla="val 6000"/>
            </a:avLst>
          </a:prstGeom>
          <a:solidFill>
            <a:schemeClr val="bg1"/>
          </a:solidFill>
          <a:ln w="9525">
            <a:solidFill>
              <a:srgbClr val="E3DFD6"/>
            </a:solidFill>
          </a:ln>
        </p:spPr>
        <p:txBody>
          <a:bodyPr rtlCol="0" anchor="ctr"/>
          <a:lstStyle/>
          <a:p>
            <a:pPr algn="ctr"/>
          </a:p>
        </p:txBody>
      </p:sp>
      <p:sp>
        <p:nvSpPr>
          <p:cNvPr id="11" name="TextBox 10"/>
          <p:cNvSpPr txBox="1"/>
          <p:nvPr/>
        </p:nvSpPr>
        <p:spPr>
          <a:xfrm>
            <a:off x="8229600" y="1911095"/>
            <a:ext cx="1417320" cy="548640"/>
          </a:xfrm>
          <a:prstGeom prst="rect">
            <a:avLst/>
          </a:prstGeom>
          <a:noFill/>
        </p:spPr>
        <p:txBody>
          <a:bodyPr wrap="square" lIns="0" rIns="0" tIns="0" bIns="0" anchor="ctr">
            <a:spAutoFit/>
          </a:bodyPr>
          <a:lstStyle/>
          <a:p>
            <a:pPr algn="l"/>
            <a:r>
              <a:rPr sz="3000" b="1">
                <a:solidFill>
                  <a:schemeClr val="tx1"/>
                </a:solidFill>
              </a:rPr>
              <a:t>22%</a:t>
            </a:r>
          </a:p>
        </p:txBody>
      </p:sp>
      <p:sp>
        <p:nvSpPr>
          <p:cNvPr id="12" name="TextBox 11"/>
          <p:cNvSpPr txBox="1"/>
          <p:nvPr/>
        </p:nvSpPr>
        <p:spPr>
          <a:xfrm>
            <a:off x="9692640" y="1938528"/>
            <a:ext cx="1645920" cy="502920"/>
          </a:xfrm>
          <a:prstGeom prst="rect">
            <a:avLst/>
          </a:prstGeom>
          <a:noFill/>
        </p:spPr>
        <p:txBody>
          <a:bodyPr wrap="square" lIns="0" rIns="0" tIns="0" bIns="0" anchor="ctr">
            <a:spAutoFit/>
          </a:bodyPr>
          <a:lstStyle/>
          <a:p>
            <a:pPr algn="l"/>
            <a:r>
              <a:rPr sz="1250" b="1">
                <a:solidFill>
                  <a:schemeClr val="tx1"/>
                </a:solidFill>
              </a:rPr>
              <a:t>of formal jobs churn by 2030</a:t>
            </a:r>
          </a:p>
        </p:txBody>
      </p:sp>
      <p:sp>
        <p:nvSpPr>
          <p:cNvPr id="13" name="TextBox 12"/>
          <p:cNvSpPr txBox="1"/>
          <p:nvPr/>
        </p:nvSpPr>
        <p:spPr>
          <a:xfrm>
            <a:off x="8229600" y="2496312"/>
            <a:ext cx="3017520" cy="438912"/>
          </a:xfrm>
          <a:prstGeom prst="rect">
            <a:avLst/>
          </a:prstGeom>
          <a:noFill/>
        </p:spPr>
        <p:txBody>
          <a:bodyPr wrap="square" lIns="0" rIns="0" tIns="0" bIns="0" anchor="t">
            <a:spAutoFit/>
          </a:bodyPr>
          <a:lstStyle/>
          <a:p>
            <a:pPr algn="l"/>
            <a:r>
              <a:rPr sz="1150" b="0">
                <a:solidFill>
                  <a:schemeClr val="tx2"/>
                </a:solidFill>
              </a:rPr>
              <a:t>170 million created and 92 million displaced worldwide (WEF).</a:t>
            </a:r>
          </a:p>
        </p:txBody>
      </p:sp>
      <p:sp>
        <p:nvSpPr>
          <p:cNvPr id="14" name="Rounded Rectangle 13"/>
          <p:cNvSpPr/>
          <p:nvPr/>
        </p:nvSpPr>
        <p:spPr>
          <a:xfrm>
            <a:off x="8001000" y="3127248"/>
            <a:ext cx="3456432" cy="1207008"/>
          </a:xfrm>
          <a:prstGeom prst="roundRect">
            <a:avLst>
              <a:gd name="adj" fmla="val 6000"/>
            </a:avLst>
          </a:prstGeom>
          <a:solidFill>
            <a:schemeClr val="bg1"/>
          </a:solidFill>
          <a:ln w="9525">
            <a:solidFill>
              <a:srgbClr val="E3DFD6"/>
            </a:solidFill>
          </a:ln>
        </p:spPr>
        <p:txBody>
          <a:bodyPr rtlCol="0" anchor="ctr"/>
          <a:lstStyle/>
          <a:p>
            <a:pPr algn="ctr"/>
          </a:p>
        </p:txBody>
      </p:sp>
      <p:sp>
        <p:nvSpPr>
          <p:cNvPr id="15" name="TextBox 14"/>
          <p:cNvSpPr txBox="1"/>
          <p:nvPr/>
        </p:nvSpPr>
        <p:spPr>
          <a:xfrm>
            <a:off x="8229600" y="3255264"/>
            <a:ext cx="1417320" cy="548640"/>
          </a:xfrm>
          <a:prstGeom prst="rect">
            <a:avLst/>
          </a:prstGeom>
          <a:noFill/>
        </p:spPr>
        <p:txBody>
          <a:bodyPr wrap="square" lIns="0" rIns="0" tIns="0" bIns="0" anchor="ctr">
            <a:spAutoFit/>
          </a:bodyPr>
          <a:lstStyle/>
          <a:p>
            <a:pPr algn="l"/>
            <a:r>
              <a:rPr sz="3000" b="1">
                <a:solidFill>
                  <a:schemeClr val="tx1"/>
                </a:solidFill>
              </a:rPr>
              <a:t>600K+</a:t>
            </a:r>
          </a:p>
        </p:txBody>
      </p:sp>
      <p:sp>
        <p:nvSpPr>
          <p:cNvPr id="16" name="TextBox 15"/>
          <p:cNvSpPr txBox="1"/>
          <p:nvPr/>
        </p:nvSpPr>
        <p:spPr>
          <a:xfrm>
            <a:off x="9692640" y="3282696"/>
            <a:ext cx="1645920" cy="502920"/>
          </a:xfrm>
          <a:prstGeom prst="rect">
            <a:avLst/>
          </a:prstGeom>
          <a:noFill/>
        </p:spPr>
        <p:txBody>
          <a:bodyPr wrap="square" lIns="0" rIns="0" tIns="0" bIns="0" anchor="ctr">
            <a:spAutoFit/>
          </a:bodyPr>
          <a:lstStyle/>
          <a:p>
            <a:pPr algn="l"/>
            <a:r>
              <a:rPr sz="1250" b="1">
                <a:solidFill>
                  <a:schemeClr val="tx1"/>
                </a:solidFill>
              </a:rPr>
              <a:t>Malaysian workers to reskill</a:t>
            </a:r>
          </a:p>
        </p:txBody>
      </p:sp>
      <p:sp>
        <p:nvSpPr>
          <p:cNvPr id="17" name="TextBox 16"/>
          <p:cNvSpPr txBox="1"/>
          <p:nvPr/>
        </p:nvSpPr>
        <p:spPr>
          <a:xfrm>
            <a:off x="8229600" y="3840480"/>
            <a:ext cx="3017520" cy="438912"/>
          </a:xfrm>
          <a:prstGeom prst="rect">
            <a:avLst/>
          </a:prstGeom>
          <a:noFill/>
        </p:spPr>
        <p:txBody>
          <a:bodyPr wrap="square" lIns="0" rIns="0" tIns="0" bIns="0" anchor="t">
            <a:spAutoFit/>
          </a:bodyPr>
          <a:lstStyle/>
          <a:p>
            <a:pPr algn="l"/>
            <a:r>
              <a:rPr sz="1150" b="0">
                <a:solidFill>
                  <a:schemeClr val="tx2"/>
                </a:solidFill>
              </a:rPr>
              <a:t>within three to five years, says MOSTI. Most have little time or budget.</a:t>
            </a:r>
          </a:p>
        </p:txBody>
      </p:sp>
      <p:sp>
        <p:nvSpPr>
          <p:cNvPr id="18" name="band"/>
          <p:cNvSpPr/>
          <p:nvPr/>
        </p:nvSpPr>
        <p:spPr>
          <a:xfrm>
            <a:off x="8001000" y="4471416"/>
            <a:ext cx="3456432" cy="1289304"/>
          </a:xfrm>
          <a:prstGeom prst="roundRect">
            <a:avLst>
              <a:gd name="adj" fmla="val 8000"/>
            </a:avLst>
          </a:prstGeom>
          <a:solidFill>
            <a:schemeClr val="accent4"/>
          </a:solidFill>
          <a:ln>
            <a:noFill/>
          </a:ln>
        </p:spPr>
        <p:txBody>
          <a:bodyPr rtlCol="0" anchor="ctr"/>
          <a:lstStyle/>
          <a:p>
            <a:pPr algn="ctr"/>
          </a:p>
        </p:txBody>
      </p:sp>
      <p:sp>
        <p:nvSpPr>
          <p:cNvPr id="19" name="TextBox 18"/>
          <p:cNvSpPr txBox="1"/>
          <p:nvPr/>
        </p:nvSpPr>
        <p:spPr>
          <a:xfrm>
            <a:off x="8229600" y="4572000"/>
            <a:ext cx="3017520" cy="256032"/>
          </a:xfrm>
          <a:prstGeom prst="rect">
            <a:avLst/>
          </a:prstGeom>
          <a:noFill/>
        </p:spPr>
        <p:txBody>
          <a:bodyPr wrap="square" lIns="0" rIns="0" tIns="0" bIns="0" anchor="t">
            <a:spAutoFit/>
          </a:bodyPr>
          <a:lstStyle/>
          <a:p>
            <a:pPr algn="l"/>
            <a:r>
              <a:rPr sz="1100" b="1" spc="100">
                <a:solidFill>
                  <a:srgbClr val="D9971F"/>
                </a:solidFill>
              </a:rPr>
              <a:t>WHO WE BUILD FOR FIRST</a:t>
            </a:r>
          </a:p>
        </p:txBody>
      </p:sp>
      <p:sp>
        <p:nvSpPr>
          <p:cNvPr id="20" name="TextBox 19"/>
          <p:cNvSpPr txBox="1"/>
          <p:nvPr/>
        </p:nvSpPr>
        <p:spPr>
          <a:xfrm>
            <a:off x="8229600" y="4846320"/>
            <a:ext cx="3063240" cy="868680"/>
          </a:xfrm>
          <a:prstGeom prst="rect">
            <a:avLst/>
          </a:prstGeom>
          <a:noFill/>
        </p:spPr>
        <p:txBody>
          <a:bodyPr wrap="square" lIns="0" rIns="0" tIns="0" bIns="0" anchor="t">
            <a:spAutoFit/>
          </a:bodyPr>
          <a:lstStyle/>
          <a:p>
            <a:pPr algn="l"/>
            <a:r>
              <a:rPr sz="1200" b="0">
                <a:solidFill>
                  <a:schemeClr val="bg1"/>
                </a:solidFill>
              </a:rPr>
              <a:t>Clerks and service staff facing AI tools, graduates choosing a first job, and the HR teams and career centres advising them.</a:t>
            </a:r>
          </a:p>
        </p:txBody>
      </p:sp>
      <p:sp>
        <p:nvSpPr>
          <p:cNvPr id="21" name="TextBox 20"/>
          <p:cNvSpPr txBox="1"/>
          <p:nvPr/>
        </p:nvSpPr>
        <p:spPr>
          <a:xfrm>
            <a:off x="731520" y="5897880"/>
            <a:ext cx="10725912" cy="274320"/>
          </a:xfrm>
          <a:prstGeom prst="rect">
            <a:avLst/>
          </a:prstGeom>
          <a:noFill/>
        </p:spPr>
        <p:txBody>
          <a:bodyPr wrap="square" lIns="0" rIns="0" tIns="0" bIns="0" anchor="ctr">
            <a:spAutoFit/>
          </a:bodyPr>
          <a:lstStyle/>
          <a:p>
            <a:pPr algn="l"/>
            <a:r>
              <a:rPr sz="1100" b="0">
                <a:solidFill>
                  <a:schemeClr val="tx2"/>
                </a:solidFill>
              </a:rPr>
              <a:t>Bars: Laluan's 2030 baseline outlook (WEF 2025 Fig. 2.3 adjusted by Malaysian signals, snapshot 23 Oct 2026). Cards: WEF 2025 Fig. 2.1 · MOSTI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Built for SDG 4 and SDG 8, with a reason each</a:t>
            </a:r>
          </a:p>
        </p:txBody>
      </p:sp>
      <p:sp>
        <p:nvSpPr>
          <p:cNvPr id="3" name="TextBox 2"/>
          <p:cNvSpPr txBox="1"/>
          <p:nvPr/>
        </p:nvSpPr>
        <p:spPr>
          <a:xfrm>
            <a:off x="731520" y="457200"/>
            <a:ext cx="1645920" cy="329184"/>
          </a:xfrm>
          <a:prstGeom prst="rect">
            <a:avLst/>
          </a:prstGeom>
          <a:noFill/>
        </p:spPr>
        <p:txBody>
          <a:bodyPr wrap="square" lIns="0" rIns="0" tIns="0" bIns="0" anchor="ctr">
            <a:spAutoFit/>
          </a:bodyPr>
          <a:lstStyle/>
          <a:p>
            <a:pPr algn="l"/>
            <a:r>
              <a:rPr sz="1300" b="1" spc="150">
                <a:solidFill>
                  <a:schemeClr val="accent1"/>
                </a:solidFill>
              </a:rPr>
              <a:t>SDG IMPACT</a:t>
            </a:r>
          </a:p>
        </p:txBody>
      </p:sp>
      <p:sp>
        <p:nvSpPr>
          <p:cNvPr id="4" name="SDG 4 · SDG 8 · Impact pill"/>
          <p:cNvSpPr/>
          <p:nvPr/>
        </p:nvSpPr>
        <p:spPr>
          <a:xfrm>
            <a:off x="2468880" y="457200"/>
            <a:ext cx="237744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468880" y="457200"/>
            <a:ext cx="2377440" cy="329184"/>
          </a:xfrm>
          <a:prstGeom prst="rect">
            <a:avLst/>
          </a:prstGeom>
          <a:noFill/>
        </p:spPr>
        <p:txBody>
          <a:bodyPr wrap="square" lIns="0" rIns="0" tIns="0" bIns="0" anchor="ctr">
            <a:spAutoFit/>
          </a:bodyPr>
          <a:lstStyle/>
          <a:p>
            <a:pPr algn="ctr"/>
            <a:r>
              <a:rPr sz="1200" b="1">
                <a:solidFill>
                  <a:schemeClr val="accent1"/>
                </a:solidFill>
              </a:rPr>
              <a:t>SDG 4 · SDG 8 · Impact</a:t>
            </a:r>
          </a:p>
        </p:txBody>
      </p:sp>
      <p:sp>
        <p:nvSpPr>
          <p:cNvPr id="6" name="TextBox 5"/>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06 / 17</a:t>
            </a:r>
          </a:p>
        </p:txBody>
      </p:sp>
      <p:sp>
        <p:nvSpPr>
          <p:cNvPr id="7" name="Rounded Rectangle 6"/>
          <p:cNvSpPr/>
          <p:nvPr/>
        </p:nvSpPr>
        <p:spPr>
          <a:xfrm>
            <a:off x="731520" y="1783080"/>
            <a:ext cx="3886200" cy="1691640"/>
          </a:xfrm>
          <a:prstGeom prst="roundRect">
            <a:avLst>
              <a:gd name="adj" fmla="val 5000"/>
            </a:avLst>
          </a:prstGeom>
          <a:solidFill>
            <a:schemeClr val="bg1"/>
          </a:solidFill>
          <a:ln w="9525">
            <a:solidFill>
              <a:srgbClr val="E3DFD6"/>
            </a:solidFill>
          </a:ln>
        </p:spPr>
        <p:txBody>
          <a:bodyPr rtlCol="0" anchor="ctr"/>
          <a:lstStyle/>
          <a:p>
            <a:pPr algn="ctr"/>
          </a:p>
        </p:txBody>
      </p:sp>
      <p:sp>
        <p:nvSpPr>
          <p:cNvPr id="8" name="SDG 4 tile"/>
          <p:cNvSpPr/>
          <p:nvPr/>
        </p:nvSpPr>
        <p:spPr>
          <a:xfrm>
            <a:off x="932688" y="1984248"/>
            <a:ext cx="658368" cy="658368"/>
          </a:xfrm>
          <a:prstGeom prst="rect">
            <a:avLst/>
          </a:prstGeom>
          <a:solidFill>
            <a:srgbClr val="C5192D"/>
          </a:solidFill>
          <a:ln>
            <a:noFill/>
          </a:ln>
        </p:spPr>
        <p:txBody>
          <a:bodyPr rtlCol="0" anchor="ctr"/>
          <a:lstStyle/>
          <a:p>
            <a:pPr algn="ctr"/>
          </a:p>
        </p:txBody>
      </p:sp>
      <p:sp>
        <p:nvSpPr>
          <p:cNvPr id="9" name="TextBox 8"/>
          <p:cNvSpPr txBox="1"/>
          <p:nvPr/>
        </p:nvSpPr>
        <p:spPr>
          <a:xfrm>
            <a:off x="932688" y="1984248"/>
            <a:ext cx="658368" cy="658368"/>
          </a:xfrm>
          <a:prstGeom prst="rect">
            <a:avLst/>
          </a:prstGeom>
          <a:noFill/>
        </p:spPr>
        <p:txBody>
          <a:bodyPr wrap="square" lIns="0" rIns="0" tIns="0" bIns="0" anchor="ctr">
            <a:spAutoFit/>
          </a:bodyPr>
          <a:lstStyle/>
          <a:p>
            <a:pPr algn="ctr"/>
            <a:r>
              <a:rPr sz="2400" b="1">
                <a:solidFill>
                  <a:schemeClr val="bg1"/>
                </a:solidFill>
              </a:rPr>
              <a:t>4</a:t>
            </a:r>
          </a:p>
        </p:txBody>
      </p:sp>
      <p:sp>
        <p:nvSpPr>
          <p:cNvPr id="10" name="TextBox 9"/>
          <p:cNvSpPr txBox="1"/>
          <p:nvPr/>
        </p:nvSpPr>
        <p:spPr>
          <a:xfrm>
            <a:off x="1737360" y="1984248"/>
            <a:ext cx="2743200" cy="658368"/>
          </a:xfrm>
          <a:prstGeom prst="rect">
            <a:avLst/>
          </a:prstGeom>
          <a:noFill/>
        </p:spPr>
        <p:txBody>
          <a:bodyPr wrap="square" lIns="0" rIns="0" tIns="0" bIns="0" anchor="ctr">
            <a:spAutoFit/>
          </a:bodyPr>
          <a:lstStyle/>
          <a:p>
            <a:pPr algn="l"/>
            <a:r>
              <a:rPr sz="1200" b="1">
                <a:solidFill>
                  <a:srgbClr val="C5192D"/>
                </a:solidFill>
              </a:rPr>
              <a:t>SDG 4</a:t>
            </a:r>
          </a:p>
          <a:p>
            <a:pPr algn="l"/>
            <a:r>
              <a:rPr sz="1500" b="1">
                <a:solidFill>
                  <a:schemeClr val="tx1"/>
                </a:solidFill>
              </a:rPr>
              <a:t>Quality Education</a:t>
            </a:r>
          </a:p>
        </p:txBody>
      </p:sp>
      <p:sp>
        <p:nvSpPr>
          <p:cNvPr id="11" name="TextBox 10"/>
          <p:cNvSpPr txBox="1"/>
          <p:nvPr/>
        </p:nvSpPr>
        <p:spPr>
          <a:xfrm>
            <a:off x="932688" y="2770632"/>
            <a:ext cx="3566160" cy="274320"/>
          </a:xfrm>
          <a:prstGeom prst="rect">
            <a:avLst/>
          </a:prstGeom>
          <a:noFill/>
        </p:spPr>
        <p:txBody>
          <a:bodyPr wrap="square" lIns="0" rIns="0" tIns="0" bIns="0" anchor="t">
            <a:spAutoFit/>
          </a:bodyPr>
          <a:lstStyle/>
          <a:p>
            <a:pPr algn="l"/>
            <a:r>
              <a:rPr sz="1200" b="1">
                <a:solidFill>
                  <a:schemeClr val="tx1"/>
                </a:solidFill>
              </a:rPr>
              <a:t>4.4  </a:t>
            </a:r>
            <a:r>
              <a:rPr sz="1200" b="0">
                <a:solidFill>
                  <a:schemeClr val="tx2"/>
                </a:solidFill>
              </a:rPr>
              <a:t>Relevant skills for decent jobs</a:t>
            </a:r>
          </a:p>
        </p:txBody>
      </p:sp>
      <p:sp>
        <p:nvSpPr>
          <p:cNvPr id="12" name="TextBox 11"/>
          <p:cNvSpPr txBox="1"/>
          <p:nvPr/>
        </p:nvSpPr>
        <p:spPr>
          <a:xfrm>
            <a:off x="932688" y="3072384"/>
            <a:ext cx="3566160" cy="274320"/>
          </a:xfrm>
          <a:prstGeom prst="rect">
            <a:avLst/>
          </a:prstGeom>
          <a:noFill/>
        </p:spPr>
        <p:txBody>
          <a:bodyPr wrap="square" lIns="0" rIns="0" tIns="0" bIns="0" anchor="t">
            <a:spAutoFit/>
          </a:bodyPr>
          <a:lstStyle/>
          <a:p>
            <a:pPr algn="l"/>
            <a:r>
              <a:rPr sz="1200" b="1">
                <a:solidFill>
                  <a:schemeClr val="tx1"/>
                </a:solidFill>
              </a:rPr>
              <a:t>4.3  </a:t>
            </a:r>
            <a:r>
              <a:rPr sz="1200" b="0">
                <a:solidFill>
                  <a:schemeClr val="tx2"/>
                </a:solidFill>
              </a:rPr>
              <a:t>Affordable technical and vocational learning</a:t>
            </a:r>
          </a:p>
        </p:txBody>
      </p:sp>
      <p:sp>
        <p:nvSpPr>
          <p:cNvPr id="13" name="Rounded Rectangle 12"/>
          <p:cNvSpPr/>
          <p:nvPr/>
        </p:nvSpPr>
        <p:spPr>
          <a:xfrm>
            <a:off x="731520" y="3657600"/>
            <a:ext cx="3886200" cy="1691640"/>
          </a:xfrm>
          <a:prstGeom prst="roundRect">
            <a:avLst>
              <a:gd name="adj" fmla="val 5000"/>
            </a:avLst>
          </a:prstGeom>
          <a:solidFill>
            <a:schemeClr val="bg1"/>
          </a:solidFill>
          <a:ln w="9525">
            <a:solidFill>
              <a:srgbClr val="E3DFD6"/>
            </a:solidFill>
          </a:ln>
        </p:spPr>
        <p:txBody>
          <a:bodyPr rtlCol="0" anchor="ctr"/>
          <a:lstStyle/>
          <a:p>
            <a:pPr algn="ctr"/>
          </a:p>
        </p:txBody>
      </p:sp>
      <p:sp>
        <p:nvSpPr>
          <p:cNvPr id="14" name="SDG 8 tile"/>
          <p:cNvSpPr/>
          <p:nvPr/>
        </p:nvSpPr>
        <p:spPr>
          <a:xfrm>
            <a:off x="932688" y="3858768"/>
            <a:ext cx="658368" cy="658368"/>
          </a:xfrm>
          <a:prstGeom prst="rect">
            <a:avLst/>
          </a:prstGeom>
          <a:solidFill>
            <a:srgbClr val="A21942"/>
          </a:solidFill>
          <a:ln>
            <a:noFill/>
          </a:ln>
        </p:spPr>
        <p:txBody>
          <a:bodyPr rtlCol="0" anchor="ctr"/>
          <a:lstStyle/>
          <a:p>
            <a:pPr algn="ctr"/>
          </a:p>
        </p:txBody>
      </p:sp>
      <p:sp>
        <p:nvSpPr>
          <p:cNvPr id="15" name="TextBox 14"/>
          <p:cNvSpPr txBox="1"/>
          <p:nvPr/>
        </p:nvSpPr>
        <p:spPr>
          <a:xfrm>
            <a:off x="932688" y="3858768"/>
            <a:ext cx="658368" cy="658368"/>
          </a:xfrm>
          <a:prstGeom prst="rect">
            <a:avLst/>
          </a:prstGeom>
          <a:noFill/>
        </p:spPr>
        <p:txBody>
          <a:bodyPr wrap="square" lIns="0" rIns="0" tIns="0" bIns="0" anchor="ctr">
            <a:spAutoFit/>
          </a:bodyPr>
          <a:lstStyle/>
          <a:p>
            <a:pPr algn="ctr"/>
            <a:r>
              <a:rPr sz="2400" b="1">
                <a:solidFill>
                  <a:schemeClr val="bg1"/>
                </a:solidFill>
              </a:rPr>
              <a:t>8</a:t>
            </a:r>
          </a:p>
        </p:txBody>
      </p:sp>
      <p:sp>
        <p:nvSpPr>
          <p:cNvPr id="16" name="TextBox 15"/>
          <p:cNvSpPr txBox="1"/>
          <p:nvPr/>
        </p:nvSpPr>
        <p:spPr>
          <a:xfrm>
            <a:off x="1737360" y="3858768"/>
            <a:ext cx="2743200" cy="658368"/>
          </a:xfrm>
          <a:prstGeom prst="rect">
            <a:avLst/>
          </a:prstGeom>
          <a:noFill/>
        </p:spPr>
        <p:txBody>
          <a:bodyPr wrap="square" lIns="0" rIns="0" tIns="0" bIns="0" anchor="ctr">
            <a:spAutoFit/>
          </a:bodyPr>
          <a:lstStyle/>
          <a:p>
            <a:pPr algn="l"/>
            <a:r>
              <a:rPr sz="1200" b="1">
                <a:solidFill>
                  <a:srgbClr val="A21942"/>
                </a:solidFill>
              </a:rPr>
              <a:t>SDG 8</a:t>
            </a:r>
          </a:p>
          <a:p>
            <a:pPr algn="l"/>
            <a:r>
              <a:rPr sz="1500" b="1">
                <a:solidFill>
                  <a:schemeClr val="tx1"/>
                </a:solidFill>
              </a:rPr>
              <a:t>Decent Work and Economic Growth</a:t>
            </a:r>
          </a:p>
        </p:txBody>
      </p:sp>
      <p:sp>
        <p:nvSpPr>
          <p:cNvPr id="17" name="TextBox 16"/>
          <p:cNvSpPr txBox="1"/>
          <p:nvPr/>
        </p:nvSpPr>
        <p:spPr>
          <a:xfrm>
            <a:off x="932688" y="4645152"/>
            <a:ext cx="3566160" cy="274320"/>
          </a:xfrm>
          <a:prstGeom prst="rect">
            <a:avLst/>
          </a:prstGeom>
          <a:noFill/>
        </p:spPr>
        <p:txBody>
          <a:bodyPr wrap="square" lIns="0" rIns="0" tIns="0" bIns="0" anchor="t">
            <a:spAutoFit/>
          </a:bodyPr>
          <a:lstStyle/>
          <a:p>
            <a:pPr algn="l"/>
            <a:r>
              <a:rPr sz="1200" b="1">
                <a:solidFill>
                  <a:schemeClr val="tx1"/>
                </a:solidFill>
              </a:rPr>
              <a:t>8.5  </a:t>
            </a:r>
            <a:r>
              <a:rPr sz="1200" b="0">
                <a:solidFill>
                  <a:schemeClr val="tx2"/>
                </a:solidFill>
              </a:rPr>
              <a:t>Full and productive employment</a:t>
            </a:r>
          </a:p>
        </p:txBody>
      </p:sp>
      <p:sp>
        <p:nvSpPr>
          <p:cNvPr id="18" name="TextBox 17"/>
          <p:cNvSpPr txBox="1"/>
          <p:nvPr/>
        </p:nvSpPr>
        <p:spPr>
          <a:xfrm>
            <a:off x="932688" y="4946904"/>
            <a:ext cx="3566160" cy="274320"/>
          </a:xfrm>
          <a:prstGeom prst="rect">
            <a:avLst/>
          </a:prstGeom>
          <a:noFill/>
        </p:spPr>
        <p:txBody>
          <a:bodyPr wrap="square" lIns="0" rIns="0" tIns="0" bIns="0" anchor="t">
            <a:spAutoFit/>
          </a:bodyPr>
          <a:lstStyle/>
          <a:p>
            <a:pPr algn="l"/>
            <a:r>
              <a:rPr sz="1200" b="1">
                <a:solidFill>
                  <a:schemeClr val="tx1"/>
                </a:solidFill>
              </a:rPr>
              <a:t>8.2  </a:t>
            </a:r>
            <a:r>
              <a:rPr sz="1200" b="0">
                <a:solidFill>
                  <a:schemeClr val="tx2"/>
                </a:solidFill>
              </a:rPr>
              <a:t>Productivity through innovation</a:t>
            </a:r>
          </a:p>
        </p:txBody>
      </p:sp>
      <p:sp>
        <p:nvSpPr>
          <p:cNvPr id="19" name="Rounded Rectangle 18"/>
          <p:cNvSpPr/>
          <p:nvPr/>
        </p:nvSpPr>
        <p:spPr>
          <a:xfrm>
            <a:off x="4800600" y="1783080"/>
            <a:ext cx="3337560" cy="1115568"/>
          </a:xfrm>
          <a:prstGeom prst="roundRect">
            <a:avLst>
              <a:gd name="adj" fmla="val 6000"/>
            </a:avLst>
          </a:prstGeom>
          <a:solidFill>
            <a:schemeClr val="bg1"/>
          </a:solidFill>
          <a:ln w="9525">
            <a:solidFill>
              <a:srgbClr val="E3DFD6"/>
            </a:solidFill>
          </a:ln>
        </p:spPr>
        <p:txBody>
          <a:bodyPr rtlCol="0" anchor="ctr"/>
          <a:lstStyle/>
          <a:p>
            <a:pPr algn="ctr"/>
          </a:p>
        </p:txBody>
      </p:sp>
      <p:sp>
        <p:nvSpPr>
          <p:cNvPr id="20" name="LuBookCheck tile"/>
          <p:cNvSpPr/>
          <p:nvPr/>
        </p:nvSpPr>
        <p:spPr>
          <a:xfrm>
            <a:off x="4983480" y="1947672"/>
            <a:ext cx="420624" cy="420624"/>
          </a:xfrm>
          <a:prstGeom prst="roundRect">
            <a:avLst>
              <a:gd name="adj" fmla="val 22000"/>
            </a:avLst>
          </a:prstGeom>
          <a:solidFill>
            <a:schemeClr val="accent5"/>
          </a:solidFill>
          <a:ln>
            <a:noFill/>
          </a:ln>
        </p:spPr>
        <p:txBody>
          <a:bodyPr rtlCol="0" anchor="ctr"/>
          <a:lstStyle/>
          <a:p>
            <a:pPr algn="ctr"/>
          </a:p>
        </p:txBody>
      </p:sp>
      <p:pic>
        <p:nvPicPr>
          <p:cNvPr id="21" name="LuBookCheck icon" descr="image.png"/>
          <p:cNvPicPr>
            <a:picLocks noChangeAspect="1"/>
          </p:cNvPicPr>
          <p:nvPr/>
        </p:nvPicPr>
        <p:blipFill>
          <a:blip r:embed="rId3"/>
          <a:stretch>
            <a:fillRect/>
          </a:stretch>
        </p:blipFill>
        <p:spPr>
          <a:xfrm>
            <a:off x="5088636" y="2052828"/>
            <a:ext cx="210312" cy="210312"/>
          </a:xfrm>
          <a:prstGeom prst="rect">
            <a:avLst/>
          </a:prstGeom>
        </p:spPr>
      </p:pic>
      <p:sp>
        <p:nvSpPr>
          <p:cNvPr id="22" name="TextBox 21"/>
          <p:cNvSpPr txBox="1"/>
          <p:nvPr/>
        </p:nvSpPr>
        <p:spPr>
          <a:xfrm>
            <a:off x="5532120" y="1920240"/>
            <a:ext cx="2468880" cy="329184"/>
          </a:xfrm>
          <a:prstGeom prst="rect">
            <a:avLst/>
          </a:prstGeom>
          <a:noFill/>
        </p:spPr>
        <p:txBody>
          <a:bodyPr wrap="square" lIns="0" rIns="0" tIns="0" bIns="0" anchor="ctr">
            <a:spAutoFit/>
          </a:bodyPr>
          <a:lstStyle/>
          <a:p>
            <a:pPr algn="l"/>
            <a:r>
              <a:rPr sz="1350" b="1">
                <a:solidFill>
                  <a:schemeClr val="tx1"/>
                </a:solidFill>
              </a:rPr>
              <a:t>A reason for every link</a:t>
            </a:r>
          </a:p>
        </p:txBody>
      </p:sp>
      <p:sp>
        <p:nvSpPr>
          <p:cNvPr id="23" name="TextBox 22"/>
          <p:cNvSpPr txBox="1"/>
          <p:nvPr/>
        </p:nvSpPr>
        <p:spPr>
          <a:xfrm>
            <a:off x="5532120" y="2258568"/>
            <a:ext cx="2487168" cy="603504"/>
          </a:xfrm>
          <a:prstGeom prst="rect">
            <a:avLst/>
          </a:prstGeom>
          <a:noFill/>
        </p:spPr>
        <p:txBody>
          <a:bodyPr wrap="square" lIns="0" rIns="0" tIns="0" bIns="0" anchor="t">
            <a:spAutoFit/>
          </a:bodyPr>
          <a:lstStyle/>
          <a:p>
            <a:pPr algn="l"/>
            <a:r>
              <a:rPr sz="1100" b="0">
                <a:solidFill>
                  <a:schemeClr val="tx2"/>
                </a:solidFill>
              </a:rPr>
              <a:t>23 roles and 51 skills each link to an SDG target, with a sentence you can check.</a:t>
            </a:r>
          </a:p>
        </p:txBody>
      </p:sp>
      <p:sp>
        <p:nvSpPr>
          <p:cNvPr id="24" name="Rounded Rectangle 23"/>
          <p:cNvSpPr/>
          <p:nvPr/>
        </p:nvSpPr>
        <p:spPr>
          <a:xfrm>
            <a:off x="4800600" y="3035808"/>
            <a:ext cx="3337560" cy="1115568"/>
          </a:xfrm>
          <a:prstGeom prst="roundRect">
            <a:avLst>
              <a:gd name="adj" fmla="val 6000"/>
            </a:avLst>
          </a:prstGeom>
          <a:solidFill>
            <a:schemeClr val="bg1"/>
          </a:solidFill>
          <a:ln w="9525">
            <a:solidFill>
              <a:srgbClr val="E3DFD6"/>
            </a:solidFill>
          </a:ln>
        </p:spPr>
        <p:txBody>
          <a:bodyPr rtlCol="0" anchor="ctr"/>
          <a:lstStyle/>
          <a:p>
            <a:pPr algn="ctr"/>
          </a:p>
        </p:txBody>
      </p:sp>
      <p:sp>
        <p:nvSpPr>
          <p:cNvPr id="25" name="LuSlidersHorizontal tile"/>
          <p:cNvSpPr/>
          <p:nvPr/>
        </p:nvSpPr>
        <p:spPr>
          <a:xfrm>
            <a:off x="4983480" y="3200400"/>
            <a:ext cx="420624" cy="420624"/>
          </a:xfrm>
          <a:prstGeom prst="roundRect">
            <a:avLst>
              <a:gd name="adj" fmla="val 22000"/>
            </a:avLst>
          </a:prstGeom>
          <a:solidFill>
            <a:schemeClr val="accent5"/>
          </a:solidFill>
          <a:ln>
            <a:noFill/>
          </a:ln>
        </p:spPr>
        <p:txBody>
          <a:bodyPr rtlCol="0" anchor="ctr"/>
          <a:lstStyle/>
          <a:p>
            <a:pPr algn="ctr"/>
          </a:p>
        </p:txBody>
      </p:sp>
      <p:pic>
        <p:nvPicPr>
          <p:cNvPr id="26" name="LuSlidersHorizontal icon" descr="image.png"/>
          <p:cNvPicPr>
            <a:picLocks noChangeAspect="1"/>
          </p:cNvPicPr>
          <p:nvPr/>
        </p:nvPicPr>
        <p:blipFill>
          <a:blip r:embed="rId4"/>
          <a:stretch>
            <a:fillRect/>
          </a:stretch>
        </p:blipFill>
        <p:spPr>
          <a:xfrm>
            <a:off x="5088636" y="3305556"/>
            <a:ext cx="210312" cy="210312"/>
          </a:xfrm>
          <a:prstGeom prst="rect">
            <a:avLst/>
          </a:prstGeom>
        </p:spPr>
      </p:pic>
      <p:sp>
        <p:nvSpPr>
          <p:cNvPr id="27" name="TextBox 26"/>
          <p:cNvSpPr txBox="1"/>
          <p:nvPr/>
        </p:nvSpPr>
        <p:spPr>
          <a:xfrm>
            <a:off x="5532120" y="3172968"/>
            <a:ext cx="2468880" cy="329184"/>
          </a:xfrm>
          <a:prstGeom prst="rect">
            <a:avLst/>
          </a:prstGeom>
          <a:noFill/>
        </p:spPr>
        <p:txBody>
          <a:bodyPr wrap="square" lIns="0" rIns="0" tIns="0" bIns="0" anchor="ctr">
            <a:spAutoFit/>
          </a:bodyPr>
          <a:lstStyle/>
          <a:p>
            <a:pPr algn="l"/>
            <a:r>
              <a:rPr sz="1350" b="1">
                <a:solidFill>
                  <a:schemeClr val="tx1"/>
                </a:solidFill>
              </a:rPr>
              <a:t>The SDG lens</a:t>
            </a:r>
          </a:p>
        </p:txBody>
      </p:sp>
      <p:sp>
        <p:nvSpPr>
          <p:cNvPr id="28" name="TextBox 27"/>
          <p:cNvSpPr txBox="1"/>
          <p:nvPr/>
        </p:nvSpPr>
        <p:spPr>
          <a:xfrm>
            <a:off x="5532120" y="3511296"/>
            <a:ext cx="2487168" cy="603504"/>
          </a:xfrm>
          <a:prstGeom prst="rect">
            <a:avLst/>
          </a:prstGeom>
          <a:noFill/>
        </p:spPr>
        <p:txBody>
          <a:bodyPr wrap="square" lIns="0" rIns="0" tIns="0" bIns="0" anchor="t">
            <a:spAutoFit/>
          </a:bodyPr>
          <a:lstStyle/>
          <a:p>
            <a:pPr algn="l"/>
            <a:r>
              <a:rPr sz="1100" b="0">
                <a:solidFill>
                  <a:schemeClr val="tx2"/>
                </a:solidFill>
              </a:rPr>
              <a:t>Pick a goal: “6 of your top 10 roles serve SDG 8”, the best role for it and the cost in fit and hours.</a:t>
            </a:r>
          </a:p>
        </p:txBody>
      </p:sp>
      <p:sp>
        <p:nvSpPr>
          <p:cNvPr id="29" name="Rounded Rectangle 28"/>
          <p:cNvSpPr/>
          <p:nvPr/>
        </p:nvSpPr>
        <p:spPr>
          <a:xfrm>
            <a:off x="4800600" y="4288536"/>
            <a:ext cx="3337560" cy="1115568"/>
          </a:xfrm>
          <a:prstGeom prst="roundRect">
            <a:avLst>
              <a:gd name="adj" fmla="val 6000"/>
            </a:avLst>
          </a:prstGeom>
          <a:solidFill>
            <a:schemeClr val="bg1"/>
          </a:solidFill>
          <a:ln w="9525">
            <a:solidFill>
              <a:srgbClr val="E3DFD6"/>
            </a:solidFill>
          </a:ln>
        </p:spPr>
        <p:txBody>
          <a:bodyPr rtlCol="0" anchor="ctr"/>
          <a:lstStyle/>
          <a:p>
            <a:pPr algn="ctr"/>
          </a:p>
        </p:txBody>
      </p:sp>
      <p:sp>
        <p:nvSpPr>
          <p:cNvPr id="30" name="LuGlobe tile"/>
          <p:cNvSpPr/>
          <p:nvPr/>
        </p:nvSpPr>
        <p:spPr>
          <a:xfrm>
            <a:off x="4983480" y="4453128"/>
            <a:ext cx="420624" cy="420624"/>
          </a:xfrm>
          <a:prstGeom prst="roundRect">
            <a:avLst>
              <a:gd name="adj" fmla="val 22000"/>
            </a:avLst>
          </a:prstGeom>
          <a:solidFill>
            <a:schemeClr val="accent5"/>
          </a:solidFill>
          <a:ln>
            <a:noFill/>
          </a:ln>
        </p:spPr>
        <p:txBody>
          <a:bodyPr rtlCol="0" anchor="ctr"/>
          <a:lstStyle/>
          <a:p>
            <a:pPr algn="ctr"/>
          </a:p>
        </p:txBody>
      </p:sp>
      <p:pic>
        <p:nvPicPr>
          <p:cNvPr id="31" name="LuGlobe icon" descr="image.png"/>
          <p:cNvPicPr>
            <a:picLocks noChangeAspect="1"/>
          </p:cNvPicPr>
          <p:nvPr/>
        </p:nvPicPr>
        <p:blipFill>
          <a:blip r:embed="rId5"/>
          <a:stretch>
            <a:fillRect/>
          </a:stretch>
        </p:blipFill>
        <p:spPr>
          <a:xfrm>
            <a:off x="5088636" y="4558284"/>
            <a:ext cx="210312" cy="210312"/>
          </a:xfrm>
          <a:prstGeom prst="rect">
            <a:avLst/>
          </a:prstGeom>
        </p:spPr>
      </p:pic>
      <p:sp>
        <p:nvSpPr>
          <p:cNvPr id="32" name="TextBox 31"/>
          <p:cNvSpPr txBox="1"/>
          <p:nvPr/>
        </p:nvSpPr>
        <p:spPr>
          <a:xfrm>
            <a:off x="5532120" y="4425696"/>
            <a:ext cx="2468880" cy="329184"/>
          </a:xfrm>
          <a:prstGeom prst="rect">
            <a:avLst/>
          </a:prstGeom>
          <a:noFill/>
        </p:spPr>
        <p:txBody>
          <a:bodyPr wrap="square" lIns="0" rIns="0" tIns="0" bIns="0" anchor="ctr">
            <a:spAutoFit/>
          </a:bodyPr>
          <a:lstStyle/>
          <a:p>
            <a:pPr algn="l"/>
            <a:r>
              <a:rPr sz="1350" b="1">
                <a:solidFill>
                  <a:schemeClr val="tx1"/>
                </a:solidFill>
              </a:rPr>
              <a:t>Impact across Malaysia</a:t>
            </a:r>
          </a:p>
        </p:txBody>
      </p:sp>
      <p:sp>
        <p:nvSpPr>
          <p:cNvPr id="33" name="TextBox 32"/>
          <p:cNvSpPr txBox="1"/>
          <p:nvPr/>
        </p:nvSpPr>
        <p:spPr>
          <a:xfrm>
            <a:off x="5532120" y="4764024"/>
            <a:ext cx="2487168" cy="603504"/>
          </a:xfrm>
          <a:prstGeom prst="rect">
            <a:avLst/>
          </a:prstGeom>
          <a:noFill/>
        </p:spPr>
        <p:txBody>
          <a:bodyPr wrap="square" lIns="0" rIns="0" tIns="0" bIns="0" anchor="t">
            <a:spAutoFit/>
          </a:bodyPr>
          <a:lstStyle/>
          <a:p>
            <a:pPr algn="l"/>
            <a:r>
              <a:rPr sz="1100" b="0">
                <a:solidFill>
                  <a:schemeClr val="tx2"/>
                </a:solidFill>
              </a:rPr>
              <a:t>Which goals users are heading for, as totals; groups under 3 are hidden.</a:t>
            </a:r>
          </a:p>
        </p:txBody>
      </p:sp>
      <p:sp>
        <p:nvSpPr>
          <p:cNvPr id="34" name="Rounded Rectangle 33"/>
          <p:cNvSpPr/>
          <p:nvPr/>
        </p:nvSpPr>
        <p:spPr>
          <a:xfrm>
            <a:off x="8284464" y="1746504"/>
            <a:ext cx="3209544" cy="2287075"/>
          </a:xfrm>
          <a:prstGeom prst="roundRect">
            <a:avLst>
              <a:gd name="adj" fmla="val 3000"/>
            </a:avLst>
          </a:prstGeom>
          <a:solidFill>
            <a:schemeClr val="bg1"/>
          </a:solidFill>
          <a:ln w="9525">
            <a:solidFill>
              <a:srgbClr val="E3DFD6"/>
            </a:solidFill>
          </a:ln>
        </p:spPr>
        <p:txBody>
          <a:bodyPr rtlCol="0" anchor="ctr"/>
          <a:lstStyle/>
          <a:p>
            <a:pPr algn="ctr"/>
          </a:p>
        </p:txBody>
      </p:sp>
      <p:pic>
        <p:nvPicPr>
          <p:cNvPr id="35" name="Screenshot: SDG impact page for AI operations specialist" descr="Screenshot: SDG impact page for AI operations specialist"/>
          <p:cNvPicPr>
            <a:picLocks noChangeAspect="1"/>
          </p:cNvPicPr>
          <p:nvPr/>
        </p:nvPicPr>
        <p:blipFill>
          <a:blip r:embed="rId6"/>
          <a:stretch>
            <a:fillRect/>
          </a:stretch>
        </p:blipFill>
        <p:spPr>
          <a:xfrm>
            <a:off x="8321040" y="1783080"/>
            <a:ext cx="3136392" cy="2213923"/>
          </a:xfrm>
          <a:prstGeom prst="rect">
            <a:avLst/>
          </a:prstGeom>
        </p:spPr>
      </p:pic>
      <p:sp>
        <p:nvSpPr>
          <p:cNvPr id="36" name="band"/>
          <p:cNvSpPr/>
          <p:nvPr/>
        </p:nvSpPr>
        <p:spPr>
          <a:xfrm>
            <a:off x="8284464" y="4069080"/>
            <a:ext cx="3209544" cy="1463040"/>
          </a:xfrm>
          <a:prstGeom prst="roundRect">
            <a:avLst>
              <a:gd name="adj" fmla="val 8000"/>
            </a:avLst>
          </a:prstGeom>
          <a:solidFill>
            <a:schemeClr val="accent4"/>
          </a:solidFill>
          <a:ln>
            <a:noFill/>
          </a:ln>
        </p:spPr>
        <p:txBody>
          <a:bodyPr rtlCol="0" anchor="ctr"/>
          <a:lstStyle/>
          <a:p>
            <a:pPr algn="ctr"/>
          </a:p>
        </p:txBody>
      </p:sp>
      <p:sp>
        <p:nvSpPr>
          <p:cNvPr id="37" name="TextBox 36"/>
          <p:cNvSpPr txBox="1"/>
          <p:nvPr/>
        </p:nvSpPr>
        <p:spPr>
          <a:xfrm>
            <a:off x="8485632" y="4160520"/>
            <a:ext cx="2834640" cy="256032"/>
          </a:xfrm>
          <a:prstGeom prst="rect">
            <a:avLst/>
          </a:prstGeom>
          <a:noFill/>
        </p:spPr>
        <p:txBody>
          <a:bodyPr wrap="square" lIns="0" rIns="0" tIns="0" bIns="0" anchor="t">
            <a:spAutoFit/>
          </a:bodyPr>
          <a:lstStyle/>
          <a:p>
            <a:pPr algn="l"/>
            <a:r>
              <a:rPr sz="1100" b="1" spc="100">
                <a:solidFill>
                  <a:srgbClr val="D9971F"/>
                </a:solidFill>
              </a:rPr>
              <a:t>LINKS PER GOAL</a:t>
            </a:r>
          </a:p>
        </p:txBody>
      </p:sp>
      <p:sp>
        <p:nvSpPr>
          <p:cNvPr id="38" name="SDG 8 tile"/>
          <p:cNvSpPr/>
          <p:nvPr/>
        </p:nvSpPr>
        <p:spPr>
          <a:xfrm>
            <a:off x="8485632" y="4498848"/>
            <a:ext cx="329184" cy="329184"/>
          </a:xfrm>
          <a:prstGeom prst="rect">
            <a:avLst/>
          </a:prstGeom>
          <a:solidFill>
            <a:srgbClr val="A21942"/>
          </a:solidFill>
          <a:ln>
            <a:noFill/>
          </a:ln>
        </p:spPr>
        <p:txBody>
          <a:bodyPr rtlCol="0" anchor="ctr"/>
          <a:lstStyle/>
          <a:p>
            <a:pPr algn="ctr"/>
          </a:p>
        </p:txBody>
      </p:sp>
      <p:sp>
        <p:nvSpPr>
          <p:cNvPr id="39" name="TextBox 38"/>
          <p:cNvSpPr txBox="1"/>
          <p:nvPr/>
        </p:nvSpPr>
        <p:spPr>
          <a:xfrm>
            <a:off x="8485632" y="4498848"/>
            <a:ext cx="329184" cy="329184"/>
          </a:xfrm>
          <a:prstGeom prst="rect">
            <a:avLst/>
          </a:prstGeom>
          <a:noFill/>
        </p:spPr>
        <p:txBody>
          <a:bodyPr wrap="square" lIns="0" rIns="0" tIns="0" bIns="0" anchor="ctr">
            <a:spAutoFit/>
          </a:bodyPr>
          <a:lstStyle/>
          <a:p>
            <a:pPr algn="ctr"/>
            <a:r>
              <a:rPr sz="1200" b="1">
                <a:solidFill>
                  <a:schemeClr val="bg1"/>
                </a:solidFill>
              </a:rPr>
              <a:t>8</a:t>
            </a:r>
          </a:p>
        </p:txBody>
      </p:sp>
      <p:sp>
        <p:nvSpPr>
          <p:cNvPr id="40" name="TextBox 39"/>
          <p:cNvSpPr txBox="1"/>
          <p:nvPr/>
        </p:nvSpPr>
        <p:spPr>
          <a:xfrm>
            <a:off x="8906255" y="4498848"/>
            <a:ext cx="457200" cy="329184"/>
          </a:xfrm>
          <a:prstGeom prst="rect">
            <a:avLst/>
          </a:prstGeom>
          <a:noFill/>
        </p:spPr>
        <p:txBody>
          <a:bodyPr wrap="square" lIns="0" rIns="0" tIns="0" bIns="0" anchor="ctr">
            <a:spAutoFit/>
          </a:bodyPr>
          <a:lstStyle/>
          <a:p>
            <a:pPr algn="l"/>
            <a:r>
              <a:rPr sz="1200" b="0">
                <a:solidFill>
                  <a:schemeClr val="bg1"/>
                </a:solidFill>
              </a:rPr>
              <a:t>31</a:t>
            </a:r>
          </a:p>
        </p:txBody>
      </p:sp>
      <p:sp>
        <p:nvSpPr>
          <p:cNvPr id="41" name="SDG 9 tile"/>
          <p:cNvSpPr/>
          <p:nvPr/>
        </p:nvSpPr>
        <p:spPr>
          <a:xfrm>
            <a:off x="9454896" y="4498848"/>
            <a:ext cx="329184" cy="329184"/>
          </a:xfrm>
          <a:prstGeom prst="rect">
            <a:avLst/>
          </a:prstGeom>
          <a:solidFill>
            <a:srgbClr val="FD6925"/>
          </a:solidFill>
          <a:ln>
            <a:noFill/>
          </a:ln>
        </p:spPr>
        <p:txBody>
          <a:bodyPr rtlCol="0" anchor="ctr"/>
          <a:lstStyle/>
          <a:p>
            <a:pPr algn="ctr"/>
          </a:p>
        </p:txBody>
      </p:sp>
      <p:sp>
        <p:nvSpPr>
          <p:cNvPr id="42" name="TextBox 41"/>
          <p:cNvSpPr txBox="1"/>
          <p:nvPr/>
        </p:nvSpPr>
        <p:spPr>
          <a:xfrm>
            <a:off x="9454896" y="4498848"/>
            <a:ext cx="329184" cy="329184"/>
          </a:xfrm>
          <a:prstGeom prst="rect">
            <a:avLst/>
          </a:prstGeom>
          <a:noFill/>
        </p:spPr>
        <p:txBody>
          <a:bodyPr wrap="square" lIns="0" rIns="0" tIns="0" bIns="0" anchor="ctr">
            <a:spAutoFit/>
          </a:bodyPr>
          <a:lstStyle/>
          <a:p>
            <a:pPr algn="ctr"/>
            <a:r>
              <a:rPr sz="1200" b="1">
                <a:solidFill>
                  <a:schemeClr val="bg1"/>
                </a:solidFill>
              </a:rPr>
              <a:t>9</a:t>
            </a:r>
          </a:p>
        </p:txBody>
      </p:sp>
      <p:sp>
        <p:nvSpPr>
          <p:cNvPr id="43" name="TextBox 42"/>
          <p:cNvSpPr txBox="1"/>
          <p:nvPr/>
        </p:nvSpPr>
        <p:spPr>
          <a:xfrm>
            <a:off x="9875519" y="4498848"/>
            <a:ext cx="457200" cy="329184"/>
          </a:xfrm>
          <a:prstGeom prst="rect">
            <a:avLst/>
          </a:prstGeom>
          <a:noFill/>
        </p:spPr>
        <p:txBody>
          <a:bodyPr wrap="square" lIns="0" rIns="0" tIns="0" bIns="0" anchor="ctr">
            <a:spAutoFit/>
          </a:bodyPr>
          <a:lstStyle/>
          <a:p>
            <a:pPr algn="l"/>
            <a:r>
              <a:rPr sz="1200" b="0">
                <a:solidFill>
                  <a:schemeClr val="bg1"/>
                </a:solidFill>
              </a:rPr>
              <a:t>17</a:t>
            </a:r>
          </a:p>
        </p:txBody>
      </p:sp>
      <p:sp>
        <p:nvSpPr>
          <p:cNvPr id="44" name="SDG 4 tile"/>
          <p:cNvSpPr/>
          <p:nvPr/>
        </p:nvSpPr>
        <p:spPr>
          <a:xfrm>
            <a:off x="10424159" y="4498848"/>
            <a:ext cx="329184" cy="329184"/>
          </a:xfrm>
          <a:prstGeom prst="rect">
            <a:avLst/>
          </a:prstGeom>
          <a:solidFill>
            <a:srgbClr val="C5192D"/>
          </a:solidFill>
          <a:ln>
            <a:noFill/>
          </a:ln>
        </p:spPr>
        <p:txBody>
          <a:bodyPr rtlCol="0" anchor="ctr"/>
          <a:lstStyle/>
          <a:p>
            <a:pPr algn="ctr"/>
          </a:p>
        </p:txBody>
      </p:sp>
      <p:sp>
        <p:nvSpPr>
          <p:cNvPr id="45" name="TextBox 44"/>
          <p:cNvSpPr txBox="1"/>
          <p:nvPr/>
        </p:nvSpPr>
        <p:spPr>
          <a:xfrm>
            <a:off x="10424159" y="4498848"/>
            <a:ext cx="329184" cy="329184"/>
          </a:xfrm>
          <a:prstGeom prst="rect">
            <a:avLst/>
          </a:prstGeom>
          <a:noFill/>
        </p:spPr>
        <p:txBody>
          <a:bodyPr wrap="square" lIns="0" rIns="0" tIns="0" bIns="0" anchor="ctr">
            <a:spAutoFit/>
          </a:bodyPr>
          <a:lstStyle/>
          <a:p>
            <a:pPr algn="ctr"/>
            <a:r>
              <a:rPr sz="1200" b="1">
                <a:solidFill>
                  <a:schemeClr val="bg1"/>
                </a:solidFill>
              </a:rPr>
              <a:t>4</a:t>
            </a:r>
          </a:p>
        </p:txBody>
      </p:sp>
      <p:sp>
        <p:nvSpPr>
          <p:cNvPr id="46" name="TextBox 45"/>
          <p:cNvSpPr txBox="1"/>
          <p:nvPr/>
        </p:nvSpPr>
        <p:spPr>
          <a:xfrm>
            <a:off x="10844783" y="4498848"/>
            <a:ext cx="457200" cy="329184"/>
          </a:xfrm>
          <a:prstGeom prst="rect">
            <a:avLst/>
          </a:prstGeom>
          <a:noFill/>
        </p:spPr>
        <p:txBody>
          <a:bodyPr wrap="square" lIns="0" rIns="0" tIns="0" bIns="0" anchor="ctr">
            <a:spAutoFit/>
          </a:bodyPr>
          <a:lstStyle/>
          <a:p>
            <a:pPr algn="l"/>
            <a:r>
              <a:rPr sz="1200" b="0">
                <a:solidFill>
                  <a:schemeClr val="bg1"/>
                </a:solidFill>
              </a:rPr>
              <a:t>12</a:t>
            </a:r>
          </a:p>
        </p:txBody>
      </p:sp>
      <p:sp>
        <p:nvSpPr>
          <p:cNvPr id="47" name="SDG 16 tile"/>
          <p:cNvSpPr/>
          <p:nvPr/>
        </p:nvSpPr>
        <p:spPr>
          <a:xfrm>
            <a:off x="8485632" y="4974336"/>
            <a:ext cx="329184" cy="329184"/>
          </a:xfrm>
          <a:prstGeom prst="rect">
            <a:avLst/>
          </a:prstGeom>
          <a:solidFill>
            <a:srgbClr val="00689D"/>
          </a:solidFill>
          <a:ln>
            <a:noFill/>
          </a:ln>
        </p:spPr>
        <p:txBody>
          <a:bodyPr rtlCol="0" anchor="ctr"/>
          <a:lstStyle/>
          <a:p>
            <a:pPr algn="ctr"/>
          </a:p>
        </p:txBody>
      </p:sp>
      <p:sp>
        <p:nvSpPr>
          <p:cNvPr id="48" name="TextBox 47"/>
          <p:cNvSpPr txBox="1"/>
          <p:nvPr/>
        </p:nvSpPr>
        <p:spPr>
          <a:xfrm>
            <a:off x="8485632" y="4974336"/>
            <a:ext cx="329184" cy="329184"/>
          </a:xfrm>
          <a:prstGeom prst="rect">
            <a:avLst/>
          </a:prstGeom>
          <a:noFill/>
        </p:spPr>
        <p:txBody>
          <a:bodyPr wrap="square" lIns="0" rIns="0" tIns="0" bIns="0" anchor="ctr">
            <a:spAutoFit/>
          </a:bodyPr>
          <a:lstStyle/>
          <a:p>
            <a:pPr algn="ctr"/>
            <a:r>
              <a:rPr sz="1200" b="1">
                <a:solidFill>
                  <a:schemeClr val="bg1"/>
                </a:solidFill>
              </a:rPr>
              <a:t>16</a:t>
            </a:r>
          </a:p>
        </p:txBody>
      </p:sp>
      <p:sp>
        <p:nvSpPr>
          <p:cNvPr id="49" name="TextBox 48"/>
          <p:cNvSpPr txBox="1"/>
          <p:nvPr/>
        </p:nvSpPr>
        <p:spPr>
          <a:xfrm>
            <a:off x="8906255" y="4974336"/>
            <a:ext cx="457200" cy="329184"/>
          </a:xfrm>
          <a:prstGeom prst="rect">
            <a:avLst/>
          </a:prstGeom>
          <a:noFill/>
        </p:spPr>
        <p:txBody>
          <a:bodyPr wrap="square" lIns="0" rIns="0" tIns="0" bIns="0" anchor="ctr">
            <a:spAutoFit/>
          </a:bodyPr>
          <a:lstStyle/>
          <a:p>
            <a:pPr algn="l"/>
            <a:r>
              <a:rPr sz="1200" b="0">
                <a:solidFill>
                  <a:schemeClr val="bg1"/>
                </a:solidFill>
              </a:rPr>
              <a:t>5</a:t>
            </a:r>
          </a:p>
        </p:txBody>
      </p:sp>
      <p:sp>
        <p:nvSpPr>
          <p:cNvPr id="50" name="SDG 12 tile"/>
          <p:cNvSpPr/>
          <p:nvPr/>
        </p:nvSpPr>
        <p:spPr>
          <a:xfrm>
            <a:off x="9454896" y="4974336"/>
            <a:ext cx="329184" cy="329184"/>
          </a:xfrm>
          <a:prstGeom prst="rect">
            <a:avLst/>
          </a:prstGeom>
          <a:solidFill>
            <a:srgbClr val="BF8B2E"/>
          </a:solidFill>
          <a:ln>
            <a:noFill/>
          </a:ln>
        </p:spPr>
        <p:txBody>
          <a:bodyPr rtlCol="0" anchor="ctr"/>
          <a:lstStyle/>
          <a:p>
            <a:pPr algn="ctr"/>
          </a:p>
        </p:txBody>
      </p:sp>
      <p:sp>
        <p:nvSpPr>
          <p:cNvPr id="51" name="TextBox 50"/>
          <p:cNvSpPr txBox="1"/>
          <p:nvPr/>
        </p:nvSpPr>
        <p:spPr>
          <a:xfrm>
            <a:off x="9454896" y="4974336"/>
            <a:ext cx="329184" cy="329184"/>
          </a:xfrm>
          <a:prstGeom prst="rect">
            <a:avLst/>
          </a:prstGeom>
          <a:noFill/>
        </p:spPr>
        <p:txBody>
          <a:bodyPr wrap="square" lIns="0" rIns="0" tIns="0" bIns="0" anchor="ctr">
            <a:spAutoFit/>
          </a:bodyPr>
          <a:lstStyle/>
          <a:p>
            <a:pPr algn="ctr"/>
            <a:r>
              <a:rPr sz="1200" b="1">
                <a:solidFill>
                  <a:schemeClr val="bg1"/>
                </a:solidFill>
              </a:rPr>
              <a:t>12</a:t>
            </a:r>
          </a:p>
        </p:txBody>
      </p:sp>
      <p:sp>
        <p:nvSpPr>
          <p:cNvPr id="52" name="TextBox 51"/>
          <p:cNvSpPr txBox="1"/>
          <p:nvPr/>
        </p:nvSpPr>
        <p:spPr>
          <a:xfrm>
            <a:off x="9875519" y="4974336"/>
            <a:ext cx="457200" cy="329184"/>
          </a:xfrm>
          <a:prstGeom prst="rect">
            <a:avLst/>
          </a:prstGeom>
          <a:noFill/>
        </p:spPr>
        <p:txBody>
          <a:bodyPr wrap="square" lIns="0" rIns="0" tIns="0" bIns="0" anchor="ctr">
            <a:spAutoFit/>
          </a:bodyPr>
          <a:lstStyle/>
          <a:p>
            <a:pPr algn="l"/>
            <a:r>
              <a:rPr sz="1200" b="0">
                <a:solidFill>
                  <a:schemeClr val="bg1"/>
                </a:solidFill>
              </a:rPr>
              <a:t>5</a:t>
            </a:r>
          </a:p>
        </p:txBody>
      </p:sp>
      <p:sp>
        <p:nvSpPr>
          <p:cNvPr id="53" name="SDG 13 tile"/>
          <p:cNvSpPr/>
          <p:nvPr/>
        </p:nvSpPr>
        <p:spPr>
          <a:xfrm>
            <a:off x="10424159" y="4974336"/>
            <a:ext cx="329184" cy="329184"/>
          </a:xfrm>
          <a:prstGeom prst="rect">
            <a:avLst/>
          </a:prstGeom>
          <a:solidFill>
            <a:srgbClr val="3F7E44"/>
          </a:solidFill>
          <a:ln>
            <a:noFill/>
          </a:ln>
        </p:spPr>
        <p:txBody>
          <a:bodyPr rtlCol="0" anchor="ctr"/>
          <a:lstStyle/>
          <a:p>
            <a:pPr algn="ctr"/>
          </a:p>
        </p:txBody>
      </p:sp>
      <p:sp>
        <p:nvSpPr>
          <p:cNvPr id="54" name="TextBox 53"/>
          <p:cNvSpPr txBox="1"/>
          <p:nvPr/>
        </p:nvSpPr>
        <p:spPr>
          <a:xfrm>
            <a:off x="10424159" y="4974336"/>
            <a:ext cx="329184" cy="329184"/>
          </a:xfrm>
          <a:prstGeom prst="rect">
            <a:avLst/>
          </a:prstGeom>
          <a:noFill/>
        </p:spPr>
        <p:txBody>
          <a:bodyPr wrap="square" lIns="0" rIns="0" tIns="0" bIns="0" anchor="ctr">
            <a:spAutoFit/>
          </a:bodyPr>
          <a:lstStyle/>
          <a:p>
            <a:pPr algn="ctr"/>
            <a:r>
              <a:rPr sz="1200" b="1">
                <a:solidFill>
                  <a:schemeClr val="bg1"/>
                </a:solidFill>
              </a:rPr>
              <a:t>13</a:t>
            </a:r>
          </a:p>
        </p:txBody>
      </p:sp>
      <p:sp>
        <p:nvSpPr>
          <p:cNvPr id="55" name="TextBox 54"/>
          <p:cNvSpPr txBox="1"/>
          <p:nvPr/>
        </p:nvSpPr>
        <p:spPr>
          <a:xfrm>
            <a:off x="10844783" y="4974336"/>
            <a:ext cx="457200" cy="329184"/>
          </a:xfrm>
          <a:prstGeom prst="rect">
            <a:avLst/>
          </a:prstGeom>
          <a:noFill/>
        </p:spPr>
        <p:txBody>
          <a:bodyPr wrap="square" lIns="0" rIns="0" tIns="0" bIns="0" anchor="ctr">
            <a:spAutoFit/>
          </a:bodyPr>
          <a:lstStyle/>
          <a:p>
            <a:pPr algn="l"/>
            <a:r>
              <a:rPr sz="1200" b="0">
                <a:solidFill>
                  <a:schemeClr val="bg1"/>
                </a:solidFill>
              </a:rPr>
              <a:t>4</a:t>
            </a:r>
          </a:p>
        </p:txBody>
      </p:sp>
      <p:sp>
        <p:nvSpPr>
          <p:cNvPr id="56" name="TextBox 55"/>
          <p:cNvSpPr txBox="1"/>
          <p:nvPr/>
        </p:nvSpPr>
        <p:spPr>
          <a:xfrm>
            <a:off x="731520" y="5897880"/>
            <a:ext cx="10725912" cy="274320"/>
          </a:xfrm>
          <a:prstGeom prst="rect">
            <a:avLst/>
          </a:prstGeom>
          <a:noFill/>
        </p:spPr>
        <p:txBody>
          <a:bodyPr wrap="square" lIns="0" rIns="0" tIns="0" bIns="0" anchor="ctr">
            <a:spAutoFit/>
          </a:bodyPr>
          <a:lstStyle/>
          <a:p>
            <a:pPr algn="l"/>
            <a:r>
              <a:rPr sz="1100" b="0">
                <a:solidFill>
                  <a:schemeClr val="tx2"/>
                </a:solidFill>
              </a:rPr>
              <a:t>12 goals linked in all; the counts are role and skill links in backend/data/sdg_map.json. Targets: United Nations, sdgs.un.org/goals.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Public signals, approved by a person each time</a:t>
            </a:r>
          </a:p>
        </p:txBody>
      </p:sp>
      <p:sp>
        <p:nvSpPr>
          <p:cNvPr id="3" name="TextBox 2"/>
          <p:cNvSpPr txBox="1"/>
          <p:nvPr/>
        </p:nvSpPr>
        <p:spPr>
          <a:xfrm>
            <a:off x="731520" y="457200"/>
            <a:ext cx="3346704" cy="329184"/>
          </a:xfrm>
          <a:prstGeom prst="rect">
            <a:avLst/>
          </a:prstGeom>
          <a:noFill/>
        </p:spPr>
        <p:txBody>
          <a:bodyPr wrap="square" lIns="0" rIns="0" tIns="0" bIns="0" anchor="ctr">
            <a:spAutoFit/>
          </a:bodyPr>
          <a:lstStyle/>
          <a:p>
            <a:pPr algn="l"/>
            <a:r>
              <a:rPr sz="1300" b="1" spc="150">
                <a:solidFill>
                  <a:schemeClr val="accent1"/>
                </a:solidFill>
              </a:rPr>
              <a:t>THE TREND SIGNAL LAYER</a:t>
            </a:r>
          </a:p>
        </p:txBody>
      </p:sp>
      <p:sp>
        <p:nvSpPr>
          <p:cNvPr id="4" name="Innovation &amp; Creativity · 30% pill"/>
          <p:cNvSpPr/>
          <p:nvPr/>
        </p:nvSpPr>
        <p:spPr>
          <a:xfrm>
            <a:off x="4169663" y="457200"/>
            <a:ext cx="251460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4169663" y="457200"/>
            <a:ext cx="2514600" cy="329184"/>
          </a:xfrm>
          <a:prstGeom prst="rect">
            <a:avLst/>
          </a:prstGeom>
          <a:noFill/>
        </p:spPr>
        <p:txBody>
          <a:bodyPr wrap="square" lIns="0" rIns="0" tIns="0" bIns="0" anchor="ctr">
            <a:spAutoFit/>
          </a:bodyPr>
          <a:lstStyle/>
          <a:p>
            <a:pPr algn="ctr"/>
            <a:r>
              <a:rPr sz="1200" b="1">
                <a:solidFill>
                  <a:schemeClr val="accent1"/>
                </a:solidFill>
              </a:rPr>
              <a:t>Innovation &amp; Creativity · 30%</a:t>
            </a:r>
          </a:p>
        </p:txBody>
      </p:sp>
      <p:sp>
        <p:nvSpPr>
          <p:cNvPr id="6" name="TextBox 5"/>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08 / 17</a:t>
            </a:r>
          </a:p>
        </p:txBody>
      </p:sp>
      <p:sp>
        <p:nvSpPr>
          <p:cNvPr id="7" name="Rounded Rectangle 6"/>
          <p:cNvSpPr/>
          <p:nvPr/>
        </p:nvSpPr>
        <p:spPr>
          <a:xfrm>
            <a:off x="731520" y="1783080"/>
            <a:ext cx="4206240" cy="676656"/>
          </a:xfrm>
          <a:prstGeom prst="roundRect">
            <a:avLst>
              <a:gd name="adj" fmla="val 10000"/>
            </a:avLst>
          </a:prstGeom>
          <a:solidFill>
            <a:schemeClr val="bg1"/>
          </a:solidFill>
          <a:ln w="9525">
            <a:solidFill>
              <a:srgbClr val="E3DFD6"/>
            </a:solidFill>
          </a:ln>
        </p:spPr>
        <p:txBody>
          <a:bodyPr rtlCol="0" anchor="ctr"/>
          <a:lstStyle/>
          <a:p>
            <a:pPr algn="ctr"/>
          </a:p>
        </p:txBody>
      </p:sp>
      <p:sp>
        <p:nvSpPr>
          <p:cNvPr id="8" name="LuFlaskConical tile"/>
          <p:cNvSpPr/>
          <p:nvPr/>
        </p:nvSpPr>
        <p:spPr>
          <a:xfrm>
            <a:off x="868680" y="1911095"/>
            <a:ext cx="420624" cy="420624"/>
          </a:xfrm>
          <a:prstGeom prst="roundRect">
            <a:avLst>
              <a:gd name="adj" fmla="val 22000"/>
            </a:avLst>
          </a:prstGeom>
          <a:solidFill>
            <a:schemeClr val="accent5"/>
          </a:solidFill>
          <a:ln>
            <a:noFill/>
          </a:ln>
        </p:spPr>
        <p:txBody>
          <a:bodyPr rtlCol="0" anchor="ctr"/>
          <a:lstStyle/>
          <a:p>
            <a:pPr algn="ctr"/>
          </a:p>
        </p:txBody>
      </p:sp>
      <p:pic>
        <p:nvPicPr>
          <p:cNvPr id="9" name="LuFlaskConical icon" descr="image.png"/>
          <p:cNvPicPr>
            <a:picLocks noChangeAspect="1"/>
          </p:cNvPicPr>
          <p:nvPr/>
        </p:nvPicPr>
        <p:blipFill>
          <a:blip r:embed="rId3"/>
          <a:stretch>
            <a:fillRect/>
          </a:stretch>
        </p:blipFill>
        <p:spPr>
          <a:xfrm>
            <a:off x="973836" y="2016252"/>
            <a:ext cx="210312" cy="210312"/>
          </a:xfrm>
          <a:prstGeom prst="rect">
            <a:avLst/>
          </a:prstGeom>
        </p:spPr>
      </p:pic>
      <p:sp>
        <p:nvSpPr>
          <p:cNvPr id="10" name="TextBox 9"/>
          <p:cNvSpPr txBox="1"/>
          <p:nvPr/>
        </p:nvSpPr>
        <p:spPr>
          <a:xfrm>
            <a:off x="1417320" y="1856231"/>
            <a:ext cx="3383280" cy="274320"/>
          </a:xfrm>
          <a:prstGeom prst="rect">
            <a:avLst/>
          </a:prstGeom>
          <a:noFill/>
        </p:spPr>
        <p:txBody>
          <a:bodyPr wrap="square" lIns="0" rIns="0" tIns="0" bIns="0" anchor="t">
            <a:spAutoFit/>
          </a:bodyPr>
          <a:lstStyle/>
          <a:p>
            <a:pPr algn="l"/>
            <a:r>
              <a:rPr sz="1300" b="1">
                <a:solidFill>
                  <a:schemeClr val="tx1"/>
                </a:solidFill>
              </a:rPr>
              <a:t>AI research</a:t>
            </a:r>
          </a:p>
        </p:txBody>
      </p:sp>
      <p:sp>
        <p:nvSpPr>
          <p:cNvPr id="11" name="TextBox 10"/>
          <p:cNvSpPr txBox="1"/>
          <p:nvPr/>
        </p:nvSpPr>
        <p:spPr>
          <a:xfrm>
            <a:off x="1417320" y="2130552"/>
            <a:ext cx="3429000" cy="292608"/>
          </a:xfrm>
          <a:prstGeom prst="rect">
            <a:avLst/>
          </a:prstGeom>
          <a:noFill/>
        </p:spPr>
        <p:txBody>
          <a:bodyPr wrap="square" lIns="0" rIns="0" tIns="0" bIns="0" anchor="t">
            <a:spAutoFit/>
          </a:bodyPr>
          <a:lstStyle/>
          <a:p>
            <a:pPr algn="l"/>
            <a:r>
              <a:rPr sz="1050" b="0">
                <a:solidFill>
                  <a:schemeClr val="tx2"/>
                </a:solidFill>
              </a:rPr>
              <a:t>arXiv, OpenAlex fallback, papers with a Malaysian institution</a:t>
            </a:r>
          </a:p>
        </p:txBody>
      </p:sp>
      <p:sp>
        <p:nvSpPr>
          <p:cNvPr id="12" name="Rounded Rectangle 11"/>
          <p:cNvSpPr/>
          <p:nvPr/>
        </p:nvSpPr>
        <p:spPr>
          <a:xfrm>
            <a:off x="731520" y="2569464"/>
            <a:ext cx="4206240" cy="676656"/>
          </a:xfrm>
          <a:prstGeom prst="roundRect">
            <a:avLst>
              <a:gd name="adj" fmla="val 10000"/>
            </a:avLst>
          </a:prstGeom>
          <a:solidFill>
            <a:schemeClr val="bg1"/>
          </a:solidFill>
          <a:ln w="9525">
            <a:solidFill>
              <a:srgbClr val="E3DFD6"/>
            </a:solidFill>
          </a:ln>
        </p:spPr>
        <p:txBody>
          <a:bodyPr rtlCol="0" anchor="ctr"/>
          <a:lstStyle/>
          <a:p>
            <a:pPr algn="ctr"/>
          </a:p>
        </p:txBody>
      </p:sp>
      <p:sp>
        <p:nvSpPr>
          <p:cNvPr id="13" name="LuBriefcase tile"/>
          <p:cNvSpPr/>
          <p:nvPr/>
        </p:nvSpPr>
        <p:spPr>
          <a:xfrm>
            <a:off x="868680" y="2697480"/>
            <a:ext cx="420624" cy="420624"/>
          </a:xfrm>
          <a:prstGeom prst="roundRect">
            <a:avLst>
              <a:gd name="adj" fmla="val 22000"/>
            </a:avLst>
          </a:prstGeom>
          <a:solidFill>
            <a:schemeClr val="accent5"/>
          </a:solidFill>
          <a:ln>
            <a:noFill/>
          </a:ln>
        </p:spPr>
        <p:txBody>
          <a:bodyPr rtlCol="0" anchor="ctr"/>
          <a:lstStyle/>
          <a:p>
            <a:pPr algn="ctr"/>
          </a:p>
        </p:txBody>
      </p:sp>
      <p:pic>
        <p:nvPicPr>
          <p:cNvPr id="14" name="LuBriefcase icon" descr="image.png"/>
          <p:cNvPicPr>
            <a:picLocks noChangeAspect="1"/>
          </p:cNvPicPr>
          <p:nvPr/>
        </p:nvPicPr>
        <p:blipFill>
          <a:blip r:embed="rId4"/>
          <a:stretch>
            <a:fillRect/>
          </a:stretch>
        </p:blipFill>
        <p:spPr>
          <a:xfrm>
            <a:off x="973836" y="2802636"/>
            <a:ext cx="210312" cy="210312"/>
          </a:xfrm>
          <a:prstGeom prst="rect">
            <a:avLst/>
          </a:prstGeom>
        </p:spPr>
      </p:pic>
      <p:sp>
        <p:nvSpPr>
          <p:cNvPr id="15" name="TextBox 14"/>
          <p:cNvSpPr txBox="1"/>
          <p:nvPr/>
        </p:nvSpPr>
        <p:spPr>
          <a:xfrm>
            <a:off x="1417320" y="2642616"/>
            <a:ext cx="3383280" cy="274320"/>
          </a:xfrm>
          <a:prstGeom prst="rect">
            <a:avLst/>
          </a:prstGeom>
          <a:noFill/>
        </p:spPr>
        <p:txBody>
          <a:bodyPr wrap="square" lIns="0" rIns="0" tIns="0" bIns="0" anchor="t">
            <a:spAutoFit/>
          </a:bodyPr>
          <a:lstStyle/>
          <a:p>
            <a:pPr algn="l"/>
            <a:r>
              <a:rPr sz="1300" b="1">
                <a:solidFill>
                  <a:schemeClr val="tx1"/>
                </a:solidFill>
              </a:rPr>
              <a:t>Malaysian job ads</a:t>
            </a:r>
          </a:p>
        </p:txBody>
      </p:sp>
      <p:sp>
        <p:nvSpPr>
          <p:cNvPr id="16" name="TextBox 15"/>
          <p:cNvSpPr txBox="1"/>
          <p:nvPr/>
        </p:nvSpPr>
        <p:spPr>
          <a:xfrm>
            <a:off x="1417320" y="2916936"/>
            <a:ext cx="3429000" cy="292608"/>
          </a:xfrm>
          <a:prstGeom prst="rect">
            <a:avLst/>
          </a:prstGeom>
          <a:noFill/>
        </p:spPr>
        <p:txBody>
          <a:bodyPr wrap="square" lIns="0" rIns="0" tIns="0" bIns="0" anchor="t">
            <a:spAutoFit/>
          </a:bodyPr>
          <a:lstStyle/>
          <a:p>
            <a:pPr algn="l"/>
            <a:r>
              <a:rPr sz="1050" b="0">
                <a:solidFill>
                  <a:schemeClr val="tx2"/>
                </a:solidFill>
              </a:rPr>
              <a:t>freehire.me: postings per role and per skill, newest openings</a:t>
            </a:r>
          </a:p>
        </p:txBody>
      </p:sp>
      <p:sp>
        <p:nvSpPr>
          <p:cNvPr id="17" name="Rounded Rectangle 16"/>
          <p:cNvSpPr/>
          <p:nvPr/>
        </p:nvSpPr>
        <p:spPr>
          <a:xfrm>
            <a:off x="731520" y="3355848"/>
            <a:ext cx="4206240" cy="676656"/>
          </a:xfrm>
          <a:prstGeom prst="roundRect">
            <a:avLst>
              <a:gd name="adj" fmla="val 10000"/>
            </a:avLst>
          </a:prstGeom>
          <a:solidFill>
            <a:schemeClr val="bg1"/>
          </a:solidFill>
          <a:ln w="9525">
            <a:solidFill>
              <a:srgbClr val="E3DFD6"/>
            </a:solidFill>
          </a:ln>
        </p:spPr>
        <p:txBody>
          <a:bodyPr rtlCol="0" anchor="ctr"/>
          <a:lstStyle/>
          <a:p>
            <a:pPr algn="ctr"/>
          </a:p>
        </p:txBody>
      </p:sp>
      <p:sp>
        <p:nvSpPr>
          <p:cNvPr id="18" name="LuUsers tile"/>
          <p:cNvSpPr/>
          <p:nvPr/>
        </p:nvSpPr>
        <p:spPr>
          <a:xfrm>
            <a:off x="868680" y="3483864"/>
            <a:ext cx="420624" cy="420624"/>
          </a:xfrm>
          <a:prstGeom prst="roundRect">
            <a:avLst>
              <a:gd name="adj" fmla="val 22000"/>
            </a:avLst>
          </a:prstGeom>
          <a:solidFill>
            <a:schemeClr val="accent5"/>
          </a:solidFill>
          <a:ln>
            <a:noFill/>
          </a:ln>
        </p:spPr>
        <p:txBody>
          <a:bodyPr rtlCol="0" anchor="ctr"/>
          <a:lstStyle/>
          <a:p>
            <a:pPr algn="ctr"/>
          </a:p>
        </p:txBody>
      </p:sp>
      <p:pic>
        <p:nvPicPr>
          <p:cNvPr id="19" name="LuUsers icon" descr="image.png"/>
          <p:cNvPicPr>
            <a:picLocks noChangeAspect="1"/>
          </p:cNvPicPr>
          <p:nvPr/>
        </p:nvPicPr>
        <p:blipFill>
          <a:blip r:embed="rId5"/>
          <a:stretch>
            <a:fillRect/>
          </a:stretch>
        </p:blipFill>
        <p:spPr>
          <a:xfrm>
            <a:off x="973836" y="3589020"/>
            <a:ext cx="210312" cy="210312"/>
          </a:xfrm>
          <a:prstGeom prst="rect">
            <a:avLst/>
          </a:prstGeom>
        </p:spPr>
      </p:pic>
      <p:sp>
        <p:nvSpPr>
          <p:cNvPr id="20" name="TextBox 19"/>
          <p:cNvSpPr txBox="1"/>
          <p:nvPr/>
        </p:nvSpPr>
        <p:spPr>
          <a:xfrm>
            <a:off x="1417320" y="3429000"/>
            <a:ext cx="3383280" cy="274320"/>
          </a:xfrm>
          <a:prstGeom prst="rect">
            <a:avLst/>
          </a:prstGeom>
          <a:noFill/>
        </p:spPr>
        <p:txBody>
          <a:bodyPr wrap="square" lIns="0" rIns="0" tIns="0" bIns="0" anchor="t">
            <a:spAutoFit/>
          </a:bodyPr>
          <a:lstStyle/>
          <a:p>
            <a:pPr algn="l"/>
            <a:r>
              <a:rPr sz="1300" b="1">
                <a:solidFill>
                  <a:schemeClr val="tx1"/>
                </a:solidFill>
              </a:rPr>
              <a:t>Global hiring</a:t>
            </a:r>
          </a:p>
        </p:txBody>
      </p:sp>
      <p:sp>
        <p:nvSpPr>
          <p:cNvPr id="21" name="TextBox 20"/>
          <p:cNvSpPr txBox="1"/>
          <p:nvPr/>
        </p:nvSpPr>
        <p:spPr>
          <a:xfrm>
            <a:off x="1417320" y="3703320"/>
            <a:ext cx="3429000" cy="292608"/>
          </a:xfrm>
          <a:prstGeom prst="rect">
            <a:avLst/>
          </a:prstGeom>
          <a:noFill/>
        </p:spPr>
        <p:txBody>
          <a:bodyPr wrap="square" lIns="0" rIns="0" tIns="0" bIns="0" anchor="t">
            <a:spAutoFit/>
          </a:bodyPr>
          <a:lstStyle/>
          <a:p>
            <a:pPr algn="l"/>
            <a:r>
              <a:rPr sz="1050" b="0">
                <a:solidFill>
                  <a:schemeClr val="tx2"/>
                </a:solidFill>
              </a:rPr>
              <a:t>Hacker News “Who is hiring?” threads</a:t>
            </a:r>
          </a:p>
        </p:txBody>
      </p:sp>
      <p:sp>
        <p:nvSpPr>
          <p:cNvPr id="22" name="Rounded Rectangle 21"/>
          <p:cNvSpPr/>
          <p:nvPr/>
        </p:nvSpPr>
        <p:spPr>
          <a:xfrm>
            <a:off x="731520" y="4142232"/>
            <a:ext cx="4206240" cy="676656"/>
          </a:xfrm>
          <a:prstGeom prst="roundRect">
            <a:avLst>
              <a:gd name="adj" fmla="val 10000"/>
            </a:avLst>
          </a:prstGeom>
          <a:solidFill>
            <a:schemeClr val="bg1"/>
          </a:solidFill>
          <a:ln w="9525">
            <a:solidFill>
              <a:srgbClr val="E3DFD6"/>
            </a:solidFill>
          </a:ln>
        </p:spPr>
        <p:txBody>
          <a:bodyPr rtlCol="0" anchor="ctr"/>
          <a:lstStyle/>
          <a:p>
            <a:pPr algn="ctr"/>
          </a:p>
        </p:txBody>
      </p:sp>
      <p:sp>
        <p:nvSpPr>
          <p:cNvPr id="23" name="LuMonitorSmartphone tile"/>
          <p:cNvSpPr/>
          <p:nvPr/>
        </p:nvSpPr>
        <p:spPr>
          <a:xfrm>
            <a:off x="868680" y="4270248"/>
            <a:ext cx="420624" cy="420624"/>
          </a:xfrm>
          <a:prstGeom prst="roundRect">
            <a:avLst>
              <a:gd name="adj" fmla="val 22000"/>
            </a:avLst>
          </a:prstGeom>
          <a:solidFill>
            <a:schemeClr val="accent5"/>
          </a:solidFill>
          <a:ln>
            <a:noFill/>
          </a:ln>
        </p:spPr>
        <p:txBody>
          <a:bodyPr rtlCol="0" anchor="ctr"/>
          <a:lstStyle/>
          <a:p>
            <a:pPr algn="ctr"/>
          </a:p>
        </p:txBody>
      </p:sp>
      <p:pic>
        <p:nvPicPr>
          <p:cNvPr id="24" name="LuMonitorSmartphone icon" descr="image.png"/>
          <p:cNvPicPr>
            <a:picLocks noChangeAspect="1"/>
          </p:cNvPicPr>
          <p:nvPr/>
        </p:nvPicPr>
        <p:blipFill>
          <a:blip r:embed="rId6"/>
          <a:stretch>
            <a:fillRect/>
          </a:stretch>
        </p:blipFill>
        <p:spPr>
          <a:xfrm>
            <a:off x="973836" y="4375404"/>
            <a:ext cx="210312" cy="210312"/>
          </a:xfrm>
          <a:prstGeom prst="rect">
            <a:avLst/>
          </a:prstGeom>
        </p:spPr>
      </p:pic>
      <p:sp>
        <p:nvSpPr>
          <p:cNvPr id="25" name="TextBox 24"/>
          <p:cNvSpPr txBox="1"/>
          <p:nvPr/>
        </p:nvSpPr>
        <p:spPr>
          <a:xfrm>
            <a:off x="1417320" y="4215384"/>
            <a:ext cx="3383280" cy="274320"/>
          </a:xfrm>
          <a:prstGeom prst="rect">
            <a:avLst/>
          </a:prstGeom>
          <a:noFill/>
        </p:spPr>
        <p:txBody>
          <a:bodyPr wrap="square" lIns="0" rIns="0" tIns="0" bIns="0" anchor="t">
            <a:spAutoFit/>
          </a:bodyPr>
          <a:lstStyle/>
          <a:p>
            <a:pPr algn="l"/>
            <a:r>
              <a:rPr sz="1300" b="1">
                <a:solidFill>
                  <a:schemeClr val="tx1"/>
                </a:solidFill>
              </a:rPr>
              <a:t>Developer attention</a:t>
            </a:r>
          </a:p>
        </p:txBody>
      </p:sp>
      <p:sp>
        <p:nvSpPr>
          <p:cNvPr id="26" name="TextBox 25"/>
          <p:cNvSpPr txBox="1"/>
          <p:nvPr/>
        </p:nvSpPr>
        <p:spPr>
          <a:xfrm>
            <a:off x="1417320" y="4489704"/>
            <a:ext cx="3429000" cy="292608"/>
          </a:xfrm>
          <a:prstGeom prst="rect">
            <a:avLst/>
          </a:prstGeom>
          <a:noFill/>
        </p:spPr>
        <p:txBody>
          <a:bodyPr wrap="square" lIns="0" rIns="0" tIns="0" bIns="0" anchor="t">
            <a:spAutoFit/>
          </a:bodyPr>
          <a:lstStyle/>
          <a:p>
            <a:pPr algn="l"/>
            <a:r>
              <a:rPr sz="1050" b="0">
                <a:solidFill>
                  <a:schemeClr val="tx2"/>
                </a:solidFill>
              </a:rPr>
              <a:t>Stack Overflow, GitHub, npm and PyPI activity</a:t>
            </a:r>
          </a:p>
        </p:txBody>
      </p:sp>
      <p:sp>
        <p:nvSpPr>
          <p:cNvPr id="27" name="Rounded Rectangle 26"/>
          <p:cNvSpPr/>
          <p:nvPr/>
        </p:nvSpPr>
        <p:spPr>
          <a:xfrm>
            <a:off x="731520" y="4928616"/>
            <a:ext cx="4206240" cy="676656"/>
          </a:xfrm>
          <a:prstGeom prst="roundRect">
            <a:avLst>
              <a:gd name="adj" fmla="val 10000"/>
            </a:avLst>
          </a:prstGeom>
          <a:solidFill>
            <a:schemeClr val="bg1"/>
          </a:solidFill>
          <a:ln w="9525">
            <a:solidFill>
              <a:srgbClr val="E3DFD6"/>
            </a:solidFill>
          </a:ln>
        </p:spPr>
        <p:txBody>
          <a:bodyPr rtlCol="0" anchor="ctr"/>
          <a:lstStyle/>
          <a:p>
            <a:pPr algn="ctr"/>
          </a:p>
        </p:txBody>
      </p:sp>
      <p:sp>
        <p:nvSpPr>
          <p:cNvPr id="28" name="LuChartColumn tile"/>
          <p:cNvSpPr/>
          <p:nvPr/>
        </p:nvSpPr>
        <p:spPr>
          <a:xfrm>
            <a:off x="868680" y="5056631"/>
            <a:ext cx="420624" cy="420624"/>
          </a:xfrm>
          <a:prstGeom prst="roundRect">
            <a:avLst>
              <a:gd name="adj" fmla="val 22000"/>
            </a:avLst>
          </a:prstGeom>
          <a:solidFill>
            <a:schemeClr val="accent5"/>
          </a:solidFill>
          <a:ln>
            <a:noFill/>
          </a:ln>
        </p:spPr>
        <p:txBody>
          <a:bodyPr rtlCol="0" anchor="ctr"/>
          <a:lstStyle/>
          <a:p>
            <a:pPr algn="ctr"/>
          </a:p>
        </p:txBody>
      </p:sp>
      <p:pic>
        <p:nvPicPr>
          <p:cNvPr id="29" name="LuChartColumn icon" descr="image.png"/>
          <p:cNvPicPr>
            <a:picLocks noChangeAspect="1"/>
          </p:cNvPicPr>
          <p:nvPr/>
        </p:nvPicPr>
        <p:blipFill>
          <a:blip r:embed="rId7"/>
          <a:stretch>
            <a:fillRect/>
          </a:stretch>
        </p:blipFill>
        <p:spPr>
          <a:xfrm>
            <a:off x="973836" y="5161788"/>
            <a:ext cx="210312" cy="210312"/>
          </a:xfrm>
          <a:prstGeom prst="rect">
            <a:avLst/>
          </a:prstGeom>
        </p:spPr>
      </p:pic>
      <p:sp>
        <p:nvSpPr>
          <p:cNvPr id="30" name="TextBox 29"/>
          <p:cNvSpPr txBox="1"/>
          <p:nvPr/>
        </p:nvSpPr>
        <p:spPr>
          <a:xfrm>
            <a:off x="1417320" y="5001768"/>
            <a:ext cx="3383280" cy="274320"/>
          </a:xfrm>
          <a:prstGeom prst="rect">
            <a:avLst/>
          </a:prstGeom>
          <a:noFill/>
        </p:spPr>
        <p:txBody>
          <a:bodyPr wrap="square" lIns="0" rIns="0" tIns="0" bIns="0" anchor="t">
            <a:spAutoFit/>
          </a:bodyPr>
          <a:lstStyle/>
          <a:p>
            <a:pPr algn="l"/>
            <a:r>
              <a:rPr sz="1300" b="1">
                <a:solidFill>
                  <a:schemeClr val="tx1"/>
                </a:solidFill>
              </a:rPr>
              <a:t>Malaysian statistics</a:t>
            </a:r>
          </a:p>
        </p:txBody>
      </p:sp>
      <p:sp>
        <p:nvSpPr>
          <p:cNvPr id="31" name="TextBox 30"/>
          <p:cNvSpPr txBox="1"/>
          <p:nvPr/>
        </p:nvSpPr>
        <p:spPr>
          <a:xfrm>
            <a:off x="1417320" y="5276088"/>
            <a:ext cx="3429000" cy="292608"/>
          </a:xfrm>
          <a:prstGeom prst="rect">
            <a:avLst/>
          </a:prstGeom>
          <a:noFill/>
        </p:spPr>
        <p:txBody>
          <a:bodyPr wrap="square" lIns="0" rIns="0" tIns="0" bIns="0" anchor="t">
            <a:spAutoFit/>
          </a:bodyPr>
          <a:lstStyle/>
          <a:p>
            <a:pPr algn="l"/>
            <a:r>
              <a:rPr sz="1050" b="0">
                <a:solidFill>
                  <a:schemeClr val="tx2"/>
                </a:solidFill>
              </a:rPr>
              <a:t>OpenDOSM labour force, sector employment, salaries, prices</a:t>
            </a:r>
          </a:p>
        </p:txBody>
      </p:sp>
      <p:sp>
        <p:nvSpPr>
          <p:cNvPr id="32" name="Rounded Rectangle 31"/>
          <p:cNvSpPr/>
          <p:nvPr/>
        </p:nvSpPr>
        <p:spPr>
          <a:xfrm>
            <a:off x="5175504" y="1746504"/>
            <a:ext cx="6318504" cy="3090864"/>
          </a:xfrm>
          <a:prstGeom prst="roundRect">
            <a:avLst>
              <a:gd name="adj" fmla="val 3000"/>
            </a:avLst>
          </a:prstGeom>
          <a:solidFill>
            <a:schemeClr val="bg1"/>
          </a:solidFill>
          <a:ln w="9525">
            <a:solidFill>
              <a:srgbClr val="E3DFD6"/>
            </a:solidFill>
          </a:ln>
        </p:spPr>
        <p:txBody>
          <a:bodyPr rtlCol="0" anchor="ctr"/>
          <a:lstStyle/>
          <a:p>
            <a:pPr algn="ctr"/>
          </a:p>
        </p:txBody>
      </p:sp>
      <p:pic>
        <p:nvPicPr>
          <p:cNvPr id="33" name="Screenshot: Future Skills Radar" descr="Screenshot: Future Skills Radar"/>
          <p:cNvPicPr>
            <a:picLocks noChangeAspect="1"/>
          </p:cNvPicPr>
          <p:nvPr/>
        </p:nvPicPr>
        <p:blipFill>
          <a:blip r:embed="rId8"/>
          <a:stretch>
            <a:fillRect/>
          </a:stretch>
        </p:blipFill>
        <p:spPr>
          <a:xfrm>
            <a:off x="5212080" y="1783080"/>
            <a:ext cx="6245352" cy="3017712"/>
          </a:xfrm>
          <a:prstGeom prst="rect">
            <a:avLst/>
          </a:prstGeom>
        </p:spPr>
      </p:pic>
      <p:sp>
        <p:nvSpPr>
          <p:cNvPr id="34" name="Rounded Rectangle 33"/>
          <p:cNvSpPr/>
          <p:nvPr/>
        </p:nvSpPr>
        <p:spPr>
          <a:xfrm>
            <a:off x="5212080" y="4956048"/>
            <a:ext cx="1161288" cy="804672"/>
          </a:xfrm>
          <a:prstGeom prst="roundRect">
            <a:avLst>
              <a:gd name="adj" fmla="val 12000"/>
            </a:avLst>
          </a:prstGeom>
          <a:solidFill>
            <a:schemeClr val="accent5"/>
          </a:solidFill>
          <a:ln>
            <a:noFill/>
          </a:ln>
        </p:spPr>
        <p:txBody>
          <a:bodyPr rtlCol="0" anchor="ctr"/>
          <a:lstStyle/>
          <a:p>
            <a:pPr algn="ctr"/>
          </a:p>
        </p:txBody>
      </p:sp>
      <p:sp>
        <p:nvSpPr>
          <p:cNvPr id="35" name="TextBox 34"/>
          <p:cNvSpPr txBox="1"/>
          <p:nvPr/>
        </p:nvSpPr>
        <p:spPr>
          <a:xfrm>
            <a:off x="5303520" y="5029200"/>
            <a:ext cx="978408" cy="292608"/>
          </a:xfrm>
          <a:prstGeom prst="rect">
            <a:avLst/>
          </a:prstGeom>
          <a:noFill/>
        </p:spPr>
        <p:txBody>
          <a:bodyPr wrap="square" lIns="0" rIns="0" tIns="0" bIns="0" anchor="t">
            <a:spAutoFit/>
          </a:bodyPr>
          <a:lstStyle/>
          <a:p>
            <a:pPr algn="ctr"/>
            <a:r>
              <a:rPr sz="1300" b="1">
                <a:solidFill>
                  <a:schemeClr val="accent1"/>
                </a:solidFill>
              </a:rPr>
              <a:t>Collect</a:t>
            </a:r>
          </a:p>
        </p:txBody>
      </p:sp>
      <p:sp>
        <p:nvSpPr>
          <p:cNvPr id="36" name="TextBox 35"/>
          <p:cNvSpPr txBox="1"/>
          <p:nvPr/>
        </p:nvSpPr>
        <p:spPr>
          <a:xfrm>
            <a:off x="5285232" y="5340096"/>
            <a:ext cx="1014984" cy="365760"/>
          </a:xfrm>
          <a:prstGeom prst="rect">
            <a:avLst/>
          </a:prstGeom>
          <a:noFill/>
        </p:spPr>
        <p:txBody>
          <a:bodyPr wrap="square" lIns="0" rIns="0" tIns="0" bIns="0" anchor="t">
            <a:spAutoFit/>
          </a:bodyPr>
          <a:lstStyle/>
          <a:p>
            <a:pPr algn="ctr"/>
            <a:r>
              <a:rPr sz="950" b="0">
                <a:solidFill>
                  <a:schemeClr val="tx2"/>
                </a:solidFill>
              </a:rPr>
              <a:t>weekly, GitHub Actions</a:t>
            </a:r>
          </a:p>
        </p:txBody>
      </p:sp>
      <p:sp>
        <p:nvSpPr>
          <p:cNvPr id="37" name="Rounded Rectangle 36"/>
          <p:cNvSpPr/>
          <p:nvPr/>
        </p:nvSpPr>
        <p:spPr>
          <a:xfrm>
            <a:off x="6483096" y="4956048"/>
            <a:ext cx="1161288" cy="804672"/>
          </a:xfrm>
          <a:prstGeom prst="roundRect">
            <a:avLst>
              <a:gd name="adj" fmla="val 12000"/>
            </a:avLst>
          </a:prstGeom>
          <a:solidFill>
            <a:schemeClr val="accent5"/>
          </a:solidFill>
          <a:ln>
            <a:noFill/>
          </a:ln>
        </p:spPr>
        <p:txBody>
          <a:bodyPr rtlCol="0" anchor="ctr"/>
          <a:lstStyle/>
          <a:p>
            <a:pPr algn="ctr"/>
          </a:p>
        </p:txBody>
      </p:sp>
      <p:sp>
        <p:nvSpPr>
          <p:cNvPr id="38" name="TextBox 37"/>
          <p:cNvSpPr txBox="1"/>
          <p:nvPr/>
        </p:nvSpPr>
        <p:spPr>
          <a:xfrm>
            <a:off x="6574536" y="5029200"/>
            <a:ext cx="978408" cy="292608"/>
          </a:xfrm>
          <a:prstGeom prst="rect">
            <a:avLst/>
          </a:prstGeom>
          <a:noFill/>
        </p:spPr>
        <p:txBody>
          <a:bodyPr wrap="square" lIns="0" rIns="0" tIns="0" bIns="0" anchor="t">
            <a:spAutoFit/>
          </a:bodyPr>
          <a:lstStyle/>
          <a:p>
            <a:pPr algn="ctr"/>
            <a:r>
              <a:rPr sz="1300" b="1">
                <a:solidFill>
                  <a:schemeClr val="accent1"/>
                </a:solidFill>
              </a:rPr>
              <a:t>Forecast</a:t>
            </a:r>
          </a:p>
        </p:txBody>
      </p:sp>
      <p:sp>
        <p:nvSpPr>
          <p:cNvPr id="39" name="TextBox 38"/>
          <p:cNvSpPr txBox="1"/>
          <p:nvPr/>
        </p:nvSpPr>
        <p:spPr>
          <a:xfrm>
            <a:off x="6556248" y="5340096"/>
            <a:ext cx="1014984" cy="365760"/>
          </a:xfrm>
          <a:prstGeom prst="rect">
            <a:avLst/>
          </a:prstGeom>
          <a:noFill/>
        </p:spPr>
        <p:txBody>
          <a:bodyPr wrap="square" lIns="0" rIns="0" tIns="0" bIns="0" anchor="t">
            <a:spAutoFit/>
          </a:bodyPr>
          <a:lstStyle/>
          <a:p>
            <a:pPr algn="ctr"/>
            <a:r>
              <a:rPr sz="950" b="0">
                <a:solidFill>
                  <a:schemeClr val="tx2"/>
                </a:solidFill>
              </a:rPr>
              <a:t>to 2030, 80% ranges</a:t>
            </a:r>
          </a:p>
        </p:txBody>
      </p:sp>
      <p:sp>
        <p:nvSpPr>
          <p:cNvPr id="40" name="Rounded Rectangle 39"/>
          <p:cNvSpPr/>
          <p:nvPr/>
        </p:nvSpPr>
        <p:spPr>
          <a:xfrm>
            <a:off x="7754112" y="4956048"/>
            <a:ext cx="1161288" cy="804672"/>
          </a:xfrm>
          <a:prstGeom prst="roundRect">
            <a:avLst>
              <a:gd name="adj" fmla="val 12000"/>
            </a:avLst>
          </a:prstGeom>
          <a:solidFill>
            <a:schemeClr val="accent5"/>
          </a:solidFill>
          <a:ln>
            <a:noFill/>
          </a:ln>
        </p:spPr>
        <p:txBody>
          <a:bodyPr rtlCol="0" anchor="ctr"/>
          <a:lstStyle/>
          <a:p>
            <a:pPr algn="ctr"/>
          </a:p>
        </p:txBody>
      </p:sp>
      <p:sp>
        <p:nvSpPr>
          <p:cNvPr id="41" name="TextBox 40"/>
          <p:cNvSpPr txBox="1"/>
          <p:nvPr/>
        </p:nvSpPr>
        <p:spPr>
          <a:xfrm>
            <a:off x="7845552" y="5029200"/>
            <a:ext cx="978408" cy="292608"/>
          </a:xfrm>
          <a:prstGeom prst="rect">
            <a:avLst/>
          </a:prstGeom>
          <a:noFill/>
        </p:spPr>
        <p:txBody>
          <a:bodyPr wrap="square" lIns="0" rIns="0" tIns="0" bIns="0" anchor="t">
            <a:spAutoFit/>
          </a:bodyPr>
          <a:lstStyle/>
          <a:p>
            <a:pPr algn="ctr"/>
            <a:r>
              <a:rPr sz="1300" b="1">
                <a:solidFill>
                  <a:schemeClr val="accent1"/>
                </a:solidFill>
              </a:rPr>
              <a:t>Wait</a:t>
            </a:r>
          </a:p>
        </p:txBody>
      </p:sp>
      <p:sp>
        <p:nvSpPr>
          <p:cNvPr id="42" name="TextBox 41"/>
          <p:cNvSpPr txBox="1"/>
          <p:nvPr/>
        </p:nvSpPr>
        <p:spPr>
          <a:xfrm>
            <a:off x="7827264" y="5340096"/>
            <a:ext cx="1014984" cy="365760"/>
          </a:xfrm>
          <a:prstGeom prst="rect">
            <a:avLst/>
          </a:prstGeom>
          <a:noFill/>
        </p:spPr>
        <p:txBody>
          <a:bodyPr wrap="square" lIns="0" rIns="0" tIns="0" bIns="0" anchor="t">
            <a:spAutoFit/>
          </a:bodyPr>
          <a:lstStyle/>
          <a:p>
            <a:pPr algn="ctr"/>
            <a:r>
              <a:rPr sz="950" b="0">
                <a:solidFill>
                  <a:schemeClr val="tx2"/>
                </a:solidFill>
              </a:rPr>
              <a:t>snapshot pending</a:t>
            </a:r>
          </a:p>
        </p:txBody>
      </p:sp>
      <p:sp>
        <p:nvSpPr>
          <p:cNvPr id="43" name="Rounded Rectangle 42"/>
          <p:cNvSpPr/>
          <p:nvPr/>
        </p:nvSpPr>
        <p:spPr>
          <a:xfrm>
            <a:off x="9025128" y="4956048"/>
            <a:ext cx="1161288" cy="804672"/>
          </a:xfrm>
          <a:prstGeom prst="roundRect">
            <a:avLst>
              <a:gd name="adj" fmla="val 12000"/>
            </a:avLst>
          </a:prstGeom>
          <a:solidFill>
            <a:schemeClr val="accent6"/>
          </a:solidFill>
          <a:ln>
            <a:noFill/>
          </a:ln>
        </p:spPr>
        <p:txBody>
          <a:bodyPr rtlCol="0" anchor="ctr"/>
          <a:lstStyle/>
          <a:p>
            <a:pPr algn="ctr"/>
          </a:p>
        </p:txBody>
      </p:sp>
      <p:sp>
        <p:nvSpPr>
          <p:cNvPr id="44" name="TextBox 43"/>
          <p:cNvSpPr txBox="1"/>
          <p:nvPr/>
        </p:nvSpPr>
        <p:spPr>
          <a:xfrm>
            <a:off x="9116568" y="5029200"/>
            <a:ext cx="978408" cy="292608"/>
          </a:xfrm>
          <a:prstGeom prst="rect">
            <a:avLst/>
          </a:prstGeom>
          <a:noFill/>
        </p:spPr>
        <p:txBody>
          <a:bodyPr wrap="square" lIns="0" rIns="0" tIns="0" bIns="0" anchor="t">
            <a:spAutoFit/>
          </a:bodyPr>
          <a:lstStyle/>
          <a:p>
            <a:pPr algn="ctr"/>
            <a:r>
              <a:rPr sz="1300" b="1">
                <a:solidFill>
                  <a:schemeClr val="tx1"/>
                </a:solidFill>
              </a:rPr>
              <a:t>Approve</a:t>
            </a:r>
          </a:p>
        </p:txBody>
      </p:sp>
      <p:sp>
        <p:nvSpPr>
          <p:cNvPr id="45" name="TextBox 44"/>
          <p:cNvSpPr txBox="1"/>
          <p:nvPr/>
        </p:nvSpPr>
        <p:spPr>
          <a:xfrm>
            <a:off x="9098280" y="5340096"/>
            <a:ext cx="1014984" cy="365760"/>
          </a:xfrm>
          <a:prstGeom prst="rect">
            <a:avLst/>
          </a:prstGeom>
          <a:noFill/>
        </p:spPr>
        <p:txBody>
          <a:bodyPr wrap="square" lIns="0" rIns="0" tIns="0" bIns="0" anchor="t">
            <a:spAutoFit/>
          </a:bodyPr>
          <a:lstStyle/>
          <a:p>
            <a:pPr algn="ctr"/>
            <a:r>
              <a:rPr sz="950" b="0">
                <a:solidFill>
                  <a:schemeClr val="tx2"/>
                </a:solidFill>
              </a:rPr>
              <a:t>by a named person</a:t>
            </a:r>
          </a:p>
        </p:txBody>
      </p:sp>
      <p:sp>
        <p:nvSpPr>
          <p:cNvPr id="46" name="Rounded Rectangle 45"/>
          <p:cNvSpPr/>
          <p:nvPr/>
        </p:nvSpPr>
        <p:spPr>
          <a:xfrm>
            <a:off x="10296144" y="4956048"/>
            <a:ext cx="1161288" cy="804672"/>
          </a:xfrm>
          <a:prstGeom prst="roundRect">
            <a:avLst>
              <a:gd name="adj" fmla="val 12000"/>
            </a:avLst>
          </a:prstGeom>
          <a:solidFill>
            <a:schemeClr val="accent5"/>
          </a:solidFill>
          <a:ln>
            <a:noFill/>
          </a:ln>
        </p:spPr>
        <p:txBody>
          <a:bodyPr rtlCol="0" anchor="ctr"/>
          <a:lstStyle/>
          <a:p>
            <a:pPr algn="ctr"/>
          </a:p>
        </p:txBody>
      </p:sp>
      <p:sp>
        <p:nvSpPr>
          <p:cNvPr id="47" name="TextBox 46"/>
          <p:cNvSpPr txBox="1"/>
          <p:nvPr/>
        </p:nvSpPr>
        <p:spPr>
          <a:xfrm>
            <a:off x="10387584" y="5029200"/>
            <a:ext cx="978408" cy="292608"/>
          </a:xfrm>
          <a:prstGeom prst="rect">
            <a:avLst/>
          </a:prstGeom>
          <a:noFill/>
        </p:spPr>
        <p:txBody>
          <a:bodyPr wrap="square" lIns="0" rIns="0" tIns="0" bIns="0" anchor="t">
            <a:spAutoFit/>
          </a:bodyPr>
          <a:lstStyle/>
          <a:p>
            <a:pPr algn="ctr"/>
            <a:r>
              <a:rPr sz="1300" b="1">
                <a:solidFill>
                  <a:schemeClr val="accent1"/>
                </a:solidFill>
              </a:rPr>
              <a:t>Live</a:t>
            </a:r>
          </a:p>
        </p:txBody>
      </p:sp>
      <p:sp>
        <p:nvSpPr>
          <p:cNvPr id="48" name="TextBox 47"/>
          <p:cNvSpPr txBox="1"/>
          <p:nvPr/>
        </p:nvSpPr>
        <p:spPr>
          <a:xfrm>
            <a:off x="10369296" y="5340096"/>
            <a:ext cx="1014984" cy="365760"/>
          </a:xfrm>
          <a:prstGeom prst="rect">
            <a:avLst/>
          </a:prstGeom>
          <a:noFill/>
        </p:spPr>
        <p:txBody>
          <a:bodyPr wrap="square" lIns="0" rIns="0" tIns="0" bIns="0" anchor="t">
            <a:spAutoFit/>
          </a:bodyPr>
          <a:lstStyle/>
          <a:p>
            <a:pPr algn="ctr"/>
            <a:r>
              <a:rPr sz="950" b="0">
                <a:solidFill>
                  <a:schemeClr val="tx2"/>
                </a:solidFill>
              </a:rPr>
              <a:t>dated on Sources</a:t>
            </a:r>
          </a:p>
        </p:txBody>
      </p:sp>
      <p:sp>
        <p:nvSpPr>
          <p:cNvPr id="49" name="TextBox 48"/>
          <p:cNvSpPr txBox="1"/>
          <p:nvPr/>
        </p:nvSpPr>
        <p:spPr>
          <a:xfrm>
            <a:off x="731520" y="5897880"/>
            <a:ext cx="10725912" cy="274320"/>
          </a:xfrm>
          <a:prstGeom prst="rect">
            <a:avLst/>
          </a:prstGeom>
          <a:noFill/>
        </p:spPr>
        <p:txBody>
          <a:bodyPr wrap="square" lIns="0" rIns="0" tIns="0" bIns="0" anchor="ctr">
            <a:spAutoFit/>
          </a:bodyPr>
          <a:lstStyle/>
          <a:p>
            <a:pPr algn="l"/>
            <a:r>
              <a:rPr sz="1100" b="0">
                <a:solidFill>
                  <a:schemeClr val="tx2"/>
                </a:solidFill>
              </a:rPr>
              <a:t>If a source fails, the last approved forecast stays live and arXiv falls back to OpenAlex. Every snapshot, and who approved it, is listed on the Sources page.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Three futures, and the speed where hers flips</a:t>
            </a:r>
          </a:p>
        </p:txBody>
      </p:sp>
      <p:sp>
        <p:nvSpPr>
          <p:cNvPr id="3" name="TextBox 2"/>
          <p:cNvSpPr txBox="1"/>
          <p:nvPr/>
        </p:nvSpPr>
        <p:spPr>
          <a:xfrm>
            <a:off x="731520" y="457200"/>
            <a:ext cx="2071116" cy="329184"/>
          </a:xfrm>
          <a:prstGeom prst="rect">
            <a:avLst/>
          </a:prstGeom>
          <a:noFill/>
        </p:spPr>
        <p:txBody>
          <a:bodyPr wrap="square" lIns="0" rIns="0" tIns="0" bIns="0" anchor="ctr">
            <a:spAutoFit/>
          </a:bodyPr>
          <a:lstStyle/>
          <a:p>
            <a:pPr algn="l"/>
            <a:r>
              <a:rPr sz="1300" b="1" spc="150">
                <a:solidFill>
                  <a:schemeClr val="accent1"/>
                </a:solidFill>
              </a:rPr>
              <a:t>THREE FUTURES</a:t>
            </a:r>
          </a:p>
        </p:txBody>
      </p:sp>
      <p:sp>
        <p:nvSpPr>
          <p:cNvPr id="4" name="Innovation &amp; Creativity · 30% pill"/>
          <p:cNvSpPr/>
          <p:nvPr/>
        </p:nvSpPr>
        <p:spPr>
          <a:xfrm>
            <a:off x="2894076" y="457200"/>
            <a:ext cx="251460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894076" y="457200"/>
            <a:ext cx="2514600" cy="329184"/>
          </a:xfrm>
          <a:prstGeom prst="rect">
            <a:avLst/>
          </a:prstGeom>
          <a:noFill/>
        </p:spPr>
        <p:txBody>
          <a:bodyPr wrap="square" lIns="0" rIns="0" tIns="0" bIns="0" anchor="ctr">
            <a:spAutoFit/>
          </a:bodyPr>
          <a:lstStyle/>
          <a:p>
            <a:pPr algn="ctr"/>
            <a:r>
              <a:rPr sz="1200" b="1">
                <a:solidFill>
                  <a:schemeClr val="accent1"/>
                </a:solidFill>
              </a:rPr>
              <a:t>Innovation &amp; Creativity · 30%</a:t>
            </a:r>
          </a:p>
        </p:txBody>
      </p:sp>
      <p:sp>
        <p:nvSpPr>
          <p:cNvPr id="6" name="Rounded Rectangle 5"/>
          <p:cNvSpPr/>
          <p:nvPr/>
        </p:nvSpPr>
        <p:spPr>
          <a:xfrm>
            <a:off x="9381744" y="457200"/>
            <a:ext cx="2075688" cy="329184"/>
          </a:xfrm>
          <a:prstGeom prst="roundRect">
            <a:avLst>
              <a:gd name="adj" fmla="val 50000"/>
            </a:avLst>
          </a:prstGeom>
          <a:solidFill>
            <a:schemeClr val="bg1"/>
          </a:solidFill>
          <a:ln w="9525">
            <a:solidFill>
              <a:srgbClr val="E3DFD6"/>
            </a:solidFill>
          </a:ln>
        </p:spPr>
        <p:txBody>
          <a:bodyPr rtlCol="0" anchor="ctr"/>
          <a:lstStyle/>
          <a:p>
            <a:pPr algn="ctr"/>
          </a:p>
        </p:txBody>
      </p:sp>
      <p:sp>
        <p:nvSpPr>
          <p:cNvPr id="7" name="TextBox 6"/>
          <p:cNvSpPr txBox="1"/>
          <p:nvPr/>
        </p:nvSpPr>
        <p:spPr>
          <a:xfrm>
            <a:off x="9381744" y="457200"/>
            <a:ext cx="2075688" cy="329184"/>
          </a:xfrm>
          <a:prstGeom prst="rect">
            <a:avLst/>
          </a:prstGeom>
          <a:noFill/>
        </p:spPr>
        <p:txBody>
          <a:bodyPr wrap="square" lIns="0" rIns="0" tIns="0" bIns="0" anchor="ctr">
            <a:spAutoFit/>
          </a:bodyPr>
          <a:lstStyle/>
          <a:p>
            <a:pPr algn="ctr"/>
            <a:r>
              <a:rPr sz="1100" b="0">
                <a:solidFill>
                  <a:schemeClr val="tx2"/>
                </a:solidFill>
              </a:rPr>
              <a:t>Live app · Aisyah demo</a:t>
            </a:r>
          </a:p>
        </p:txBody>
      </p:sp>
      <p:sp>
        <p:nvSpPr>
          <p:cNvPr id="8" name="TextBox 7"/>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09 / 17</a:t>
            </a:r>
          </a:p>
        </p:txBody>
      </p:sp>
      <p:sp>
        <p:nvSpPr>
          <p:cNvPr id="9" name="Rounded Rectangle 8"/>
          <p:cNvSpPr/>
          <p:nvPr/>
        </p:nvSpPr>
        <p:spPr>
          <a:xfrm>
            <a:off x="694944" y="1746504"/>
            <a:ext cx="6108192" cy="3242815"/>
          </a:xfrm>
          <a:prstGeom prst="roundRect">
            <a:avLst>
              <a:gd name="adj" fmla="val 3000"/>
            </a:avLst>
          </a:prstGeom>
          <a:solidFill>
            <a:schemeClr val="bg1"/>
          </a:solidFill>
          <a:ln w="9525">
            <a:solidFill>
              <a:srgbClr val="E3DFD6"/>
            </a:solidFill>
          </a:ln>
        </p:spPr>
        <p:txBody>
          <a:bodyPr rtlCol="0" anchor="ctr"/>
          <a:lstStyle/>
          <a:p>
            <a:pPr algn="ctr"/>
          </a:p>
        </p:txBody>
      </p:sp>
      <p:pic>
        <p:nvPicPr>
          <p:cNvPr id="10" name="Screenshot: Future roles with the custom AI-speed slider" descr="Screenshot: Future roles with the custom AI-speed slider"/>
          <p:cNvPicPr>
            <a:picLocks noChangeAspect="1"/>
          </p:cNvPicPr>
          <p:nvPr/>
        </p:nvPicPr>
        <p:blipFill>
          <a:blip r:embed="rId3"/>
          <a:stretch>
            <a:fillRect/>
          </a:stretch>
        </p:blipFill>
        <p:spPr>
          <a:xfrm>
            <a:off x="731520" y="1783080"/>
            <a:ext cx="6035040" cy="3169663"/>
          </a:xfrm>
          <a:prstGeom prst="rect">
            <a:avLst/>
          </a:prstGeom>
        </p:spPr>
      </p:pic>
      <p:sp>
        <p:nvSpPr>
          <p:cNvPr id="11" name="Rounded Rectangle 10"/>
          <p:cNvSpPr/>
          <p:nvPr/>
        </p:nvSpPr>
        <p:spPr>
          <a:xfrm>
            <a:off x="7040880" y="1783080"/>
            <a:ext cx="4416552" cy="1371600"/>
          </a:xfrm>
          <a:prstGeom prst="roundRect">
            <a:avLst>
              <a:gd name="adj" fmla="val 6000"/>
            </a:avLst>
          </a:prstGeom>
          <a:solidFill>
            <a:schemeClr val="bg1"/>
          </a:solidFill>
          <a:ln w="9525">
            <a:solidFill>
              <a:srgbClr val="E3DFD6"/>
            </a:solidFill>
          </a:ln>
        </p:spPr>
        <p:txBody>
          <a:bodyPr rtlCol="0" anchor="ctr"/>
          <a:lstStyle/>
          <a:p>
            <a:pPr algn="ctr"/>
          </a:p>
        </p:txBody>
      </p:sp>
      <p:sp>
        <p:nvSpPr>
          <p:cNvPr id="12" name="TextBox 11"/>
          <p:cNvSpPr txBox="1"/>
          <p:nvPr/>
        </p:nvSpPr>
        <p:spPr>
          <a:xfrm>
            <a:off x="7242048" y="1892807"/>
            <a:ext cx="4023360" cy="274320"/>
          </a:xfrm>
          <a:prstGeom prst="rect">
            <a:avLst/>
          </a:prstGeom>
          <a:noFill/>
        </p:spPr>
        <p:txBody>
          <a:bodyPr wrap="square" lIns="0" rIns="0" tIns="0" bIns="0" anchor="t">
            <a:spAutoFit/>
          </a:bodyPr>
          <a:lstStyle/>
          <a:p>
            <a:pPr algn="l"/>
            <a:r>
              <a:rPr sz="1300" b="1">
                <a:solidFill>
                  <a:schemeClr val="tx1"/>
                </a:solidFill>
              </a:rPr>
              <a:t>Her best match in three futures</a:t>
            </a:r>
          </a:p>
        </p:txBody>
      </p:sp>
      <p:sp>
        <p:nvSpPr>
          <p:cNvPr id="13" name="TextBox 12"/>
          <p:cNvSpPr txBox="1"/>
          <p:nvPr/>
        </p:nvSpPr>
        <p:spPr>
          <a:xfrm>
            <a:off x="7242048" y="2240280"/>
            <a:ext cx="1280160" cy="502920"/>
          </a:xfrm>
          <a:prstGeom prst="rect">
            <a:avLst/>
          </a:prstGeom>
          <a:noFill/>
        </p:spPr>
        <p:txBody>
          <a:bodyPr wrap="square" lIns="0" rIns="0" tIns="0" bIns="0" anchor="t">
            <a:spAutoFit/>
          </a:bodyPr>
          <a:lstStyle/>
          <a:p>
            <a:pPr algn="l"/>
            <a:r>
              <a:rPr sz="2600" b="1">
                <a:solidFill>
                  <a:schemeClr val="accent1"/>
                </a:solidFill>
              </a:rPr>
              <a:t>+29%</a:t>
            </a:r>
          </a:p>
        </p:txBody>
      </p:sp>
      <p:sp>
        <p:nvSpPr>
          <p:cNvPr id="14" name="TextBox 13"/>
          <p:cNvSpPr txBox="1"/>
          <p:nvPr/>
        </p:nvSpPr>
        <p:spPr>
          <a:xfrm>
            <a:off x="7242048" y="2743200"/>
            <a:ext cx="1280160" cy="274320"/>
          </a:xfrm>
          <a:prstGeom prst="rect">
            <a:avLst/>
          </a:prstGeom>
          <a:noFill/>
        </p:spPr>
        <p:txBody>
          <a:bodyPr wrap="square" lIns="0" rIns="0" tIns="0" bIns="0" anchor="t">
            <a:spAutoFit/>
          </a:bodyPr>
          <a:lstStyle/>
          <a:p>
            <a:pPr algn="l"/>
            <a:r>
              <a:rPr sz="1100" b="0">
                <a:solidFill>
                  <a:schemeClr val="tx2"/>
                </a:solidFill>
              </a:rPr>
              <a:t>slow</a:t>
            </a:r>
          </a:p>
        </p:txBody>
      </p:sp>
      <p:sp>
        <p:nvSpPr>
          <p:cNvPr id="15" name="TextBox 14"/>
          <p:cNvSpPr txBox="1"/>
          <p:nvPr/>
        </p:nvSpPr>
        <p:spPr>
          <a:xfrm>
            <a:off x="8613648" y="2240280"/>
            <a:ext cx="1280160" cy="502920"/>
          </a:xfrm>
          <a:prstGeom prst="rect">
            <a:avLst/>
          </a:prstGeom>
          <a:noFill/>
        </p:spPr>
        <p:txBody>
          <a:bodyPr wrap="square" lIns="0" rIns="0" tIns="0" bIns="0" anchor="t">
            <a:spAutoFit/>
          </a:bodyPr>
          <a:lstStyle/>
          <a:p>
            <a:pPr algn="l"/>
            <a:r>
              <a:rPr sz="2600" b="1">
                <a:solidFill>
                  <a:schemeClr val="accent1"/>
                </a:solidFill>
              </a:rPr>
              <a:t>+45%</a:t>
            </a:r>
          </a:p>
        </p:txBody>
      </p:sp>
      <p:sp>
        <p:nvSpPr>
          <p:cNvPr id="16" name="TextBox 15"/>
          <p:cNvSpPr txBox="1"/>
          <p:nvPr/>
        </p:nvSpPr>
        <p:spPr>
          <a:xfrm>
            <a:off x="8613648" y="2743200"/>
            <a:ext cx="1280160" cy="274320"/>
          </a:xfrm>
          <a:prstGeom prst="rect">
            <a:avLst/>
          </a:prstGeom>
          <a:noFill/>
        </p:spPr>
        <p:txBody>
          <a:bodyPr wrap="square" lIns="0" rIns="0" tIns="0" bIns="0" anchor="t">
            <a:spAutoFit/>
          </a:bodyPr>
          <a:lstStyle/>
          <a:p>
            <a:pPr algn="l"/>
            <a:r>
              <a:rPr sz="1100" b="0">
                <a:solidFill>
                  <a:schemeClr val="tx2"/>
                </a:solidFill>
              </a:rPr>
              <a:t>baseline</a:t>
            </a:r>
          </a:p>
        </p:txBody>
      </p:sp>
      <p:sp>
        <p:nvSpPr>
          <p:cNvPr id="17" name="TextBox 16"/>
          <p:cNvSpPr txBox="1"/>
          <p:nvPr/>
        </p:nvSpPr>
        <p:spPr>
          <a:xfrm>
            <a:off x="9985248" y="2240280"/>
            <a:ext cx="1280160" cy="502920"/>
          </a:xfrm>
          <a:prstGeom prst="rect">
            <a:avLst/>
          </a:prstGeom>
          <a:noFill/>
        </p:spPr>
        <p:txBody>
          <a:bodyPr wrap="square" lIns="0" rIns="0" tIns="0" bIns="0" anchor="t">
            <a:spAutoFit/>
          </a:bodyPr>
          <a:lstStyle/>
          <a:p>
            <a:pPr algn="l"/>
            <a:r>
              <a:rPr sz="2600" b="1">
                <a:solidFill>
                  <a:schemeClr val="accent1"/>
                </a:solidFill>
              </a:rPr>
              <a:t>+65%</a:t>
            </a:r>
          </a:p>
        </p:txBody>
      </p:sp>
      <p:sp>
        <p:nvSpPr>
          <p:cNvPr id="18" name="TextBox 17"/>
          <p:cNvSpPr txBox="1"/>
          <p:nvPr/>
        </p:nvSpPr>
        <p:spPr>
          <a:xfrm>
            <a:off x="9985248" y="2743200"/>
            <a:ext cx="1280160" cy="274320"/>
          </a:xfrm>
          <a:prstGeom prst="rect">
            <a:avLst/>
          </a:prstGeom>
          <a:noFill/>
        </p:spPr>
        <p:txBody>
          <a:bodyPr wrap="square" lIns="0" rIns="0" tIns="0" bIns="0" anchor="t">
            <a:spAutoFit/>
          </a:bodyPr>
          <a:lstStyle/>
          <a:p>
            <a:pPr algn="l"/>
            <a:r>
              <a:rPr sz="1100" b="0">
                <a:solidFill>
                  <a:schemeClr val="tx2"/>
                </a:solidFill>
              </a:rPr>
              <a:t>fast</a:t>
            </a:r>
          </a:p>
        </p:txBody>
      </p:sp>
      <p:sp>
        <p:nvSpPr>
          <p:cNvPr id="19" name="Tipping point"/>
          <p:cNvSpPr/>
          <p:nvPr/>
        </p:nvSpPr>
        <p:spPr>
          <a:xfrm>
            <a:off x="7040880" y="3291840"/>
            <a:ext cx="4416552" cy="1143000"/>
          </a:xfrm>
          <a:prstGeom prst="roundRect">
            <a:avLst>
              <a:gd name="adj" fmla="val 8000"/>
            </a:avLst>
          </a:prstGeom>
          <a:solidFill>
            <a:schemeClr val="accent6"/>
          </a:solidFill>
          <a:ln>
            <a:noFill/>
          </a:ln>
        </p:spPr>
        <p:txBody>
          <a:bodyPr rtlCol="0" anchor="ctr"/>
          <a:lstStyle/>
          <a:p>
            <a:pPr algn="ctr"/>
          </a:p>
        </p:txBody>
      </p:sp>
      <p:sp>
        <p:nvSpPr>
          <p:cNvPr id="20" name="TextBox 19"/>
          <p:cNvSpPr txBox="1"/>
          <p:nvPr/>
        </p:nvSpPr>
        <p:spPr>
          <a:xfrm>
            <a:off x="7242048" y="3383280"/>
            <a:ext cx="4023360" cy="274320"/>
          </a:xfrm>
          <a:prstGeom prst="rect">
            <a:avLst/>
          </a:prstGeom>
          <a:noFill/>
        </p:spPr>
        <p:txBody>
          <a:bodyPr wrap="square" lIns="0" rIns="0" tIns="0" bIns="0" anchor="t">
            <a:spAutoFit/>
          </a:bodyPr>
          <a:lstStyle/>
          <a:p>
            <a:pPr algn="l"/>
            <a:r>
              <a:rPr sz="1100" b="1" spc="100">
                <a:solidFill>
                  <a:srgbClr val="D9971F"/>
                </a:solidFill>
              </a:rPr>
              <a:t>TIPPING POINT</a:t>
            </a:r>
          </a:p>
        </p:txBody>
      </p:sp>
      <p:sp>
        <p:nvSpPr>
          <p:cNvPr id="21" name="TextBox 20"/>
          <p:cNvSpPr txBox="1"/>
          <p:nvPr/>
        </p:nvSpPr>
        <p:spPr>
          <a:xfrm>
            <a:off x="7242048" y="3639312"/>
            <a:ext cx="4069080" cy="749808"/>
          </a:xfrm>
          <a:prstGeom prst="rect">
            <a:avLst/>
          </a:prstGeom>
          <a:noFill/>
        </p:spPr>
        <p:txBody>
          <a:bodyPr wrap="square" lIns="0" rIns="0" tIns="0" bIns="0" anchor="t">
            <a:spAutoFit/>
          </a:bodyPr>
          <a:lstStyle/>
          <a:p>
            <a:pPr algn="l"/>
            <a:r>
              <a:rPr sz="1300" b="1">
                <a:solidFill>
                  <a:schemeClr val="tx1"/>
                </a:solidFill>
              </a:rPr>
              <a:t>Below 0.8× AI speed</a:t>
            </a:r>
            <a:r>
              <a:rPr sz="1300" b="0">
                <a:solidFill>
                  <a:schemeClr val="tx1"/>
                </a:solidFill>
              </a:rPr>
              <a:t>, BIM technician overtakes AI operations specialist. Drag the slider from 0.5× to 2× to see it.</a:t>
            </a:r>
          </a:p>
        </p:txBody>
      </p:sp>
      <p:sp>
        <p:nvSpPr>
          <p:cNvPr id="22" name="Rounded Rectangle 21"/>
          <p:cNvSpPr/>
          <p:nvPr/>
        </p:nvSpPr>
        <p:spPr>
          <a:xfrm>
            <a:off x="7040880" y="4572000"/>
            <a:ext cx="4416552" cy="1188720"/>
          </a:xfrm>
          <a:prstGeom prst="roundRect">
            <a:avLst>
              <a:gd name="adj" fmla="val 6000"/>
            </a:avLst>
          </a:prstGeom>
          <a:solidFill>
            <a:schemeClr val="bg1"/>
          </a:solidFill>
          <a:ln w="9525">
            <a:solidFill>
              <a:srgbClr val="E3DFD6"/>
            </a:solidFill>
          </a:ln>
        </p:spPr>
        <p:txBody>
          <a:bodyPr rtlCol="0" anchor="ctr"/>
          <a:lstStyle/>
          <a:p>
            <a:pPr algn="ctr"/>
          </a:p>
        </p:txBody>
      </p:sp>
      <p:sp>
        <p:nvSpPr>
          <p:cNvPr id="23" name="TextBox 22"/>
          <p:cNvSpPr txBox="1"/>
          <p:nvPr/>
        </p:nvSpPr>
        <p:spPr>
          <a:xfrm>
            <a:off x="7242048" y="4663440"/>
            <a:ext cx="4023360" cy="274320"/>
          </a:xfrm>
          <a:prstGeom prst="rect">
            <a:avLst/>
          </a:prstGeom>
          <a:noFill/>
        </p:spPr>
        <p:txBody>
          <a:bodyPr wrap="square" lIns="0" rIns="0" tIns="0" bIns="0" anchor="t">
            <a:spAutoFit/>
          </a:bodyPr>
          <a:lstStyle/>
          <a:p>
            <a:pPr algn="l"/>
            <a:r>
              <a:rPr sz="1300" b="1">
                <a:solidFill>
                  <a:schemeClr val="tx1"/>
                </a:solidFill>
              </a:rPr>
              <a:t>Why this rank? It is arithmetic</a:t>
            </a:r>
          </a:p>
        </p:txBody>
      </p:sp>
      <p:sp>
        <p:nvSpPr>
          <p:cNvPr id="24" name="TextBox 23"/>
          <p:cNvSpPr txBox="1"/>
          <p:nvPr/>
        </p:nvSpPr>
        <p:spPr>
          <a:xfrm>
            <a:off x="7242048" y="4983480"/>
            <a:ext cx="4069080" cy="731520"/>
          </a:xfrm>
          <a:prstGeom prst="rect">
            <a:avLst/>
          </a:prstGeom>
          <a:noFill/>
        </p:spPr>
        <p:txBody>
          <a:bodyPr wrap="square" lIns="0" rIns="0" tIns="0" bIns="0" anchor="t">
            <a:spAutoFit/>
          </a:bodyPr>
          <a:lstStyle/>
          <a:p>
            <a:pPr algn="l"/>
            <a:r>
              <a:rPr sz="1200" b="0">
                <a:solidFill>
                  <a:schemeClr val="tx2"/>
                </a:solidFill>
              </a:rPr>
              <a:t>0.6 × skill fit + 0.4 × outlook + preference = </a:t>
            </a:r>
            <a:r>
              <a:rPr sz="1200" b="1">
                <a:solidFill>
                  <a:schemeClr val="tx1"/>
                </a:solidFill>
              </a:rPr>
              <a:t>0.48</a:t>
            </a:r>
          </a:p>
          <a:p>
            <a:pPr algn="l"/>
            <a:r>
              <a:rPr sz="1200" b="0">
                <a:solidFill>
                  <a:schemeClr val="tx2"/>
                </a:solidFill>
              </a:rPr>
              <a:t>Robust pick: top five in all three scenarios.</a:t>
            </a:r>
          </a:p>
        </p:txBody>
      </p:sp>
      <p:sp>
        <p:nvSpPr>
          <p:cNvPr id="25" name="TextBox 24"/>
          <p:cNvSpPr txBox="1"/>
          <p:nvPr/>
        </p:nvSpPr>
        <p:spPr>
          <a:xfrm>
            <a:off x="731520" y="5897880"/>
            <a:ext cx="10725912" cy="274320"/>
          </a:xfrm>
          <a:prstGeom prst="rect">
            <a:avLst/>
          </a:prstGeom>
          <a:noFill/>
        </p:spPr>
        <p:txBody>
          <a:bodyPr wrap="square" lIns="0" rIns="0" tIns="0" bIns="0" anchor="ctr">
            <a:spAutoFit/>
          </a:bodyPr>
          <a:lstStyle/>
          <a:p>
            <a:pPr algn="l"/>
            <a:r>
              <a:rPr sz="1100" b="0">
                <a:solidFill>
                  <a:schemeClr val="tx2"/>
                </a:solidFill>
              </a:rPr>
              <a:t>Figures from the live app's approved forecast of 23 Oct 2026. Outlooks are estimates with 80% ranges, labelled Likely or Uncertain.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A plan she can start this week: 397 h, RM 0</a:t>
            </a:r>
          </a:p>
        </p:txBody>
      </p:sp>
      <p:sp>
        <p:nvSpPr>
          <p:cNvPr id="3" name="TextBox 2"/>
          <p:cNvSpPr txBox="1"/>
          <p:nvPr/>
        </p:nvSpPr>
        <p:spPr>
          <a:xfrm>
            <a:off x="731520" y="457200"/>
            <a:ext cx="1787652" cy="329184"/>
          </a:xfrm>
          <a:prstGeom prst="rect">
            <a:avLst/>
          </a:prstGeom>
          <a:noFill/>
        </p:spPr>
        <p:txBody>
          <a:bodyPr wrap="square" lIns="0" rIns="0" tIns="0" bIns="0" anchor="ctr">
            <a:spAutoFit/>
          </a:bodyPr>
          <a:lstStyle/>
          <a:p>
            <a:pPr algn="l"/>
            <a:r>
              <a:rPr sz="1300" b="1" spc="150">
                <a:solidFill>
                  <a:schemeClr val="accent1"/>
                </a:solidFill>
              </a:rPr>
              <a:t>THE PATHWAY</a:t>
            </a:r>
          </a:p>
        </p:txBody>
      </p:sp>
      <p:sp>
        <p:nvSpPr>
          <p:cNvPr id="4" name="Problem-Solution Fit · 25% pill"/>
          <p:cNvSpPr/>
          <p:nvPr/>
        </p:nvSpPr>
        <p:spPr>
          <a:xfrm>
            <a:off x="2610612" y="457200"/>
            <a:ext cx="251460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610612" y="457200"/>
            <a:ext cx="2514600" cy="329184"/>
          </a:xfrm>
          <a:prstGeom prst="rect">
            <a:avLst/>
          </a:prstGeom>
          <a:noFill/>
        </p:spPr>
        <p:txBody>
          <a:bodyPr wrap="square" lIns="0" rIns="0" tIns="0" bIns="0" anchor="ctr">
            <a:spAutoFit/>
          </a:bodyPr>
          <a:lstStyle/>
          <a:p>
            <a:pPr algn="ctr"/>
            <a:r>
              <a:rPr sz="1200" b="1">
                <a:solidFill>
                  <a:schemeClr val="accent1"/>
                </a:solidFill>
              </a:rPr>
              <a:t>Problem-Solution Fit · 25%</a:t>
            </a:r>
          </a:p>
        </p:txBody>
      </p:sp>
      <p:sp>
        <p:nvSpPr>
          <p:cNvPr id="6" name="Rounded Rectangle 5"/>
          <p:cNvSpPr/>
          <p:nvPr/>
        </p:nvSpPr>
        <p:spPr>
          <a:xfrm>
            <a:off x="7671815" y="457200"/>
            <a:ext cx="3785616" cy="329184"/>
          </a:xfrm>
          <a:prstGeom prst="roundRect">
            <a:avLst>
              <a:gd name="adj" fmla="val 50000"/>
            </a:avLst>
          </a:prstGeom>
          <a:solidFill>
            <a:schemeClr val="bg1"/>
          </a:solidFill>
          <a:ln w="9525">
            <a:solidFill>
              <a:srgbClr val="E3DFD6"/>
            </a:solidFill>
          </a:ln>
        </p:spPr>
        <p:txBody>
          <a:bodyPr rtlCol="0" anchor="ctr"/>
          <a:lstStyle/>
          <a:p>
            <a:pPr algn="ctr"/>
          </a:p>
        </p:txBody>
      </p:sp>
      <p:sp>
        <p:nvSpPr>
          <p:cNvPr id="7" name="TextBox 6"/>
          <p:cNvSpPr txBox="1"/>
          <p:nvPr/>
        </p:nvSpPr>
        <p:spPr>
          <a:xfrm>
            <a:off x="7671815" y="457200"/>
            <a:ext cx="3785616" cy="329184"/>
          </a:xfrm>
          <a:prstGeom prst="rect">
            <a:avLst/>
          </a:prstGeom>
          <a:noFill/>
        </p:spPr>
        <p:txBody>
          <a:bodyPr wrap="square" lIns="0" rIns="0" tIns="0" bIns="0" anchor="ctr">
            <a:spAutoFit/>
          </a:bodyPr>
          <a:lstStyle/>
          <a:p>
            <a:pPr algn="ctr"/>
            <a:r>
              <a:rPr sz="1100" b="0">
                <a:solidFill>
                  <a:schemeClr val="tx2"/>
                </a:solidFill>
              </a:rPr>
              <a:t>Live app · Aisyah → AI operations specialist</a:t>
            </a:r>
          </a:p>
        </p:txBody>
      </p:sp>
      <p:sp>
        <p:nvSpPr>
          <p:cNvPr id="8" name="TextBox 7"/>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10 / 17</a:t>
            </a:r>
          </a:p>
        </p:txBody>
      </p:sp>
      <p:sp>
        <p:nvSpPr>
          <p:cNvPr id="9" name="Rounded Rectangle 8"/>
          <p:cNvSpPr/>
          <p:nvPr/>
        </p:nvSpPr>
        <p:spPr>
          <a:xfrm>
            <a:off x="731520" y="1783080"/>
            <a:ext cx="1188720" cy="1115568"/>
          </a:xfrm>
          <a:prstGeom prst="roundRect">
            <a:avLst>
              <a:gd name="adj" fmla="val 8000"/>
            </a:avLst>
          </a:prstGeom>
          <a:solidFill>
            <a:schemeClr val="bg1"/>
          </a:solidFill>
          <a:ln w="9525">
            <a:solidFill>
              <a:srgbClr val="E3DFD6"/>
            </a:solidFill>
          </a:ln>
        </p:spPr>
        <p:txBody>
          <a:bodyPr rtlCol="0" anchor="ctr"/>
          <a:lstStyle/>
          <a:p>
            <a:pPr algn="ctr"/>
          </a:p>
        </p:txBody>
      </p:sp>
      <p:sp>
        <p:nvSpPr>
          <p:cNvPr id="10" name="TextBox 9"/>
          <p:cNvSpPr txBox="1"/>
          <p:nvPr/>
        </p:nvSpPr>
        <p:spPr>
          <a:xfrm>
            <a:off x="859536" y="1874519"/>
            <a:ext cx="960120" cy="457200"/>
          </a:xfrm>
          <a:prstGeom prst="rect">
            <a:avLst/>
          </a:prstGeom>
          <a:noFill/>
        </p:spPr>
        <p:txBody>
          <a:bodyPr wrap="square" lIns="0" rIns="0" tIns="0" bIns="0" anchor="t">
            <a:spAutoFit/>
          </a:bodyPr>
          <a:lstStyle/>
          <a:p>
            <a:pPr algn="l"/>
            <a:r>
              <a:rPr sz="2200" b="1">
                <a:solidFill>
                  <a:schemeClr val="tx1"/>
                </a:solidFill>
              </a:rPr>
              <a:t>6</a:t>
            </a:r>
          </a:p>
        </p:txBody>
      </p:sp>
      <p:sp>
        <p:nvSpPr>
          <p:cNvPr id="11" name="TextBox 10"/>
          <p:cNvSpPr txBox="1"/>
          <p:nvPr/>
        </p:nvSpPr>
        <p:spPr>
          <a:xfrm>
            <a:off x="859536" y="2359152"/>
            <a:ext cx="960120" cy="530352"/>
          </a:xfrm>
          <a:prstGeom prst="rect">
            <a:avLst/>
          </a:prstGeom>
          <a:noFill/>
        </p:spPr>
        <p:txBody>
          <a:bodyPr wrap="square" lIns="0" rIns="0" tIns="0" bIns="0" anchor="t">
            <a:spAutoFit/>
          </a:bodyPr>
          <a:lstStyle/>
          <a:p>
            <a:pPr algn="l"/>
            <a:r>
              <a:rPr sz="1000" b="0">
                <a:solidFill>
                  <a:schemeClr val="tx2"/>
                </a:solidFill>
              </a:rPr>
              <a:t>steps</a:t>
            </a:r>
          </a:p>
        </p:txBody>
      </p:sp>
      <p:sp>
        <p:nvSpPr>
          <p:cNvPr id="12" name="Rounded Rectangle 11"/>
          <p:cNvSpPr/>
          <p:nvPr/>
        </p:nvSpPr>
        <p:spPr>
          <a:xfrm>
            <a:off x="2029967" y="1783080"/>
            <a:ext cx="1188720" cy="1115568"/>
          </a:xfrm>
          <a:prstGeom prst="roundRect">
            <a:avLst>
              <a:gd name="adj" fmla="val 8000"/>
            </a:avLst>
          </a:prstGeom>
          <a:solidFill>
            <a:schemeClr val="bg1"/>
          </a:solidFill>
          <a:ln w="9525">
            <a:solidFill>
              <a:srgbClr val="E3DFD6"/>
            </a:solidFill>
          </a:ln>
        </p:spPr>
        <p:txBody>
          <a:bodyPr rtlCol="0" anchor="ctr"/>
          <a:lstStyle/>
          <a:p>
            <a:pPr algn="ctr"/>
          </a:p>
        </p:txBody>
      </p:sp>
      <p:sp>
        <p:nvSpPr>
          <p:cNvPr id="13" name="TextBox 12"/>
          <p:cNvSpPr txBox="1"/>
          <p:nvPr/>
        </p:nvSpPr>
        <p:spPr>
          <a:xfrm>
            <a:off x="2157984" y="1874519"/>
            <a:ext cx="960120" cy="457200"/>
          </a:xfrm>
          <a:prstGeom prst="rect">
            <a:avLst/>
          </a:prstGeom>
          <a:noFill/>
        </p:spPr>
        <p:txBody>
          <a:bodyPr wrap="square" lIns="0" rIns="0" tIns="0" bIns="0" anchor="t">
            <a:spAutoFit/>
          </a:bodyPr>
          <a:lstStyle/>
          <a:p>
            <a:pPr algn="l"/>
            <a:r>
              <a:rPr sz="2200" b="1">
                <a:solidFill>
                  <a:schemeClr val="tx1"/>
                </a:solidFill>
              </a:rPr>
              <a:t>397 h</a:t>
            </a:r>
          </a:p>
        </p:txBody>
      </p:sp>
      <p:sp>
        <p:nvSpPr>
          <p:cNvPr id="14" name="TextBox 13"/>
          <p:cNvSpPr txBox="1"/>
          <p:nvPr/>
        </p:nvSpPr>
        <p:spPr>
          <a:xfrm>
            <a:off x="2157984" y="2359152"/>
            <a:ext cx="960120" cy="530352"/>
          </a:xfrm>
          <a:prstGeom prst="rect">
            <a:avLst/>
          </a:prstGeom>
          <a:noFill/>
        </p:spPr>
        <p:txBody>
          <a:bodyPr wrap="square" lIns="0" rIns="0" tIns="0" bIns="0" anchor="t">
            <a:spAutoFit/>
          </a:bodyPr>
          <a:lstStyle/>
          <a:p>
            <a:pPr algn="l"/>
            <a:r>
              <a:rPr sz="1000" b="0">
                <a:solidFill>
                  <a:schemeClr val="tx2"/>
                </a:solidFill>
              </a:rPr>
              <a:t>of learning</a:t>
            </a:r>
          </a:p>
        </p:txBody>
      </p:sp>
      <p:sp>
        <p:nvSpPr>
          <p:cNvPr id="15" name="Rounded Rectangle 14"/>
          <p:cNvSpPr/>
          <p:nvPr/>
        </p:nvSpPr>
        <p:spPr>
          <a:xfrm>
            <a:off x="3328415" y="1783080"/>
            <a:ext cx="1188720" cy="1115568"/>
          </a:xfrm>
          <a:prstGeom prst="roundRect">
            <a:avLst>
              <a:gd name="adj" fmla="val 8000"/>
            </a:avLst>
          </a:prstGeom>
          <a:solidFill>
            <a:schemeClr val="accent4"/>
          </a:solidFill>
          <a:ln>
            <a:noFill/>
          </a:ln>
        </p:spPr>
        <p:txBody>
          <a:bodyPr rtlCol="0" anchor="ctr"/>
          <a:lstStyle/>
          <a:p>
            <a:pPr algn="ctr"/>
          </a:p>
        </p:txBody>
      </p:sp>
      <p:sp>
        <p:nvSpPr>
          <p:cNvPr id="16" name="TextBox 15"/>
          <p:cNvSpPr txBox="1"/>
          <p:nvPr/>
        </p:nvSpPr>
        <p:spPr>
          <a:xfrm>
            <a:off x="3456432" y="1874519"/>
            <a:ext cx="960120" cy="457200"/>
          </a:xfrm>
          <a:prstGeom prst="rect">
            <a:avLst/>
          </a:prstGeom>
          <a:noFill/>
        </p:spPr>
        <p:txBody>
          <a:bodyPr wrap="square" lIns="0" rIns="0" tIns="0" bIns="0" anchor="t">
            <a:spAutoFit/>
          </a:bodyPr>
          <a:lstStyle/>
          <a:p>
            <a:pPr algn="l"/>
            <a:r>
              <a:rPr sz="2200" b="1">
                <a:solidFill>
                  <a:srgbClr val="D9971F"/>
                </a:solidFill>
              </a:rPr>
              <a:t>RM 0</a:t>
            </a:r>
          </a:p>
        </p:txBody>
      </p:sp>
      <p:sp>
        <p:nvSpPr>
          <p:cNvPr id="17" name="TextBox 16"/>
          <p:cNvSpPr txBox="1"/>
          <p:nvPr/>
        </p:nvSpPr>
        <p:spPr>
          <a:xfrm>
            <a:off x="3456432" y="2359152"/>
            <a:ext cx="960120" cy="530352"/>
          </a:xfrm>
          <a:prstGeom prst="rect">
            <a:avLst/>
          </a:prstGeom>
          <a:noFill/>
        </p:spPr>
        <p:txBody>
          <a:bodyPr wrap="square" lIns="0" rIns="0" tIns="0" bIns="0" anchor="t">
            <a:spAutoFit/>
          </a:bodyPr>
          <a:lstStyle/>
          <a:p>
            <a:pPr algn="l"/>
            <a:r>
              <a:rPr sz="1000" b="0">
                <a:solidFill>
                  <a:srgbClr val="C9D6D3"/>
                </a:solidFill>
              </a:rPr>
              <a:t>all free or free to audit</a:t>
            </a:r>
          </a:p>
        </p:txBody>
      </p:sp>
      <p:sp>
        <p:nvSpPr>
          <p:cNvPr id="18" name="Rounded Rectangle 17"/>
          <p:cNvSpPr/>
          <p:nvPr/>
        </p:nvSpPr>
        <p:spPr>
          <a:xfrm>
            <a:off x="4626864" y="1783080"/>
            <a:ext cx="1188720" cy="1115568"/>
          </a:xfrm>
          <a:prstGeom prst="roundRect">
            <a:avLst>
              <a:gd name="adj" fmla="val 8000"/>
            </a:avLst>
          </a:prstGeom>
          <a:solidFill>
            <a:schemeClr val="bg1"/>
          </a:solidFill>
          <a:ln w="9525">
            <a:solidFill>
              <a:srgbClr val="E3DFD6"/>
            </a:solidFill>
          </a:ln>
        </p:spPr>
        <p:txBody>
          <a:bodyPr rtlCol="0" anchor="ctr"/>
          <a:lstStyle/>
          <a:p>
            <a:pPr algn="ctr"/>
          </a:p>
        </p:txBody>
      </p:sp>
      <p:sp>
        <p:nvSpPr>
          <p:cNvPr id="19" name="TextBox 18"/>
          <p:cNvSpPr txBox="1"/>
          <p:nvPr/>
        </p:nvSpPr>
        <p:spPr>
          <a:xfrm>
            <a:off x="4754879" y="1874519"/>
            <a:ext cx="960120" cy="457200"/>
          </a:xfrm>
          <a:prstGeom prst="rect">
            <a:avLst/>
          </a:prstGeom>
          <a:noFill/>
        </p:spPr>
        <p:txBody>
          <a:bodyPr wrap="square" lIns="0" rIns="0" tIns="0" bIns="0" anchor="t">
            <a:spAutoFit/>
          </a:bodyPr>
          <a:lstStyle/>
          <a:p>
            <a:pPr algn="l"/>
            <a:r>
              <a:rPr sz="2200" b="1">
                <a:solidFill>
                  <a:schemeClr val="tx1"/>
                </a:solidFill>
              </a:rPr>
              <a:t>37%</a:t>
            </a:r>
          </a:p>
        </p:txBody>
      </p:sp>
      <p:sp>
        <p:nvSpPr>
          <p:cNvPr id="20" name="TextBox 19"/>
          <p:cNvSpPr txBox="1"/>
          <p:nvPr/>
        </p:nvSpPr>
        <p:spPr>
          <a:xfrm>
            <a:off x="4754879" y="2359152"/>
            <a:ext cx="960120" cy="530352"/>
          </a:xfrm>
          <a:prstGeom prst="rect">
            <a:avLst/>
          </a:prstGeom>
          <a:noFill/>
        </p:spPr>
        <p:txBody>
          <a:bodyPr wrap="square" lIns="0" rIns="0" tIns="0" bIns="0" anchor="t">
            <a:spAutoFit/>
          </a:bodyPr>
          <a:lstStyle/>
          <a:p>
            <a:pPr algn="l"/>
            <a:r>
              <a:rPr sz="1000" b="0">
                <a:solidFill>
                  <a:schemeClr val="tx2"/>
                </a:solidFill>
              </a:rPr>
              <a:t>ready now, 100% at the end</a:t>
            </a:r>
          </a:p>
        </p:txBody>
      </p:sp>
      <p:sp>
        <p:nvSpPr>
          <p:cNvPr id="21" name="LuListChecks tile"/>
          <p:cNvSpPr/>
          <p:nvPr/>
        </p:nvSpPr>
        <p:spPr>
          <a:xfrm>
            <a:off x="731520" y="3063240"/>
            <a:ext cx="420624" cy="420624"/>
          </a:xfrm>
          <a:prstGeom prst="roundRect">
            <a:avLst>
              <a:gd name="adj" fmla="val 22000"/>
            </a:avLst>
          </a:prstGeom>
          <a:solidFill>
            <a:schemeClr val="accent5"/>
          </a:solidFill>
          <a:ln>
            <a:noFill/>
          </a:ln>
        </p:spPr>
        <p:txBody>
          <a:bodyPr rtlCol="0" anchor="ctr"/>
          <a:lstStyle/>
          <a:p>
            <a:pPr algn="ctr"/>
          </a:p>
        </p:txBody>
      </p:sp>
      <p:pic>
        <p:nvPicPr>
          <p:cNvPr id="22" name="LuListChecks icon" descr="image.png"/>
          <p:cNvPicPr>
            <a:picLocks noChangeAspect="1"/>
          </p:cNvPicPr>
          <p:nvPr/>
        </p:nvPicPr>
        <p:blipFill>
          <a:blip r:embed="rId3"/>
          <a:stretch>
            <a:fillRect/>
          </a:stretch>
        </p:blipFill>
        <p:spPr>
          <a:xfrm>
            <a:off x="836676" y="3168396"/>
            <a:ext cx="210312" cy="210312"/>
          </a:xfrm>
          <a:prstGeom prst="rect">
            <a:avLst/>
          </a:prstGeom>
        </p:spPr>
      </p:pic>
      <p:sp>
        <p:nvSpPr>
          <p:cNvPr id="23" name="TextBox 22"/>
          <p:cNvSpPr txBox="1"/>
          <p:nvPr/>
        </p:nvSpPr>
        <p:spPr>
          <a:xfrm>
            <a:off x="1280160" y="3044952"/>
            <a:ext cx="4114800" cy="274320"/>
          </a:xfrm>
          <a:prstGeom prst="rect">
            <a:avLst/>
          </a:prstGeom>
          <a:noFill/>
        </p:spPr>
        <p:txBody>
          <a:bodyPr wrap="square" lIns="0" rIns="0" tIns="0" bIns="0" anchor="t">
            <a:spAutoFit/>
          </a:bodyPr>
          <a:lstStyle/>
          <a:p>
            <a:pPr algn="l"/>
            <a:r>
              <a:rPr sz="1300" b="1">
                <a:solidFill>
                  <a:schemeClr val="tx1"/>
                </a:solidFill>
              </a:rPr>
              <a:t>Courses only from the catalogue</a:t>
            </a:r>
          </a:p>
        </p:txBody>
      </p:sp>
      <p:sp>
        <p:nvSpPr>
          <p:cNvPr id="24" name="TextBox 23"/>
          <p:cNvSpPr txBox="1"/>
          <p:nvPr/>
        </p:nvSpPr>
        <p:spPr>
          <a:xfrm>
            <a:off x="1280160" y="3310128"/>
            <a:ext cx="4206240" cy="411480"/>
          </a:xfrm>
          <a:prstGeom prst="rect">
            <a:avLst/>
          </a:prstGeom>
          <a:noFill/>
        </p:spPr>
        <p:txBody>
          <a:bodyPr wrap="square" lIns="0" rIns="0" tIns="0" bIns="0" anchor="t">
            <a:spAutoFit/>
          </a:bodyPr>
          <a:lstStyle/>
          <a:p>
            <a:pPr algn="l"/>
            <a:r>
              <a:rPr sz="1050" b="0">
                <a:solidFill>
                  <a:schemeClr val="tx2"/>
                </a:solidFill>
              </a:rPr>
              <a:t>38 link-checked courses, 32 free or free to audit, with hours, RM price and the date checked.</a:t>
            </a:r>
          </a:p>
        </p:txBody>
      </p:sp>
      <p:sp>
        <p:nvSpPr>
          <p:cNvPr id="25" name="LuBriefcase tile"/>
          <p:cNvSpPr/>
          <p:nvPr/>
        </p:nvSpPr>
        <p:spPr>
          <a:xfrm>
            <a:off x="731520" y="3749039"/>
            <a:ext cx="420624" cy="420624"/>
          </a:xfrm>
          <a:prstGeom prst="roundRect">
            <a:avLst>
              <a:gd name="adj" fmla="val 22000"/>
            </a:avLst>
          </a:prstGeom>
          <a:solidFill>
            <a:schemeClr val="accent5"/>
          </a:solidFill>
          <a:ln>
            <a:noFill/>
          </a:ln>
        </p:spPr>
        <p:txBody>
          <a:bodyPr rtlCol="0" anchor="ctr"/>
          <a:lstStyle/>
          <a:p>
            <a:pPr algn="ctr"/>
          </a:p>
        </p:txBody>
      </p:sp>
      <p:pic>
        <p:nvPicPr>
          <p:cNvPr id="26" name="LuBriefcase icon" descr="image.png"/>
          <p:cNvPicPr>
            <a:picLocks noChangeAspect="1"/>
          </p:cNvPicPr>
          <p:nvPr/>
        </p:nvPicPr>
        <p:blipFill>
          <a:blip r:embed="rId4"/>
          <a:stretch>
            <a:fillRect/>
          </a:stretch>
        </p:blipFill>
        <p:spPr>
          <a:xfrm>
            <a:off x="836676" y="3854196"/>
            <a:ext cx="210312" cy="210312"/>
          </a:xfrm>
          <a:prstGeom prst="rect">
            <a:avLst/>
          </a:prstGeom>
        </p:spPr>
      </p:pic>
      <p:sp>
        <p:nvSpPr>
          <p:cNvPr id="27" name="TextBox 26"/>
          <p:cNvSpPr txBox="1"/>
          <p:nvPr/>
        </p:nvSpPr>
        <p:spPr>
          <a:xfrm>
            <a:off x="1280160" y="3730752"/>
            <a:ext cx="4114800" cy="274320"/>
          </a:xfrm>
          <a:prstGeom prst="rect">
            <a:avLst/>
          </a:prstGeom>
          <a:noFill/>
        </p:spPr>
        <p:txBody>
          <a:bodyPr wrap="square" lIns="0" rIns="0" tIns="0" bIns="0" anchor="t">
            <a:spAutoFit/>
          </a:bodyPr>
          <a:lstStyle/>
          <a:p>
            <a:pPr algn="l"/>
            <a:r>
              <a:rPr sz="1300" b="1">
                <a:solidFill>
                  <a:schemeClr val="tx1"/>
                </a:solidFill>
              </a:rPr>
              <a:t>HRD Corp first for workers</a:t>
            </a:r>
          </a:p>
        </p:txBody>
      </p:sp>
      <p:sp>
        <p:nvSpPr>
          <p:cNvPr id="28" name="TextBox 27"/>
          <p:cNvSpPr txBox="1"/>
          <p:nvPr/>
        </p:nvSpPr>
        <p:spPr>
          <a:xfrm>
            <a:off x="1280160" y="3995927"/>
            <a:ext cx="4206240" cy="411480"/>
          </a:xfrm>
          <a:prstGeom prst="rect">
            <a:avLst/>
          </a:prstGeom>
          <a:noFill/>
        </p:spPr>
        <p:txBody>
          <a:bodyPr wrap="square" lIns="0" rIns="0" tIns="0" bIns="0" anchor="t">
            <a:spAutoFit/>
          </a:bodyPr>
          <a:lstStyle/>
          <a:p>
            <a:pPr algn="l"/>
            <a:r>
              <a:rPr sz="1050" b="0">
                <a:solidFill>
                  <a:schemeClr val="tx2"/>
                </a:solidFill>
              </a:rPr>
              <a:t>Claimable programmes come first; students get free routes.</a:t>
            </a:r>
          </a:p>
        </p:txBody>
      </p:sp>
      <p:sp>
        <p:nvSpPr>
          <p:cNvPr id="29" name="LuCircleCheck tile"/>
          <p:cNvSpPr/>
          <p:nvPr/>
        </p:nvSpPr>
        <p:spPr>
          <a:xfrm>
            <a:off x="731520" y="4434840"/>
            <a:ext cx="420624" cy="420624"/>
          </a:xfrm>
          <a:prstGeom prst="roundRect">
            <a:avLst>
              <a:gd name="adj" fmla="val 22000"/>
            </a:avLst>
          </a:prstGeom>
          <a:solidFill>
            <a:schemeClr val="accent5"/>
          </a:solidFill>
          <a:ln>
            <a:noFill/>
          </a:ln>
        </p:spPr>
        <p:txBody>
          <a:bodyPr rtlCol="0" anchor="ctr"/>
          <a:lstStyle/>
          <a:p>
            <a:pPr algn="ctr"/>
          </a:p>
        </p:txBody>
      </p:sp>
      <p:pic>
        <p:nvPicPr>
          <p:cNvPr id="30" name="LuCircleCheck icon" descr="image.png"/>
          <p:cNvPicPr>
            <a:picLocks noChangeAspect="1"/>
          </p:cNvPicPr>
          <p:nvPr/>
        </p:nvPicPr>
        <p:blipFill>
          <a:blip r:embed="rId5"/>
          <a:stretch>
            <a:fillRect/>
          </a:stretch>
        </p:blipFill>
        <p:spPr>
          <a:xfrm>
            <a:off x="836676" y="4539996"/>
            <a:ext cx="210312" cy="210312"/>
          </a:xfrm>
          <a:prstGeom prst="rect">
            <a:avLst/>
          </a:prstGeom>
        </p:spPr>
      </p:pic>
      <p:sp>
        <p:nvSpPr>
          <p:cNvPr id="31" name="TextBox 30"/>
          <p:cNvSpPr txBox="1"/>
          <p:nvPr/>
        </p:nvSpPr>
        <p:spPr>
          <a:xfrm>
            <a:off x="1280160" y="4416552"/>
            <a:ext cx="4114800" cy="274320"/>
          </a:xfrm>
          <a:prstGeom prst="rect">
            <a:avLst/>
          </a:prstGeom>
          <a:noFill/>
        </p:spPr>
        <p:txBody>
          <a:bodyPr wrap="square" lIns="0" rIns="0" tIns="0" bIns="0" anchor="t">
            <a:spAutoFit/>
          </a:bodyPr>
          <a:lstStyle/>
          <a:p>
            <a:pPr algn="l"/>
            <a:r>
              <a:rPr sz="1300" b="1">
                <a:solidFill>
                  <a:schemeClr val="tx1"/>
                </a:solidFill>
              </a:rPr>
              <a:t>Tick, then prove it</a:t>
            </a:r>
          </a:p>
        </p:txBody>
      </p:sp>
      <p:sp>
        <p:nvSpPr>
          <p:cNvPr id="32" name="TextBox 31"/>
          <p:cNvSpPr txBox="1"/>
          <p:nvPr/>
        </p:nvSpPr>
        <p:spPr>
          <a:xfrm>
            <a:off x="1280160" y="4681727"/>
            <a:ext cx="4206240" cy="411480"/>
          </a:xfrm>
          <a:prstGeom prst="rect">
            <a:avLst/>
          </a:prstGeom>
          <a:noFill/>
        </p:spPr>
        <p:txBody>
          <a:bodyPr wrap="square" lIns="0" rIns="0" tIns="0" bIns="0" anchor="t">
            <a:spAutoFit/>
          </a:bodyPr>
          <a:lstStyle/>
          <a:p>
            <a:pPr algn="l"/>
            <a:r>
              <a:rPr sz="1050" b="0">
                <a:solidFill>
                  <a:schemeClr val="tx2"/>
                </a:solidFill>
              </a:rPr>
              <a:t>Readiness and Today update at once; three questions prove each skill (practice, not a certificate).</a:t>
            </a:r>
          </a:p>
        </p:txBody>
      </p:sp>
      <p:sp>
        <p:nvSpPr>
          <p:cNvPr id="33" name="LuSend tile"/>
          <p:cNvSpPr/>
          <p:nvPr/>
        </p:nvSpPr>
        <p:spPr>
          <a:xfrm>
            <a:off x="731520" y="5120640"/>
            <a:ext cx="420624" cy="420624"/>
          </a:xfrm>
          <a:prstGeom prst="roundRect">
            <a:avLst>
              <a:gd name="adj" fmla="val 22000"/>
            </a:avLst>
          </a:prstGeom>
          <a:solidFill>
            <a:schemeClr val="accent5"/>
          </a:solidFill>
          <a:ln>
            <a:noFill/>
          </a:ln>
        </p:spPr>
        <p:txBody>
          <a:bodyPr rtlCol="0" anchor="ctr"/>
          <a:lstStyle/>
          <a:p>
            <a:pPr algn="ctr"/>
          </a:p>
        </p:txBody>
      </p:sp>
      <p:pic>
        <p:nvPicPr>
          <p:cNvPr id="34" name="LuSend icon" descr="image.png"/>
          <p:cNvPicPr>
            <a:picLocks noChangeAspect="1"/>
          </p:cNvPicPr>
          <p:nvPr/>
        </p:nvPicPr>
        <p:blipFill>
          <a:blip r:embed="rId6"/>
          <a:stretch>
            <a:fillRect/>
          </a:stretch>
        </p:blipFill>
        <p:spPr>
          <a:xfrm>
            <a:off x="836676" y="5225796"/>
            <a:ext cx="210312" cy="210312"/>
          </a:xfrm>
          <a:prstGeom prst="rect">
            <a:avLst/>
          </a:prstGeom>
        </p:spPr>
      </p:pic>
      <p:sp>
        <p:nvSpPr>
          <p:cNvPr id="35" name="TextBox 34"/>
          <p:cNvSpPr txBox="1"/>
          <p:nvPr/>
        </p:nvSpPr>
        <p:spPr>
          <a:xfrm>
            <a:off x="1280160" y="5102352"/>
            <a:ext cx="4114800" cy="274320"/>
          </a:xfrm>
          <a:prstGeom prst="rect">
            <a:avLst/>
          </a:prstGeom>
          <a:noFill/>
        </p:spPr>
        <p:txBody>
          <a:bodyPr wrap="square" lIns="0" rIns="0" tIns="0" bIns="0" anchor="t">
            <a:spAutoFit/>
          </a:bodyPr>
          <a:lstStyle/>
          <a:p>
            <a:pPr algn="l"/>
            <a:r>
              <a:rPr sz="1300" b="1">
                <a:solidFill>
                  <a:schemeClr val="tx1"/>
                </a:solidFill>
              </a:rPr>
              <a:t>Into her calendar</a:t>
            </a:r>
          </a:p>
        </p:txBody>
      </p:sp>
      <p:sp>
        <p:nvSpPr>
          <p:cNvPr id="36" name="TextBox 35"/>
          <p:cNvSpPr txBox="1"/>
          <p:nvPr/>
        </p:nvSpPr>
        <p:spPr>
          <a:xfrm>
            <a:off x="1280160" y="5367527"/>
            <a:ext cx="4206240" cy="411480"/>
          </a:xfrm>
          <a:prstGeom prst="rect">
            <a:avLst/>
          </a:prstGeom>
          <a:noFill/>
        </p:spPr>
        <p:txBody>
          <a:bodyPr wrap="square" lIns="0" rIns="0" tIns="0" bIns="0" anchor="t">
            <a:spAutoFit/>
          </a:bodyPr>
          <a:lstStyle/>
          <a:p>
            <a:pPr algn="l"/>
            <a:r>
              <a:rPr sz="1050" b="0">
                <a:solidFill>
                  <a:schemeClr val="tx2"/>
                </a:solidFill>
              </a:rPr>
              <a:t>A weekly goal says when she'll be ready; download a calendar file.</a:t>
            </a:r>
          </a:p>
        </p:txBody>
      </p:sp>
      <p:sp>
        <p:nvSpPr>
          <p:cNvPr id="37" name="Rounded Rectangle 36"/>
          <p:cNvSpPr/>
          <p:nvPr/>
        </p:nvSpPr>
        <p:spPr>
          <a:xfrm>
            <a:off x="5952744" y="1746504"/>
            <a:ext cx="5541264" cy="3565391"/>
          </a:xfrm>
          <a:prstGeom prst="roundRect">
            <a:avLst>
              <a:gd name="adj" fmla="val 3000"/>
            </a:avLst>
          </a:prstGeom>
          <a:solidFill>
            <a:schemeClr val="bg1"/>
          </a:solidFill>
          <a:ln w="9525">
            <a:solidFill>
              <a:srgbClr val="E3DFD6"/>
            </a:solidFill>
          </a:ln>
        </p:spPr>
        <p:txBody>
          <a:bodyPr rtlCol="0" anchor="ctr"/>
          <a:lstStyle/>
          <a:p>
            <a:pPr algn="ctr"/>
          </a:p>
        </p:txBody>
      </p:sp>
      <p:pic>
        <p:nvPicPr>
          <p:cNvPr id="38" name="Screenshot: Pathway from data entry clerk to AI operations specialist" descr="Screenshot: Pathway from data entry clerk to AI operations specialist"/>
          <p:cNvPicPr>
            <a:picLocks noChangeAspect="1"/>
          </p:cNvPicPr>
          <p:nvPr/>
        </p:nvPicPr>
        <p:blipFill>
          <a:blip r:embed="rId7"/>
          <a:stretch>
            <a:fillRect/>
          </a:stretch>
        </p:blipFill>
        <p:spPr>
          <a:xfrm>
            <a:off x="5989320" y="1783080"/>
            <a:ext cx="5468112" cy="3492239"/>
          </a:xfrm>
          <a:prstGeom prst="rect">
            <a:avLst/>
          </a:prstGeom>
        </p:spPr>
      </p:pic>
      <p:sp>
        <p:nvSpPr>
          <p:cNvPr id="39" name="TextBox 38"/>
          <p:cNvSpPr txBox="1"/>
          <p:nvPr/>
        </p:nvSpPr>
        <p:spPr>
          <a:xfrm>
            <a:off x="731520" y="5897880"/>
            <a:ext cx="10725912" cy="274320"/>
          </a:xfrm>
          <a:prstGeom prst="rect">
            <a:avLst/>
          </a:prstGeom>
          <a:noFill/>
        </p:spPr>
        <p:txBody>
          <a:bodyPr wrap="square" lIns="0" rIns="0" tIns="0" bIns="0" anchor="ctr">
            <a:spAutoFit/>
          </a:bodyPr>
          <a:lstStyle/>
          <a:p>
            <a:pPr algn="l"/>
            <a:r>
              <a:rPr sz="1100" b="0">
                <a:solidFill>
                  <a:schemeClr val="tx2"/>
                </a:solidFill>
              </a:rPr>
              <a:t>Her plan: Critical thinking → Cloud → Data visualisation and SQL → Python → Project management → Prompt engineering and APIs.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A coach that cites, checks itself and suggests</a:t>
            </a:r>
          </a:p>
        </p:txBody>
      </p:sp>
      <p:sp>
        <p:nvSpPr>
          <p:cNvPr id="3" name="TextBox 2"/>
          <p:cNvSpPr txBox="1"/>
          <p:nvPr/>
        </p:nvSpPr>
        <p:spPr>
          <a:xfrm>
            <a:off x="731520" y="457200"/>
            <a:ext cx="1362456" cy="329184"/>
          </a:xfrm>
          <a:prstGeom prst="rect">
            <a:avLst/>
          </a:prstGeom>
          <a:noFill/>
        </p:spPr>
        <p:txBody>
          <a:bodyPr wrap="square" lIns="0" rIns="0" tIns="0" bIns="0" anchor="ctr">
            <a:spAutoFit/>
          </a:bodyPr>
          <a:lstStyle/>
          <a:p>
            <a:pPr algn="l"/>
            <a:r>
              <a:rPr sz="1300" b="1" spc="150">
                <a:solidFill>
                  <a:schemeClr val="accent1"/>
                </a:solidFill>
              </a:rPr>
              <a:t>AI COACH</a:t>
            </a:r>
          </a:p>
        </p:txBody>
      </p:sp>
      <p:sp>
        <p:nvSpPr>
          <p:cNvPr id="4" name="Human-centred AI · Safety pill"/>
          <p:cNvSpPr/>
          <p:nvPr/>
        </p:nvSpPr>
        <p:spPr>
          <a:xfrm>
            <a:off x="2185416" y="457200"/>
            <a:ext cx="237744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185416" y="457200"/>
            <a:ext cx="2377440" cy="329184"/>
          </a:xfrm>
          <a:prstGeom prst="rect">
            <a:avLst/>
          </a:prstGeom>
          <a:noFill/>
        </p:spPr>
        <p:txBody>
          <a:bodyPr wrap="square" lIns="0" rIns="0" tIns="0" bIns="0" anchor="ctr">
            <a:spAutoFit/>
          </a:bodyPr>
          <a:lstStyle/>
          <a:p>
            <a:pPr algn="ctr"/>
            <a:r>
              <a:rPr sz="1200" b="1">
                <a:solidFill>
                  <a:schemeClr val="accent1"/>
                </a:solidFill>
              </a:rPr>
              <a:t>Human-centred AI · Safety</a:t>
            </a:r>
          </a:p>
        </p:txBody>
      </p:sp>
      <p:sp>
        <p:nvSpPr>
          <p:cNvPr id="6" name="TextBox 5"/>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11 / 17</a:t>
            </a:r>
          </a:p>
        </p:txBody>
      </p:sp>
      <p:sp>
        <p:nvSpPr>
          <p:cNvPr id="7" name="Rounded Rectangle 6"/>
          <p:cNvSpPr/>
          <p:nvPr/>
        </p:nvSpPr>
        <p:spPr>
          <a:xfrm>
            <a:off x="731520" y="1783080"/>
            <a:ext cx="6309360" cy="658368"/>
          </a:xfrm>
          <a:prstGeom prst="roundRect">
            <a:avLst>
              <a:gd name="adj" fmla="val 10000"/>
            </a:avLst>
          </a:prstGeom>
          <a:solidFill>
            <a:schemeClr val="bg1"/>
          </a:solidFill>
          <a:ln w="9525">
            <a:solidFill>
              <a:srgbClr val="E3DFD6"/>
            </a:solidFill>
          </a:ln>
        </p:spPr>
        <p:txBody>
          <a:bodyPr rtlCol="0" anchor="ctr"/>
          <a:lstStyle/>
          <a:p>
            <a:pPr algn="ctr"/>
          </a:p>
        </p:txBody>
      </p:sp>
      <p:sp>
        <p:nvSpPr>
          <p:cNvPr id="8" name="LuBookCheck tile"/>
          <p:cNvSpPr/>
          <p:nvPr/>
        </p:nvSpPr>
        <p:spPr>
          <a:xfrm>
            <a:off x="868680" y="1901952"/>
            <a:ext cx="420624" cy="420624"/>
          </a:xfrm>
          <a:prstGeom prst="roundRect">
            <a:avLst>
              <a:gd name="adj" fmla="val 22000"/>
            </a:avLst>
          </a:prstGeom>
          <a:solidFill>
            <a:schemeClr val="accent5"/>
          </a:solidFill>
          <a:ln>
            <a:noFill/>
          </a:ln>
        </p:spPr>
        <p:txBody>
          <a:bodyPr rtlCol="0" anchor="ctr"/>
          <a:lstStyle/>
          <a:p>
            <a:pPr algn="ctr"/>
          </a:p>
        </p:txBody>
      </p:sp>
      <p:pic>
        <p:nvPicPr>
          <p:cNvPr id="9" name="LuBookCheck icon" descr="image.png"/>
          <p:cNvPicPr>
            <a:picLocks noChangeAspect="1"/>
          </p:cNvPicPr>
          <p:nvPr/>
        </p:nvPicPr>
        <p:blipFill>
          <a:blip r:embed="rId3"/>
          <a:stretch>
            <a:fillRect/>
          </a:stretch>
        </p:blipFill>
        <p:spPr>
          <a:xfrm>
            <a:off x="973836" y="2007108"/>
            <a:ext cx="210312" cy="210312"/>
          </a:xfrm>
          <a:prstGeom prst="rect">
            <a:avLst/>
          </a:prstGeom>
        </p:spPr>
      </p:pic>
      <p:sp>
        <p:nvSpPr>
          <p:cNvPr id="10" name="TextBox 9"/>
          <p:cNvSpPr txBox="1"/>
          <p:nvPr/>
        </p:nvSpPr>
        <p:spPr>
          <a:xfrm>
            <a:off x="1444752" y="1856231"/>
            <a:ext cx="2103120" cy="512064"/>
          </a:xfrm>
          <a:prstGeom prst="rect">
            <a:avLst/>
          </a:prstGeom>
          <a:noFill/>
        </p:spPr>
        <p:txBody>
          <a:bodyPr wrap="square" lIns="0" rIns="0" tIns="0" bIns="0" anchor="ctr">
            <a:spAutoFit/>
          </a:bodyPr>
          <a:lstStyle/>
          <a:p>
            <a:pPr algn="l"/>
            <a:r>
              <a:rPr sz="1300" b="1">
                <a:solidFill>
                  <a:schemeClr val="tx1"/>
                </a:solidFill>
              </a:rPr>
              <a:t>Numbered sources</a:t>
            </a:r>
          </a:p>
        </p:txBody>
      </p:sp>
      <p:sp>
        <p:nvSpPr>
          <p:cNvPr id="11" name="TextBox 10"/>
          <p:cNvSpPr txBox="1"/>
          <p:nvPr/>
        </p:nvSpPr>
        <p:spPr>
          <a:xfrm>
            <a:off x="3566160" y="1856231"/>
            <a:ext cx="3337560" cy="512064"/>
          </a:xfrm>
          <a:prstGeom prst="rect">
            <a:avLst/>
          </a:prstGeom>
          <a:noFill/>
        </p:spPr>
        <p:txBody>
          <a:bodyPr wrap="square" lIns="0" rIns="0" tIns="0" bIns="0" anchor="ctr">
            <a:spAutoFit/>
          </a:bodyPr>
          <a:lstStyle/>
          <a:p>
            <a:pPr algn="l"/>
            <a:r>
              <a:rPr sz="1100" b="0">
                <a:solidFill>
                  <a:schemeClr val="tx2"/>
                </a:solidFill>
              </a:rPr>
              <a:t>Answers only from her own results, each claim tagged [1], [2]…</a:t>
            </a:r>
          </a:p>
        </p:txBody>
      </p:sp>
      <p:sp>
        <p:nvSpPr>
          <p:cNvPr id="12" name="Rounded Rectangle 11"/>
          <p:cNvSpPr/>
          <p:nvPr/>
        </p:nvSpPr>
        <p:spPr>
          <a:xfrm>
            <a:off x="731520" y="2542032"/>
            <a:ext cx="6309360" cy="658368"/>
          </a:xfrm>
          <a:prstGeom prst="roundRect">
            <a:avLst>
              <a:gd name="adj" fmla="val 10000"/>
            </a:avLst>
          </a:prstGeom>
          <a:solidFill>
            <a:schemeClr val="bg1"/>
          </a:solidFill>
          <a:ln w="9525">
            <a:solidFill>
              <a:srgbClr val="E3DFD6"/>
            </a:solidFill>
          </a:ln>
        </p:spPr>
        <p:txBody>
          <a:bodyPr rtlCol="0" anchor="ctr"/>
          <a:lstStyle/>
          <a:p>
            <a:pPr algn="ctr"/>
          </a:p>
        </p:txBody>
      </p:sp>
      <p:sp>
        <p:nvSpPr>
          <p:cNvPr id="13" name="LuCircleCheck tile"/>
          <p:cNvSpPr/>
          <p:nvPr/>
        </p:nvSpPr>
        <p:spPr>
          <a:xfrm>
            <a:off x="868680" y="2660903"/>
            <a:ext cx="420624" cy="420624"/>
          </a:xfrm>
          <a:prstGeom prst="roundRect">
            <a:avLst>
              <a:gd name="adj" fmla="val 22000"/>
            </a:avLst>
          </a:prstGeom>
          <a:solidFill>
            <a:schemeClr val="accent5"/>
          </a:solidFill>
          <a:ln>
            <a:noFill/>
          </a:ln>
        </p:spPr>
        <p:txBody>
          <a:bodyPr rtlCol="0" anchor="ctr"/>
          <a:lstStyle/>
          <a:p>
            <a:pPr algn="ctr"/>
          </a:p>
        </p:txBody>
      </p:sp>
      <p:pic>
        <p:nvPicPr>
          <p:cNvPr id="14" name="LuCircleCheck icon" descr="image.png"/>
          <p:cNvPicPr>
            <a:picLocks noChangeAspect="1"/>
          </p:cNvPicPr>
          <p:nvPr/>
        </p:nvPicPr>
        <p:blipFill>
          <a:blip r:embed="rId4"/>
          <a:stretch>
            <a:fillRect/>
          </a:stretch>
        </p:blipFill>
        <p:spPr>
          <a:xfrm>
            <a:off x="973836" y="2766060"/>
            <a:ext cx="210312" cy="210312"/>
          </a:xfrm>
          <a:prstGeom prst="rect">
            <a:avLst/>
          </a:prstGeom>
        </p:spPr>
      </p:pic>
      <p:sp>
        <p:nvSpPr>
          <p:cNvPr id="15" name="TextBox 14"/>
          <p:cNvSpPr txBox="1"/>
          <p:nvPr/>
        </p:nvSpPr>
        <p:spPr>
          <a:xfrm>
            <a:off x="1444752" y="2615184"/>
            <a:ext cx="2103120" cy="512064"/>
          </a:xfrm>
          <a:prstGeom prst="rect">
            <a:avLst/>
          </a:prstGeom>
          <a:noFill/>
        </p:spPr>
        <p:txBody>
          <a:bodyPr wrap="square" lIns="0" rIns="0" tIns="0" bIns="0" anchor="ctr">
            <a:spAutoFit/>
          </a:bodyPr>
          <a:lstStyle/>
          <a:p>
            <a:pPr algn="l"/>
            <a:r>
              <a:rPr sz="1300" b="1">
                <a:solidFill>
                  <a:schemeClr val="tx1"/>
                </a:solidFill>
              </a:rPr>
              <a:t>Every sentence checked</a:t>
            </a:r>
          </a:p>
        </p:txBody>
      </p:sp>
      <p:sp>
        <p:nvSpPr>
          <p:cNvPr id="16" name="TextBox 15"/>
          <p:cNvSpPr txBox="1"/>
          <p:nvPr/>
        </p:nvSpPr>
        <p:spPr>
          <a:xfrm>
            <a:off x="3566160" y="2615184"/>
            <a:ext cx="3337560" cy="512064"/>
          </a:xfrm>
          <a:prstGeom prst="rect">
            <a:avLst/>
          </a:prstGeom>
          <a:noFill/>
        </p:spPr>
        <p:txBody>
          <a:bodyPr wrap="square" lIns="0" rIns="0" tIns="0" bIns="0" anchor="ctr">
            <a:spAutoFit/>
          </a:bodyPr>
          <a:lstStyle/>
          <a:p>
            <a:pPr algn="l"/>
            <a:r>
              <a:rPr sz="1100" b="0">
                <a:solidFill>
                  <a:schemeClr val="tx2"/>
                </a:solidFill>
              </a:rPr>
              <a:t>Unsupported sentences are rewritten or removed, and the answer says so.</a:t>
            </a:r>
          </a:p>
        </p:txBody>
      </p:sp>
      <p:sp>
        <p:nvSpPr>
          <p:cNvPr id="17" name="Rounded Rectangle 16"/>
          <p:cNvSpPr/>
          <p:nvPr/>
        </p:nvSpPr>
        <p:spPr>
          <a:xfrm>
            <a:off x="731520" y="3300984"/>
            <a:ext cx="6309360" cy="658368"/>
          </a:xfrm>
          <a:prstGeom prst="roundRect">
            <a:avLst>
              <a:gd name="adj" fmla="val 10000"/>
            </a:avLst>
          </a:prstGeom>
          <a:solidFill>
            <a:schemeClr val="bg1"/>
          </a:solidFill>
          <a:ln w="9525">
            <a:solidFill>
              <a:srgbClr val="E3DFD6"/>
            </a:solidFill>
          </a:ln>
        </p:spPr>
        <p:txBody>
          <a:bodyPr rtlCol="0" anchor="ctr"/>
          <a:lstStyle/>
          <a:p>
            <a:pPr algn="ctr"/>
          </a:p>
        </p:txBody>
      </p:sp>
      <p:sp>
        <p:nvSpPr>
          <p:cNvPr id="18" name="LuEyeOff tile"/>
          <p:cNvSpPr/>
          <p:nvPr/>
        </p:nvSpPr>
        <p:spPr>
          <a:xfrm>
            <a:off x="868680" y="3419856"/>
            <a:ext cx="420624" cy="420624"/>
          </a:xfrm>
          <a:prstGeom prst="roundRect">
            <a:avLst>
              <a:gd name="adj" fmla="val 22000"/>
            </a:avLst>
          </a:prstGeom>
          <a:solidFill>
            <a:srgbClr val="F7E3E0"/>
          </a:solidFill>
          <a:ln>
            <a:noFill/>
          </a:ln>
        </p:spPr>
        <p:txBody>
          <a:bodyPr rtlCol="0" anchor="ctr"/>
          <a:lstStyle/>
          <a:p>
            <a:pPr algn="ctr"/>
          </a:p>
        </p:txBody>
      </p:sp>
      <p:pic>
        <p:nvPicPr>
          <p:cNvPr id="19" name="LuEyeOff icon" descr="image.png"/>
          <p:cNvPicPr>
            <a:picLocks noChangeAspect="1"/>
          </p:cNvPicPr>
          <p:nvPr/>
        </p:nvPicPr>
        <p:blipFill>
          <a:blip r:embed="rId5"/>
          <a:stretch>
            <a:fillRect/>
          </a:stretch>
        </p:blipFill>
        <p:spPr>
          <a:xfrm>
            <a:off x="973836" y="3525012"/>
            <a:ext cx="210312" cy="210312"/>
          </a:xfrm>
          <a:prstGeom prst="rect">
            <a:avLst/>
          </a:prstGeom>
        </p:spPr>
      </p:pic>
      <p:sp>
        <p:nvSpPr>
          <p:cNvPr id="20" name="TextBox 19"/>
          <p:cNvSpPr txBox="1"/>
          <p:nvPr/>
        </p:nvSpPr>
        <p:spPr>
          <a:xfrm>
            <a:off x="1444752" y="3374136"/>
            <a:ext cx="2103120" cy="512064"/>
          </a:xfrm>
          <a:prstGeom prst="rect">
            <a:avLst/>
          </a:prstGeom>
          <a:noFill/>
        </p:spPr>
        <p:txBody>
          <a:bodyPr wrap="square" lIns="0" rIns="0" tIns="0" bIns="0" anchor="ctr">
            <a:spAutoFit/>
          </a:bodyPr>
          <a:lstStyle/>
          <a:p>
            <a:pPr algn="l"/>
            <a:r>
              <a:rPr sz="1300" b="1">
                <a:solidFill>
                  <a:schemeClr val="tx1"/>
                </a:solidFill>
              </a:rPr>
              <a:t>Details removed first</a:t>
            </a:r>
          </a:p>
        </p:txBody>
      </p:sp>
      <p:sp>
        <p:nvSpPr>
          <p:cNvPr id="21" name="TextBox 20"/>
          <p:cNvSpPr txBox="1"/>
          <p:nvPr/>
        </p:nvSpPr>
        <p:spPr>
          <a:xfrm>
            <a:off x="3566160" y="3374136"/>
            <a:ext cx="3337560" cy="512064"/>
          </a:xfrm>
          <a:prstGeom prst="rect">
            <a:avLst/>
          </a:prstGeom>
          <a:noFill/>
        </p:spPr>
        <p:txBody>
          <a:bodyPr wrap="square" lIns="0" rIns="0" tIns="0" bIns="0" anchor="ctr">
            <a:spAutoFit/>
          </a:bodyPr>
          <a:lstStyle/>
          <a:p>
            <a:pPr algn="l"/>
            <a:r>
              <a:rPr sz="1100" b="0">
                <a:solidFill>
                  <a:schemeClr val="tx2"/>
                </a:solidFill>
              </a:rPr>
              <a:t>Names, phone, email and IC numbers never reach the model.</a:t>
            </a:r>
          </a:p>
        </p:txBody>
      </p:sp>
      <p:sp>
        <p:nvSpPr>
          <p:cNvPr id="22" name="Rounded Rectangle 21"/>
          <p:cNvSpPr/>
          <p:nvPr/>
        </p:nvSpPr>
        <p:spPr>
          <a:xfrm>
            <a:off x="731520" y="4059935"/>
            <a:ext cx="6309360" cy="658368"/>
          </a:xfrm>
          <a:prstGeom prst="roundRect">
            <a:avLst>
              <a:gd name="adj" fmla="val 10000"/>
            </a:avLst>
          </a:prstGeom>
          <a:solidFill>
            <a:schemeClr val="bg1"/>
          </a:solidFill>
          <a:ln w="9525">
            <a:solidFill>
              <a:srgbClr val="E3DFD6"/>
            </a:solidFill>
          </a:ln>
        </p:spPr>
        <p:txBody>
          <a:bodyPr rtlCol="0" anchor="ctr"/>
          <a:lstStyle/>
          <a:p>
            <a:pPr algn="ctr"/>
          </a:p>
        </p:txBody>
      </p:sp>
      <p:sp>
        <p:nvSpPr>
          <p:cNvPr id="23" name="LuScale tile"/>
          <p:cNvSpPr/>
          <p:nvPr/>
        </p:nvSpPr>
        <p:spPr>
          <a:xfrm>
            <a:off x="868680" y="4178807"/>
            <a:ext cx="420624" cy="420624"/>
          </a:xfrm>
          <a:prstGeom prst="roundRect">
            <a:avLst>
              <a:gd name="adj" fmla="val 22000"/>
            </a:avLst>
          </a:prstGeom>
          <a:solidFill>
            <a:srgbClr val="F7E3E0"/>
          </a:solidFill>
          <a:ln>
            <a:noFill/>
          </a:ln>
        </p:spPr>
        <p:txBody>
          <a:bodyPr rtlCol="0" anchor="ctr"/>
          <a:lstStyle/>
          <a:p>
            <a:pPr algn="ctr"/>
          </a:p>
        </p:txBody>
      </p:sp>
      <p:pic>
        <p:nvPicPr>
          <p:cNvPr id="24" name="LuScale icon" descr="image.png"/>
          <p:cNvPicPr>
            <a:picLocks noChangeAspect="1"/>
          </p:cNvPicPr>
          <p:nvPr/>
        </p:nvPicPr>
        <p:blipFill>
          <a:blip r:embed="rId6"/>
          <a:stretch>
            <a:fillRect/>
          </a:stretch>
        </p:blipFill>
        <p:spPr>
          <a:xfrm>
            <a:off x="973836" y="4283964"/>
            <a:ext cx="210312" cy="210312"/>
          </a:xfrm>
          <a:prstGeom prst="rect">
            <a:avLst/>
          </a:prstGeom>
        </p:spPr>
      </p:pic>
      <p:sp>
        <p:nvSpPr>
          <p:cNvPr id="25" name="TextBox 24"/>
          <p:cNvSpPr txBox="1"/>
          <p:nvPr/>
        </p:nvSpPr>
        <p:spPr>
          <a:xfrm>
            <a:off x="1444752" y="4133087"/>
            <a:ext cx="2103120" cy="512064"/>
          </a:xfrm>
          <a:prstGeom prst="rect">
            <a:avLst/>
          </a:prstGeom>
          <a:noFill/>
        </p:spPr>
        <p:txBody>
          <a:bodyPr wrap="square" lIns="0" rIns="0" tIns="0" bIns="0" anchor="ctr">
            <a:spAutoFit/>
          </a:bodyPr>
          <a:lstStyle/>
          <a:p>
            <a:pPr algn="l"/>
            <a:r>
              <a:rPr sz="1300" b="1">
                <a:solidFill>
                  <a:schemeClr val="tx1"/>
                </a:solidFill>
              </a:rPr>
              <a:t>Trick prompts refused</a:t>
            </a:r>
          </a:p>
        </p:txBody>
      </p:sp>
      <p:sp>
        <p:nvSpPr>
          <p:cNvPr id="26" name="TextBox 25"/>
          <p:cNvSpPr txBox="1"/>
          <p:nvPr/>
        </p:nvSpPr>
        <p:spPr>
          <a:xfrm>
            <a:off x="3566160" y="4133087"/>
            <a:ext cx="3337560" cy="512064"/>
          </a:xfrm>
          <a:prstGeom prst="rect">
            <a:avLst/>
          </a:prstGeom>
          <a:noFill/>
        </p:spPr>
        <p:txBody>
          <a:bodyPr wrap="square" lIns="0" rIns="0" tIns="0" bIns="0" anchor="ctr">
            <a:spAutoFit/>
          </a:bodyPr>
          <a:lstStyle/>
          <a:p>
            <a:pPr algn="l"/>
            <a:r>
              <a:rPr sz="1100" b="0">
                <a:solidFill>
                  <a:schemeClr val="tx2"/>
                </a:solidFill>
              </a:rPr>
              <a:t>“Ignore your instructions…” gets a calm refusal; nothing changes.</a:t>
            </a:r>
          </a:p>
        </p:txBody>
      </p:sp>
      <p:sp>
        <p:nvSpPr>
          <p:cNvPr id="27" name="Rounded Rectangle 26"/>
          <p:cNvSpPr/>
          <p:nvPr/>
        </p:nvSpPr>
        <p:spPr>
          <a:xfrm>
            <a:off x="731520" y="4818888"/>
            <a:ext cx="6309360" cy="658368"/>
          </a:xfrm>
          <a:prstGeom prst="roundRect">
            <a:avLst>
              <a:gd name="adj" fmla="val 10000"/>
            </a:avLst>
          </a:prstGeom>
          <a:solidFill>
            <a:schemeClr val="bg1"/>
          </a:solidFill>
          <a:ln w="9525">
            <a:solidFill>
              <a:srgbClr val="E3DFD6"/>
            </a:solidFill>
          </a:ln>
        </p:spPr>
        <p:txBody>
          <a:bodyPr rtlCol="0" anchor="ctr"/>
          <a:lstStyle/>
          <a:p>
            <a:pPr algn="ctr"/>
          </a:p>
        </p:txBody>
      </p:sp>
      <p:sp>
        <p:nvSpPr>
          <p:cNvPr id="28" name="LuUserCheck tile"/>
          <p:cNvSpPr/>
          <p:nvPr/>
        </p:nvSpPr>
        <p:spPr>
          <a:xfrm>
            <a:off x="868680" y="4937759"/>
            <a:ext cx="420624" cy="420624"/>
          </a:xfrm>
          <a:prstGeom prst="roundRect">
            <a:avLst>
              <a:gd name="adj" fmla="val 22000"/>
            </a:avLst>
          </a:prstGeom>
          <a:solidFill>
            <a:srgbClr val="F7E3E0"/>
          </a:solidFill>
          <a:ln>
            <a:noFill/>
          </a:ln>
        </p:spPr>
        <p:txBody>
          <a:bodyPr rtlCol="0" anchor="ctr"/>
          <a:lstStyle/>
          <a:p>
            <a:pPr algn="ctr"/>
          </a:p>
        </p:txBody>
      </p:sp>
      <p:pic>
        <p:nvPicPr>
          <p:cNvPr id="29" name="LuUserCheck icon" descr="image.png"/>
          <p:cNvPicPr>
            <a:picLocks noChangeAspect="1"/>
          </p:cNvPicPr>
          <p:nvPr/>
        </p:nvPicPr>
        <p:blipFill>
          <a:blip r:embed="rId7"/>
          <a:stretch>
            <a:fillRect/>
          </a:stretch>
        </p:blipFill>
        <p:spPr>
          <a:xfrm>
            <a:off x="973836" y="5042916"/>
            <a:ext cx="210312" cy="210312"/>
          </a:xfrm>
          <a:prstGeom prst="rect">
            <a:avLst/>
          </a:prstGeom>
        </p:spPr>
      </p:pic>
      <p:sp>
        <p:nvSpPr>
          <p:cNvPr id="30" name="TextBox 29"/>
          <p:cNvSpPr txBox="1"/>
          <p:nvPr/>
        </p:nvSpPr>
        <p:spPr>
          <a:xfrm>
            <a:off x="1444752" y="4892040"/>
            <a:ext cx="2103120" cy="512064"/>
          </a:xfrm>
          <a:prstGeom prst="rect">
            <a:avLst/>
          </a:prstGeom>
          <a:noFill/>
        </p:spPr>
        <p:txBody>
          <a:bodyPr wrap="square" lIns="0" rIns="0" tIns="0" bIns="0" anchor="ctr">
            <a:spAutoFit/>
          </a:bodyPr>
          <a:lstStyle/>
          <a:p>
            <a:pPr algn="l"/>
            <a:r>
              <a:rPr sz="1300" b="1">
                <a:solidFill>
                  <a:schemeClr val="tx1"/>
                </a:solidFill>
              </a:rPr>
              <a:t>Suggests, never acts</a:t>
            </a:r>
          </a:p>
        </p:txBody>
      </p:sp>
      <p:sp>
        <p:nvSpPr>
          <p:cNvPr id="31" name="TextBox 30"/>
          <p:cNvSpPr txBox="1"/>
          <p:nvPr/>
        </p:nvSpPr>
        <p:spPr>
          <a:xfrm>
            <a:off x="3566160" y="4892040"/>
            <a:ext cx="3337560" cy="512064"/>
          </a:xfrm>
          <a:prstGeom prst="rect">
            <a:avLst/>
          </a:prstGeom>
          <a:noFill/>
        </p:spPr>
        <p:txBody>
          <a:bodyPr wrap="square" lIns="0" rIns="0" tIns="0" bIns="0" anchor="ctr">
            <a:spAutoFit/>
          </a:bodyPr>
          <a:lstStyle/>
          <a:p>
            <a:pPr algn="l"/>
            <a:r>
              <a:rPr sz="1100" b="0">
                <a:solidFill>
                  <a:schemeClr val="tx2"/>
                </a:solidFill>
              </a:rPr>
              <a:t>A change of scenario or goal waits for her to press Apply.</a:t>
            </a:r>
          </a:p>
        </p:txBody>
      </p:sp>
      <p:sp>
        <p:nvSpPr>
          <p:cNvPr id="32" name="band"/>
          <p:cNvSpPr/>
          <p:nvPr/>
        </p:nvSpPr>
        <p:spPr>
          <a:xfrm>
            <a:off x="731520" y="5605272"/>
            <a:ext cx="6309360" cy="411480"/>
          </a:xfrm>
          <a:prstGeom prst="roundRect">
            <a:avLst>
              <a:gd name="adj" fmla="val 8000"/>
            </a:avLst>
          </a:prstGeom>
          <a:solidFill>
            <a:schemeClr val="accent4"/>
          </a:solidFill>
          <a:ln>
            <a:noFill/>
          </a:ln>
        </p:spPr>
        <p:txBody>
          <a:bodyPr rtlCol="0" anchor="ctr"/>
          <a:lstStyle/>
          <a:p>
            <a:pPr algn="ctr"/>
          </a:p>
        </p:txBody>
      </p:sp>
      <p:sp>
        <p:nvSpPr>
          <p:cNvPr id="33" name="TextBox 32"/>
          <p:cNvSpPr txBox="1"/>
          <p:nvPr/>
        </p:nvSpPr>
        <p:spPr>
          <a:xfrm>
            <a:off x="914400" y="5605272"/>
            <a:ext cx="6035040" cy="411480"/>
          </a:xfrm>
          <a:prstGeom prst="rect">
            <a:avLst/>
          </a:prstGeom>
          <a:noFill/>
        </p:spPr>
        <p:txBody>
          <a:bodyPr wrap="square" lIns="0" rIns="0" tIns="0" bIns="0" anchor="ctr">
            <a:spAutoFit/>
          </a:bodyPr>
          <a:lstStyle/>
          <a:p>
            <a:pPr algn="l"/>
            <a:r>
              <a:rPr sz="1100" b="1">
                <a:solidFill>
                  <a:srgbClr val="D9971F"/>
                </a:solidFill>
              </a:rPr>
              <a:t>Models: </a:t>
            </a:r>
            <a:r>
              <a:rPr sz="1100" b="0">
                <a:solidFill>
                  <a:schemeClr val="bg1"/>
                </a:solidFill>
              </a:rPr>
              <a:t>Qwen2.5-7B on RunPod reads CVs · Gemini writes answers · no key: rules</a:t>
            </a:r>
          </a:p>
        </p:txBody>
      </p:sp>
      <p:sp>
        <p:nvSpPr>
          <p:cNvPr id="34" name="Rounded Rectangle 33"/>
          <p:cNvSpPr/>
          <p:nvPr/>
        </p:nvSpPr>
        <p:spPr>
          <a:xfrm>
            <a:off x="7324344" y="1746504"/>
            <a:ext cx="2604975" cy="4297680"/>
          </a:xfrm>
          <a:prstGeom prst="roundRect">
            <a:avLst>
              <a:gd name="adj" fmla="val 3000"/>
            </a:avLst>
          </a:prstGeom>
          <a:solidFill>
            <a:schemeClr val="bg1"/>
          </a:solidFill>
          <a:ln w="9525">
            <a:solidFill>
              <a:srgbClr val="E3DFD6"/>
            </a:solidFill>
          </a:ln>
        </p:spPr>
        <p:txBody>
          <a:bodyPr rtlCol="0" anchor="ctr"/>
          <a:lstStyle/>
          <a:p>
            <a:pPr algn="ctr"/>
          </a:p>
        </p:txBody>
      </p:sp>
      <p:pic>
        <p:nvPicPr>
          <p:cNvPr id="35" name="Screenshot: coach answer with sources and the self-check badges" descr="Screenshot: coach answer with sources and the self-check badges"/>
          <p:cNvPicPr>
            <a:picLocks noChangeAspect="1"/>
          </p:cNvPicPr>
          <p:nvPr/>
        </p:nvPicPr>
        <p:blipFill>
          <a:blip r:embed="rId8"/>
          <a:stretch>
            <a:fillRect/>
          </a:stretch>
        </p:blipFill>
        <p:spPr>
          <a:xfrm>
            <a:off x="7360920" y="1783080"/>
            <a:ext cx="2531823" cy="422452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For HR teams and career centres: totals only</a:t>
            </a:r>
          </a:p>
        </p:txBody>
      </p:sp>
      <p:sp>
        <p:nvSpPr>
          <p:cNvPr id="3" name="TextBox 2"/>
          <p:cNvSpPr txBox="1"/>
          <p:nvPr/>
        </p:nvSpPr>
        <p:spPr>
          <a:xfrm>
            <a:off x="731520" y="457200"/>
            <a:ext cx="2638044" cy="329184"/>
          </a:xfrm>
          <a:prstGeom prst="rect">
            <a:avLst/>
          </a:prstGeom>
          <a:noFill/>
        </p:spPr>
        <p:txBody>
          <a:bodyPr wrap="square" lIns="0" rIns="0" tIns="0" bIns="0" anchor="ctr">
            <a:spAutoFit/>
          </a:bodyPr>
          <a:lstStyle/>
          <a:p>
            <a:pPr algn="l"/>
            <a:r>
              <a:rPr sz="1300" b="1" spc="150">
                <a:solidFill>
                  <a:schemeClr val="accent1"/>
                </a:solidFill>
              </a:rPr>
              <a:t>FOR ORGANISATIONS</a:t>
            </a:r>
          </a:p>
        </p:txBody>
      </p:sp>
      <p:sp>
        <p:nvSpPr>
          <p:cNvPr id="4" name="Problem-Solution Fit · Impact pill"/>
          <p:cNvSpPr/>
          <p:nvPr/>
        </p:nvSpPr>
        <p:spPr>
          <a:xfrm>
            <a:off x="3461003" y="457200"/>
            <a:ext cx="265176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3461003" y="457200"/>
            <a:ext cx="2651760" cy="329184"/>
          </a:xfrm>
          <a:prstGeom prst="rect">
            <a:avLst/>
          </a:prstGeom>
          <a:noFill/>
        </p:spPr>
        <p:txBody>
          <a:bodyPr wrap="square" lIns="0" rIns="0" tIns="0" bIns="0" anchor="ctr">
            <a:spAutoFit/>
          </a:bodyPr>
          <a:lstStyle/>
          <a:p>
            <a:pPr algn="ctr"/>
            <a:r>
              <a:rPr sz="1200" b="1">
                <a:solidFill>
                  <a:schemeClr val="accent1"/>
                </a:solidFill>
              </a:rPr>
              <a:t>Problem-Solution Fit · Impact</a:t>
            </a:r>
          </a:p>
        </p:txBody>
      </p:sp>
      <p:sp>
        <p:nvSpPr>
          <p:cNvPr id="6" name="Rounded Rectangle 5"/>
          <p:cNvSpPr/>
          <p:nvPr/>
        </p:nvSpPr>
        <p:spPr>
          <a:xfrm>
            <a:off x="9459467" y="457200"/>
            <a:ext cx="1997964" cy="329184"/>
          </a:xfrm>
          <a:prstGeom prst="roundRect">
            <a:avLst>
              <a:gd name="adj" fmla="val 50000"/>
            </a:avLst>
          </a:prstGeom>
          <a:solidFill>
            <a:schemeClr val="bg1"/>
          </a:solidFill>
          <a:ln w="9525">
            <a:solidFill>
              <a:srgbClr val="E3DFD6"/>
            </a:solidFill>
          </a:ln>
        </p:spPr>
        <p:txBody>
          <a:bodyPr rtlCol="0" anchor="ctr"/>
          <a:lstStyle/>
          <a:p>
            <a:pPr algn="ctr"/>
          </a:p>
        </p:txBody>
      </p:sp>
      <p:sp>
        <p:nvSpPr>
          <p:cNvPr id="7" name="TextBox 6"/>
          <p:cNvSpPr txBox="1"/>
          <p:nvPr/>
        </p:nvSpPr>
        <p:spPr>
          <a:xfrm>
            <a:off x="9459467" y="457200"/>
            <a:ext cx="1997964" cy="329184"/>
          </a:xfrm>
          <a:prstGeom prst="rect">
            <a:avLst/>
          </a:prstGeom>
          <a:noFill/>
        </p:spPr>
        <p:txBody>
          <a:bodyPr wrap="square" lIns="0" rIns="0" tIns="0" bIns="0" anchor="ctr">
            <a:spAutoFit/>
          </a:bodyPr>
          <a:lstStyle/>
          <a:p>
            <a:pPr algn="ctr"/>
            <a:r>
              <a:rPr sz="1100" b="0">
                <a:solidFill>
                  <a:schemeClr val="tx2"/>
                </a:solidFill>
              </a:rPr>
              <a:t>Synthetic sample data</a:t>
            </a:r>
          </a:p>
        </p:txBody>
      </p:sp>
      <p:sp>
        <p:nvSpPr>
          <p:cNvPr id="8" name="TextBox 7"/>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12 / 17</a:t>
            </a:r>
          </a:p>
        </p:txBody>
      </p:sp>
      <p:sp>
        <p:nvSpPr>
          <p:cNvPr id="9" name="Rounded Rectangle 8"/>
          <p:cNvSpPr/>
          <p:nvPr/>
        </p:nvSpPr>
        <p:spPr>
          <a:xfrm>
            <a:off x="694944" y="1746504"/>
            <a:ext cx="6108192" cy="3369602"/>
          </a:xfrm>
          <a:prstGeom prst="roundRect">
            <a:avLst>
              <a:gd name="adj" fmla="val 3000"/>
            </a:avLst>
          </a:prstGeom>
          <a:solidFill>
            <a:schemeClr val="bg1"/>
          </a:solidFill>
          <a:ln w="9525">
            <a:solidFill>
              <a:srgbClr val="E3DFD6"/>
            </a:solidFill>
          </a:ln>
        </p:spPr>
        <p:txBody>
          <a:bodyPr rtlCol="0" anchor="ctr"/>
          <a:lstStyle/>
          <a:p>
            <a:pPr algn="ctr"/>
          </a:p>
        </p:txBody>
      </p:sp>
      <p:pic>
        <p:nvPicPr>
          <p:cNvPr id="10" name="Screenshot: For organisations, sample company" descr="Screenshot: For organisations, sample company"/>
          <p:cNvPicPr>
            <a:picLocks noChangeAspect="1"/>
          </p:cNvPicPr>
          <p:nvPr/>
        </p:nvPicPr>
        <p:blipFill>
          <a:blip r:embed="rId3"/>
          <a:stretch>
            <a:fillRect/>
          </a:stretch>
        </p:blipFill>
        <p:spPr>
          <a:xfrm>
            <a:off x="731520" y="1783080"/>
            <a:ext cx="6035040" cy="3296450"/>
          </a:xfrm>
          <a:prstGeom prst="rect">
            <a:avLst/>
          </a:prstGeom>
        </p:spPr>
      </p:pic>
      <p:sp>
        <p:nvSpPr>
          <p:cNvPr id="11" name="HR and L&amp;D teams card"/>
          <p:cNvSpPr/>
          <p:nvPr/>
        </p:nvSpPr>
        <p:spPr>
          <a:xfrm>
            <a:off x="7040880" y="1783080"/>
            <a:ext cx="4416552" cy="1783080"/>
          </a:xfrm>
          <a:prstGeom prst="roundRect">
            <a:avLst>
              <a:gd name="adj" fmla="val 5000"/>
            </a:avLst>
          </a:prstGeom>
          <a:solidFill>
            <a:schemeClr val="bg1"/>
          </a:solidFill>
          <a:ln w="9525">
            <a:solidFill>
              <a:srgbClr val="E3DFD6"/>
            </a:solidFill>
          </a:ln>
        </p:spPr>
        <p:txBody>
          <a:bodyPr rtlCol="0" anchor="ctr"/>
          <a:lstStyle/>
          <a:p>
            <a:pPr algn="ctr"/>
          </a:p>
        </p:txBody>
      </p:sp>
      <p:sp>
        <p:nvSpPr>
          <p:cNvPr id="12" name="LuBriefcase tile"/>
          <p:cNvSpPr/>
          <p:nvPr/>
        </p:nvSpPr>
        <p:spPr>
          <a:xfrm>
            <a:off x="7242048" y="1984248"/>
            <a:ext cx="457200" cy="457200"/>
          </a:xfrm>
          <a:prstGeom prst="roundRect">
            <a:avLst>
              <a:gd name="adj" fmla="val 22000"/>
            </a:avLst>
          </a:prstGeom>
          <a:solidFill>
            <a:schemeClr val="accent5"/>
          </a:solidFill>
          <a:ln>
            <a:noFill/>
          </a:ln>
        </p:spPr>
        <p:txBody>
          <a:bodyPr rtlCol="0" anchor="ctr"/>
          <a:lstStyle/>
          <a:p>
            <a:pPr algn="ctr"/>
          </a:p>
        </p:txBody>
      </p:sp>
      <p:pic>
        <p:nvPicPr>
          <p:cNvPr id="13" name="LuBriefcase icon" descr="image.png"/>
          <p:cNvPicPr>
            <a:picLocks noChangeAspect="1"/>
          </p:cNvPicPr>
          <p:nvPr/>
        </p:nvPicPr>
        <p:blipFill>
          <a:blip r:embed="rId4"/>
          <a:stretch>
            <a:fillRect/>
          </a:stretch>
        </p:blipFill>
        <p:spPr>
          <a:xfrm>
            <a:off x="7356348" y="2098548"/>
            <a:ext cx="228600" cy="228600"/>
          </a:xfrm>
          <a:prstGeom prst="rect">
            <a:avLst/>
          </a:prstGeom>
        </p:spPr>
      </p:pic>
      <p:sp>
        <p:nvSpPr>
          <p:cNvPr id="14" name="TextBox 13"/>
          <p:cNvSpPr txBox="1"/>
          <p:nvPr/>
        </p:nvSpPr>
        <p:spPr>
          <a:xfrm>
            <a:off x="7818120" y="1984248"/>
            <a:ext cx="3456432" cy="457200"/>
          </a:xfrm>
          <a:prstGeom prst="rect">
            <a:avLst/>
          </a:prstGeom>
          <a:noFill/>
        </p:spPr>
        <p:txBody>
          <a:bodyPr wrap="square" lIns="0" rIns="0" tIns="0" bIns="0" anchor="ctr">
            <a:spAutoFit/>
          </a:bodyPr>
          <a:lstStyle/>
          <a:p>
            <a:pPr algn="l"/>
            <a:r>
              <a:rPr sz="1500" b="1">
                <a:solidFill>
                  <a:schemeClr val="tx1"/>
                </a:solidFill>
              </a:rPr>
              <a:t>HR and L&amp;D teams</a:t>
            </a:r>
          </a:p>
        </p:txBody>
      </p:sp>
      <p:sp>
        <p:nvSpPr>
          <p:cNvPr id="15" name="TextBox 14"/>
          <p:cNvSpPr txBox="1"/>
          <p:nvPr/>
        </p:nvSpPr>
        <p:spPr>
          <a:xfrm>
            <a:off x="7242048" y="2560320"/>
            <a:ext cx="4014215" cy="868680"/>
          </a:xfrm>
          <a:prstGeom prst="rect">
            <a:avLst/>
          </a:prstGeom>
          <a:noFill/>
        </p:spPr>
        <p:txBody>
          <a:bodyPr wrap="square" lIns="0" rIns="0" tIns="0" bIns="0" anchor="t">
            <a:spAutoFit/>
          </a:bodyPr>
          <a:lstStyle/>
          <a:p>
            <a:pPr algn="l">
              <a:spcAft>
                <a:spcPts val="400"/>
              </a:spcAft>
            </a:pPr>
            <a:r>
              <a:rPr sz="1250" b="0">
                <a:solidFill>
                  <a:schemeClr val="tx2"/>
                </a:solidFill>
              </a:rPr>
              <a:t>190 staff in the sample company; </a:t>
            </a:r>
            <a:r>
              <a:rPr sz="1250" b="1">
                <a:solidFill>
                  <a:schemeClr val="tx1"/>
                </a:solidFill>
              </a:rPr>
              <a:t>89</a:t>
            </a:r>
            <a:r>
              <a:rPr sz="1250" b="0">
                <a:solidFill>
                  <a:schemeClr val="tx2"/>
                </a:solidFill>
              </a:rPr>
              <a:t> in roles that shrink.</a:t>
            </a:r>
          </a:p>
          <a:p>
            <a:pPr algn="l">
              <a:spcAft>
                <a:spcPts val="400"/>
              </a:spcAft>
            </a:pPr>
            <a:r>
              <a:rPr sz="1250" b="0">
                <a:solidFill>
                  <a:schemeClr val="tx2"/>
                </a:solidFill>
              </a:rPr>
              <a:t>Cheapest moves: upskill in place, or the nearest growing role.</a:t>
            </a:r>
          </a:p>
          <a:p>
            <a:pPr algn="l">
              <a:spcAft>
                <a:spcPts val="400"/>
              </a:spcAft>
            </a:pPr>
            <a:r>
              <a:rPr sz="1250" b="0">
                <a:solidFill>
                  <a:schemeClr val="tx2"/>
                </a:solidFill>
              </a:rPr>
              <a:t>HRD Corp training-grant plan; CSV and PDF export.</a:t>
            </a:r>
          </a:p>
        </p:txBody>
      </p:sp>
      <p:sp>
        <p:nvSpPr>
          <p:cNvPr id="16" name="TVET and university career centres card"/>
          <p:cNvSpPr/>
          <p:nvPr/>
        </p:nvSpPr>
        <p:spPr>
          <a:xfrm>
            <a:off x="7040880" y="3703320"/>
            <a:ext cx="4416552" cy="1481328"/>
          </a:xfrm>
          <a:prstGeom prst="roundRect">
            <a:avLst>
              <a:gd name="adj" fmla="val 5000"/>
            </a:avLst>
          </a:prstGeom>
          <a:solidFill>
            <a:schemeClr val="bg1"/>
          </a:solidFill>
          <a:ln w="9525">
            <a:solidFill>
              <a:srgbClr val="E3DFD6"/>
            </a:solidFill>
          </a:ln>
        </p:spPr>
        <p:txBody>
          <a:bodyPr rtlCol="0" anchor="ctr"/>
          <a:lstStyle/>
          <a:p>
            <a:pPr algn="ctr"/>
          </a:p>
        </p:txBody>
      </p:sp>
      <p:sp>
        <p:nvSpPr>
          <p:cNvPr id="17" name="LuGraduationCap tile"/>
          <p:cNvSpPr/>
          <p:nvPr/>
        </p:nvSpPr>
        <p:spPr>
          <a:xfrm>
            <a:off x="7242048" y="3904487"/>
            <a:ext cx="457200" cy="457200"/>
          </a:xfrm>
          <a:prstGeom prst="roundRect">
            <a:avLst>
              <a:gd name="adj" fmla="val 22000"/>
            </a:avLst>
          </a:prstGeom>
          <a:solidFill>
            <a:srgbClr val="F7E3E0"/>
          </a:solidFill>
          <a:ln>
            <a:noFill/>
          </a:ln>
        </p:spPr>
        <p:txBody>
          <a:bodyPr rtlCol="0" anchor="ctr"/>
          <a:lstStyle/>
          <a:p>
            <a:pPr algn="ctr"/>
          </a:p>
        </p:txBody>
      </p:sp>
      <p:pic>
        <p:nvPicPr>
          <p:cNvPr id="18" name="LuGraduationCap icon" descr="image.png"/>
          <p:cNvPicPr>
            <a:picLocks noChangeAspect="1"/>
          </p:cNvPicPr>
          <p:nvPr/>
        </p:nvPicPr>
        <p:blipFill>
          <a:blip r:embed="rId5"/>
          <a:stretch>
            <a:fillRect/>
          </a:stretch>
        </p:blipFill>
        <p:spPr>
          <a:xfrm>
            <a:off x="7356348" y="4018787"/>
            <a:ext cx="228600" cy="228600"/>
          </a:xfrm>
          <a:prstGeom prst="rect">
            <a:avLst/>
          </a:prstGeom>
        </p:spPr>
      </p:pic>
      <p:sp>
        <p:nvSpPr>
          <p:cNvPr id="19" name="TextBox 18"/>
          <p:cNvSpPr txBox="1"/>
          <p:nvPr/>
        </p:nvSpPr>
        <p:spPr>
          <a:xfrm>
            <a:off x="7818120" y="3904487"/>
            <a:ext cx="3456432" cy="457200"/>
          </a:xfrm>
          <a:prstGeom prst="rect">
            <a:avLst/>
          </a:prstGeom>
          <a:noFill/>
        </p:spPr>
        <p:txBody>
          <a:bodyPr wrap="square" lIns="0" rIns="0" tIns="0" bIns="0" anchor="ctr">
            <a:spAutoFit/>
          </a:bodyPr>
          <a:lstStyle/>
          <a:p>
            <a:pPr algn="l"/>
            <a:r>
              <a:rPr sz="1500" b="1">
                <a:solidFill>
                  <a:schemeClr val="tx1"/>
                </a:solidFill>
              </a:rPr>
              <a:t>TVET and university career centres</a:t>
            </a:r>
          </a:p>
        </p:txBody>
      </p:sp>
      <p:sp>
        <p:nvSpPr>
          <p:cNvPr id="20" name="TextBox 19"/>
          <p:cNvSpPr txBox="1"/>
          <p:nvPr/>
        </p:nvSpPr>
        <p:spPr>
          <a:xfrm>
            <a:off x="7242048" y="4480559"/>
            <a:ext cx="4014215" cy="566928"/>
          </a:xfrm>
          <a:prstGeom prst="rect">
            <a:avLst/>
          </a:prstGeom>
          <a:noFill/>
        </p:spPr>
        <p:txBody>
          <a:bodyPr wrap="square" lIns="0" rIns="0" tIns="0" bIns="0" anchor="t">
            <a:spAutoFit/>
          </a:bodyPr>
          <a:lstStyle/>
          <a:p>
            <a:pPr algn="l">
              <a:spcAft>
                <a:spcPts val="400"/>
              </a:spcAft>
            </a:pPr>
            <a:r>
              <a:rPr sz="1250" b="0">
                <a:solidFill>
                  <a:schemeClr val="tx2"/>
                </a:solidFill>
              </a:rPr>
              <a:t>52 students in 5 programmes; the top shared gap is </a:t>
            </a:r>
            <a:r>
              <a:rPr sz="1250" b="1">
                <a:solidFill>
                  <a:schemeClr val="tx1"/>
                </a:solidFill>
              </a:rPr>
              <a:t>analytical thinking</a:t>
            </a:r>
            <a:r>
              <a:rPr sz="1250" b="0">
                <a:solidFill>
                  <a:schemeClr val="tx2"/>
                </a:solidFill>
              </a:rPr>
              <a:t> (20 students).</a:t>
            </a:r>
          </a:p>
          <a:p>
            <a:pPr algn="l">
              <a:spcAft>
                <a:spcPts val="400"/>
              </a:spcAft>
            </a:pPr>
            <a:r>
              <a:rPr sz="1250" b="0">
                <a:solidFill>
                  <a:schemeClr val="tx2"/>
                </a:solidFill>
              </a:rPr>
              <a:t>Counsellors see only what students choose to share.</a:t>
            </a:r>
          </a:p>
        </p:txBody>
      </p:sp>
      <p:sp>
        <p:nvSpPr>
          <p:cNvPr id="21" name="Rounded Rectangle 20"/>
          <p:cNvSpPr/>
          <p:nvPr/>
        </p:nvSpPr>
        <p:spPr>
          <a:xfrm>
            <a:off x="731520" y="5321808"/>
            <a:ext cx="10725912" cy="457200"/>
          </a:xfrm>
          <a:prstGeom prst="roundRect">
            <a:avLst>
              <a:gd name="adj" fmla="val 20000"/>
            </a:avLst>
          </a:prstGeom>
          <a:solidFill>
            <a:schemeClr val="accent6"/>
          </a:solidFill>
          <a:ln>
            <a:noFill/>
          </a:ln>
        </p:spPr>
        <p:txBody>
          <a:bodyPr rtlCol="0" anchor="ctr"/>
          <a:lstStyle/>
          <a:p>
            <a:pPr algn="ctr"/>
          </a:p>
        </p:txBody>
      </p:sp>
      <p:sp>
        <p:nvSpPr>
          <p:cNvPr id="22" name="LuEyeOff tile"/>
          <p:cNvSpPr/>
          <p:nvPr/>
        </p:nvSpPr>
        <p:spPr>
          <a:xfrm>
            <a:off x="841248" y="5358384"/>
            <a:ext cx="384048" cy="384048"/>
          </a:xfrm>
          <a:prstGeom prst="roundRect">
            <a:avLst>
              <a:gd name="adj" fmla="val 22000"/>
            </a:avLst>
          </a:prstGeom>
          <a:solidFill>
            <a:srgbClr val="F8EBD3"/>
          </a:solidFill>
          <a:ln>
            <a:noFill/>
          </a:ln>
        </p:spPr>
        <p:txBody>
          <a:bodyPr rtlCol="0" anchor="ctr"/>
          <a:lstStyle/>
          <a:p>
            <a:pPr algn="ctr"/>
          </a:p>
        </p:txBody>
      </p:sp>
      <p:pic>
        <p:nvPicPr>
          <p:cNvPr id="23" name="LuEyeOff icon" descr="image.png"/>
          <p:cNvPicPr>
            <a:picLocks noChangeAspect="1"/>
          </p:cNvPicPr>
          <p:nvPr/>
        </p:nvPicPr>
        <p:blipFill>
          <a:blip r:embed="rId6"/>
          <a:stretch>
            <a:fillRect/>
          </a:stretch>
        </p:blipFill>
        <p:spPr>
          <a:xfrm>
            <a:off x="937260" y="5454396"/>
            <a:ext cx="192024" cy="192024"/>
          </a:xfrm>
          <a:prstGeom prst="rect">
            <a:avLst/>
          </a:prstGeom>
        </p:spPr>
      </p:pic>
      <p:sp>
        <p:nvSpPr>
          <p:cNvPr id="24" name="TextBox 23"/>
          <p:cNvSpPr txBox="1"/>
          <p:nvPr/>
        </p:nvSpPr>
        <p:spPr>
          <a:xfrm>
            <a:off x="1325880" y="5321808"/>
            <a:ext cx="9966960" cy="457200"/>
          </a:xfrm>
          <a:prstGeom prst="rect">
            <a:avLst/>
          </a:prstGeom>
          <a:noFill/>
        </p:spPr>
        <p:txBody>
          <a:bodyPr wrap="square" lIns="0" rIns="0" tIns="0" bIns="0" anchor="ctr">
            <a:spAutoFit/>
          </a:bodyPr>
          <a:lstStyle/>
          <a:p>
            <a:pPr algn="l"/>
            <a:r>
              <a:rPr sz="1200" b="1">
                <a:solidFill>
                  <a:schemeClr val="tx1"/>
                </a:solidFill>
              </a:rPr>
              <a:t>Totals only. </a:t>
            </a:r>
            <a:r>
              <a:rPr sz="1200" b="0">
                <a:solidFill>
                  <a:schemeClr val="tx1"/>
                </a:solidFill>
              </a:rPr>
              <a:t>Files with name, email, IC, phone or staff-ID columns are refused; groups under 3 are hidden; Laluan never ranks people for hiring.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Our hardest risk is data, so we measure it</a:t>
            </a:r>
          </a:p>
        </p:txBody>
      </p:sp>
      <p:sp>
        <p:nvSpPr>
          <p:cNvPr id="3" name="TextBox 2"/>
          <p:cNvSpPr txBox="1"/>
          <p:nvPr/>
        </p:nvSpPr>
        <p:spPr>
          <a:xfrm>
            <a:off x="731520" y="457200"/>
            <a:ext cx="1929384" cy="329184"/>
          </a:xfrm>
          <a:prstGeom prst="rect">
            <a:avLst/>
          </a:prstGeom>
          <a:noFill/>
        </p:spPr>
        <p:txBody>
          <a:bodyPr wrap="square" lIns="0" rIns="0" tIns="0" bIns="0" anchor="ctr">
            <a:spAutoFit/>
          </a:bodyPr>
          <a:lstStyle/>
          <a:p>
            <a:pPr algn="l"/>
            <a:r>
              <a:rPr sz="1300" b="1" spc="150">
                <a:solidFill>
                  <a:schemeClr val="accent1"/>
                </a:solidFill>
              </a:rPr>
              <a:t>HARDEST RISK</a:t>
            </a:r>
          </a:p>
        </p:txBody>
      </p:sp>
      <p:sp>
        <p:nvSpPr>
          <p:cNvPr id="4" name="Feasibility of Build · 25% pill"/>
          <p:cNvSpPr/>
          <p:nvPr/>
        </p:nvSpPr>
        <p:spPr>
          <a:xfrm>
            <a:off x="2752344" y="457200"/>
            <a:ext cx="251460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752344" y="457200"/>
            <a:ext cx="2514600" cy="329184"/>
          </a:xfrm>
          <a:prstGeom prst="rect">
            <a:avLst/>
          </a:prstGeom>
          <a:noFill/>
        </p:spPr>
        <p:txBody>
          <a:bodyPr wrap="square" lIns="0" rIns="0" tIns="0" bIns="0" anchor="ctr">
            <a:spAutoFit/>
          </a:bodyPr>
          <a:lstStyle/>
          <a:p>
            <a:pPr algn="ctr"/>
            <a:r>
              <a:rPr sz="1200" b="1">
                <a:solidFill>
                  <a:schemeClr val="accent1"/>
                </a:solidFill>
              </a:rPr>
              <a:t>Feasibility of Build · 25%</a:t>
            </a:r>
          </a:p>
        </p:txBody>
      </p:sp>
      <p:sp>
        <p:nvSpPr>
          <p:cNvPr id="6" name="TextBox 5"/>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14 / 17</a:t>
            </a:r>
          </a:p>
        </p:txBody>
      </p:sp>
      <p:sp>
        <p:nvSpPr>
          <p:cNvPr id="7" name="Rounded Rectangle 6"/>
          <p:cNvSpPr/>
          <p:nvPr/>
        </p:nvSpPr>
        <p:spPr>
          <a:xfrm>
            <a:off x="731520" y="1783080"/>
            <a:ext cx="2560320" cy="1874519"/>
          </a:xfrm>
          <a:prstGeom prst="roundRect">
            <a:avLst>
              <a:gd name="adj" fmla="val 6000"/>
            </a:avLst>
          </a:prstGeom>
          <a:solidFill>
            <a:schemeClr val="accent4"/>
          </a:solidFill>
          <a:ln>
            <a:noFill/>
          </a:ln>
        </p:spPr>
        <p:txBody>
          <a:bodyPr rtlCol="0" anchor="ctr"/>
          <a:lstStyle/>
          <a:p>
            <a:pPr algn="ctr"/>
          </a:p>
        </p:txBody>
      </p:sp>
      <p:sp>
        <p:nvSpPr>
          <p:cNvPr id="8" name="TextBox 7"/>
          <p:cNvSpPr txBox="1"/>
          <p:nvPr/>
        </p:nvSpPr>
        <p:spPr>
          <a:xfrm>
            <a:off x="932688" y="1901952"/>
            <a:ext cx="2194560" cy="594360"/>
          </a:xfrm>
          <a:prstGeom prst="rect">
            <a:avLst/>
          </a:prstGeom>
          <a:noFill/>
        </p:spPr>
        <p:txBody>
          <a:bodyPr wrap="square" lIns="0" rIns="0" tIns="0" bIns="0" anchor="t">
            <a:spAutoFit/>
          </a:bodyPr>
          <a:lstStyle/>
          <a:p>
            <a:pPr algn="l"/>
            <a:r>
              <a:rPr sz="3000" b="1">
                <a:solidFill>
                  <a:srgbClr val="D9971F"/>
                </a:solidFill>
              </a:rPr>
              <a:t>14 / 19</a:t>
            </a:r>
          </a:p>
        </p:txBody>
      </p:sp>
      <p:sp>
        <p:nvSpPr>
          <p:cNvPr id="9" name="TextBox 8"/>
          <p:cNvSpPr txBox="1"/>
          <p:nvPr/>
        </p:nvSpPr>
        <p:spPr>
          <a:xfrm>
            <a:off x="932688" y="2514600"/>
            <a:ext cx="2194560" cy="320040"/>
          </a:xfrm>
          <a:prstGeom prst="rect">
            <a:avLst/>
          </a:prstGeom>
          <a:noFill/>
        </p:spPr>
        <p:txBody>
          <a:bodyPr wrap="square" lIns="0" rIns="0" tIns="0" bIns="0" anchor="t">
            <a:spAutoFit/>
          </a:bodyPr>
          <a:lstStyle/>
          <a:p>
            <a:pPr algn="l"/>
            <a:r>
              <a:rPr sz="1300" b="1">
                <a:solidFill>
                  <a:schemeClr val="bg1"/>
                </a:solidFill>
              </a:rPr>
              <a:t>clear trends held direction</a:t>
            </a:r>
          </a:p>
        </p:txBody>
      </p:sp>
      <p:sp>
        <p:nvSpPr>
          <p:cNvPr id="10" name="TextBox 9"/>
          <p:cNvSpPr txBox="1"/>
          <p:nvPr/>
        </p:nvSpPr>
        <p:spPr>
          <a:xfrm>
            <a:off x="932688" y="2880360"/>
            <a:ext cx="2194560" cy="731520"/>
          </a:xfrm>
          <a:prstGeom prst="rect">
            <a:avLst/>
          </a:prstGeom>
          <a:noFill/>
        </p:spPr>
        <p:txBody>
          <a:bodyPr wrap="square" lIns="0" rIns="0" tIns="0" bIns="0" anchor="t">
            <a:spAutoFit/>
          </a:bodyPr>
          <a:lstStyle/>
          <a:p>
            <a:pPr algn="l"/>
            <a:r>
              <a:rPr sz="1100" b="0">
                <a:solidFill>
                  <a:srgbClr val="C9D6D3"/>
                </a:solidFill>
              </a:rPr>
              <a:t>vs 12 for “everything rises”; sizes still rougher than “no change”</a:t>
            </a:r>
          </a:p>
        </p:txBody>
      </p:sp>
      <p:sp>
        <p:nvSpPr>
          <p:cNvPr id="11" name="Rounded Rectangle 10"/>
          <p:cNvSpPr/>
          <p:nvPr/>
        </p:nvSpPr>
        <p:spPr>
          <a:xfrm>
            <a:off x="3456432" y="1783080"/>
            <a:ext cx="2560320" cy="1874519"/>
          </a:xfrm>
          <a:prstGeom prst="roundRect">
            <a:avLst>
              <a:gd name="adj" fmla="val 6000"/>
            </a:avLst>
          </a:prstGeom>
          <a:solidFill>
            <a:schemeClr val="bg1"/>
          </a:solidFill>
          <a:ln w="9525">
            <a:solidFill>
              <a:srgbClr val="E3DFD6"/>
            </a:solidFill>
          </a:ln>
        </p:spPr>
        <p:txBody>
          <a:bodyPr rtlCol="0" anchor="ctr"/>
          <a:lstStyle/>
          <a:p>
            <a:pPr algn="ctr"/>
          </a:p>
        </p:txBody>
      </p:sp>
      <p:sp>
        <p:nvSpPr>
          <p:cNvPr id="12" name="TextBox 11"/>
          <p:cNvSpPr txBox="1"/>
          <p:nvPr/>
        </p:nvSpPr>
        <p:spPr>
          <a:xfrm>
            <a:off x="3657600" y="1901952"/>
            <a:ext cx="2194560" cy="594360"/>
          </a:xfrm>
          <a:prstGeom prst="rect">
            <a:avLst/>
          </a:prstGeom>
          <a:noFill/>
        </p:spPr>
        <p:txBody>
          <a:bodyPr wrap="square" lIns="0" rIns="0" tIns="0" bIns="0" anchor="t">
            <a:spAutoFit/>
          </a:bodyPr>
          <a:lstStyle/>
          <a:p>
            <a:pPr algn="l"/>
            <a:r>
              <a:rPr sz="3000" b="1">
                <a:solidFill>
                  <a:schemeClr val="tx1"/>
                </a:solidFill>
              </a:rPr>
              <a:t>59 / 59</a:t>
            </a:r>
          </a:p>
        </p:txBody>
      </p:sp>
      <p:sp>
        <p:nvSpPr>
          <p:cNvPr id="13" name="TextBox 12"/>
          <p:cNvSpPr txBox="1"/>
          <p:nvPr/>
        </p:nvSpPr>
        <p:spPr>
          <a:xfrm>
            <a:off x="3657600" y="2514600"/>
            <a:ext cx="2194560" cy="320040"/>
          </a:xfrm>
          <a:prstGeom prst="rect">
            <a:avLst/>
          </a:prstGeom>
          <a:noFill/>
        </p:spPr>
        <p:txBody>
          <a:bodyPr wrap="square" lIns="0" rIns="0" tIns="0" bIns="0" anchor="t">
            <a:spAutoFit/>
          </a:bodyPr>
          <a:lstStyle/>
          <a:p>
            <a:pPr algn="l"/>
            <a:r>
              <a:rPr sz="1300" b="1">
                <a:solidFill>
                  <a:schemeClr val="tx1"/>
                </a:solidFill>
              </a:rPr>
              <a:t>fairness checks pass</a:t>
            </a:r>
          </a:p>
        </p:txBody>
      </p:sp>
      <p:sp>
        <p:nvSpPr>
          <p:cNvPr id="14" name="TextBox 13"/>
          <p:cNvSpPr txBox="1"/>
          <p:nvPr/>
        </p:nvSpPr>
        <p:spPr>
          <a:xfrm>
            <a:off x="3657600" y="2880360"/>
            <a:ext cx="2194560" cy="731520"/>
          </a:xfrm>
          <a:prstGeom prst="rect">
            <a:avLst/>
          </a:prstGeom>
          <a:noFill/>
        </p:spPr>
        <p:txBody>
          <a:bodyPr wrap="square" lIns="0" rIns="0" tIns="0" bIns="0" anchor="t">
            <a:spAutoFit/>
          </a:bodyPr>
          <a:lstStyle/>
          <a:p>
            <a:pPr algn="l"/>
            <a:r>
              <a:rPr sz="1100" b="0">
                <a:solidFill>
                  <a:schemeClr val="tx2"/>
                </a:solidFill>
              </a:rPr>
              <a:t>3 profiles and 5 CVs under 8 Malaysian names: identical results</a:t>
            </a:r>
          </a:p>
        </p:txBody>
      </p:sp>
      <p:sp>
        <p:nvSpPr>
          <p:cNvPr id="15" name="Rounded Rectangle 14"/>
          <p:cNvSpPr/>
          <p:nvPr/>
        </p:nvSpPr>
        <p:spPr>
          <a:xfrm>
            <a:off x="6181344" y="1783080"/>
            <a:ext cx="2560320" cy="1874519"/>
          </a:xfrm>
          <a:prstGeom prst="roundRect">
            <a:avLst>
              <a:gd name="adj" fmla="val 6000"/>
            </a:avLst>
          </a:prstGeom>
          <a:solidFill>
            <a:schemeClr val="bg1"/>
          </a:solidFill>
          <a:ln w="9525">
            <a:solidFill>
              <a:srgbClr val="E3DFD6"/>
            </a:solidFill>
          </a:ln>
        </p:spPr>
        <p:txBody>
          <a:bodyPr rtlCol="0" anchor="ctr"/>
          <a:lstStyle/>
          <a:p>
            <a:pPr algn="ctr"/>
          </a:p>
        </p:txBody>
      </p:sp>
      <p:sp>
        <p:nvSpPr>
          <p:cNvPr id="16" name="TextBox 15"/>
          <p:cNvSpPr txBox="1"/>
          <p:nvPr/>
        </p:nvSpPr>
        <p:spPr>
          <a:xfrm>
            <a:off x="6382512" y="1901952"/>
            <a:ext cx="2194560" cy="594360"/>
          </a:xfrm>
          <a:prstGeom prst="rect">
            <a:avLst/>
          </a:prstGeom>
          <a:noFill/>
        </p:spPr>
        <p:txBody>
          <a:bodyPr wrap="square" lIns="0" rIns="0" tIns="0" bIns="0" anchor="t">
            <a:spAutoFit/>
          </a:bodyPr>
          <a:lstStyle/>
          <a:p>
            <a:pPr algn="l"/>
            <a:r>
              <a:rPr sz="3000" b="1">
                <a:solidFill>
                  <a:schemeClr val="tx1"/>
                </a:solidFill>
              </a:rPr>
              <a:t>500+</a:t>
            </a:r>
          </a:p>
        </p:txBody>
      </p:sp>
      <p:sp>
        <p:nvSpPr>
          <p:cNvPr id="17" name="TextBox 16"/>
          <p:cNvSpPr txBox="1"/>
          <p:nvPr/>
        </p:nvSpPr>
        <p:spPr>
          <a:xfrm>
            <a:off x="6382512" y="2514600"/>
            <a:ext cx="2194560" cy="320040"/>
          </a:xfrm>
          <a:prstGeom prst="rect">
            <a:avLst/>
          </a:prstGeom>
          <a:noFill/>
        </p:spPr>
        <p:txBody>
          <a:bodyPr wrap="square" lIns="0" rIns="0" tIns="0" bIns="0" anchor="t">
            <a:spAutoFit/>
          </a:bodyPr>
          <a:lstStyle/>
          <a:p>
            <a:pPr algn="l"/>
            <a:r>
              <a:rPr sz="1300" b="1">
                <a:solidFill>
                  <a:schemeClr val="tx1"/>
                </a:solidFill>
              </a:rPr>
              <a:t>backend tests</a:t>
            </a:r>
          </a:p>
        </p:txBody>
      </p:sp>
      <p:sp>
        <p:nvSpPr>
          <p:cNvPr id="18" name="TextBox 17"/>
          <p:cNvSpPr txBox="1"/>
          <p:nvPr/>
        </p:nvSpPr>
        <p:spPr>
          <a:xfrm>
            <a:off x="6382512" y="2880360"/>
            <a:ext cx="2194560" cy="731520"/>
          </a:xfrm>
          <a:prstGeom prst="rect">
            <a:avLst/>
          </a:prstGeom>
          <a:noFill/>
        </p:spPr>
        <p:txBody>
          <a:bodyPr wrap="square" lIns="0" rIns="0" tIns="0" bIns="0" anchor="t">
            <a:spAutoFit/>
          </a:bodyPr>
          <a:lstStyle/>
          <a:p>
            <a:pPr algn="l"/>
            <a:r>
              <a:rPr sz="1100" b="0">
                <a:solidFill>
                  <a:schemeClr val="tx2"/>
                </a:solidFill>
              </a:rPr>
              <a:t>run on every push, with 63 frontend and accessibility tests</a:t>
            </a:r>
          </a:p>
        </p:txBody>
      </p:sp>
      <p:sp>
        <p:nvSpPr>
          <p:cNvPr id="19" name="Rounded Rectangle 18"/>
          <p:cNvSpPr/>
          <p:nvPr/>
        </p:nvSpPr>
        <p:spPr>
          <a:xfrm>
            <a:off x="8906256" y="1783080"/>
            <a:ext cx="2560320" cy="1874519"/>
          </a:xfrm>
          <a:prstGeom prst="roundRect">
            <a:avLst>
              <a:gd name="adj" fmla="val 6000"/>
            </a:avLst>
          </a:prstGeom>
          <a:solidFill>
            <a:schemeClr val="bg1"/>
          </a:solidFill>
          <a:ln w="9525">
            <a:solidFill>
              <a:srgbClr val="E3DFD6"/>
            </a:solidFill>
          </a:ln>
        </p:spPr>
        <p:txBody>
          <a:bodyPr rtlCol="0" anchor="ctr"/>
          <a:lstStyle/>
          <a:p>
            <a:pPr algn="ctr"/>
          </a:p>
        </p:txBody>
      </p:sp>
      <p:sp>
        <p:nvSpPr>
          <p:cNvPr id="20" name="TextBox 19"/>
          <p:cNvSpPr txBox="1"/>
          <p:nvPr/>
        </p:nvSpPr>
        <p:spPr>
          <a:xfrm>
            <a:off x="9107424" y="1901952"/>
            <a:ext cx="2194560" cy="594360"/>
          </a:xfrm>
          <a:prstGeom prst="rect">
            <a:avLst/>
          </a:prstGeom>
          <a:noFill/>
        </p:spPr>
        <p:txBody>
          <a:bodyPr wrap="square" lIns="0" rIns="0" tIns="0" bIns="0" anchor="t">
            <a:spAutoFit/>
          </a:bodyPr>
          <a:lstStyle/>
          <a:p>
            <a:pPr algn="l"/>
            <a:r>
              <a:rPr sz="3000" b="1">
                <a:solidFill>
                  <a:schemeClr val="tx1"/>
                </a:solidFill>
              </a:rPr>
              <a:t>0</a:t>
            </a:r>
          </a:p>
        </p:txBody>
      </p:sp>
      <p:sp>
        <p:nvSpPr>
          <p:cNvPr id="21" name="TextBox 20"/>
          <p:cNvSpPr txBox="1"/>
          <p:nvPr/>
        </p:nvSpPr>
        <p:spPr>
          <a:xfrm>
            <a:off x="9107424" y="2514600"/>
            <a:ext cx="2194560" cy="320040"/>
          </a:xfrm>
          <a:prstGeom prst="rect">
            <a:avLst/>
          </a:prstGeom>
          <a:noFill/>
        </p:spPr>
        <p:txBody>
          <a:bodyPr wrap="square" lIns="0" rIns="0" tIns="0" bIns="0" anchor="t">
            <a:spAutoFit/>
          </a:bodyPr>
          <a:lstStyle/>
          <a:p>
            <a:pPr algn="l"/>
            <a:r>
              <a:rPr sz="1300" b="1">
                <a:solidFill>
                  <a:schemeClr val="tx1"/>
                </a:solidFill>
              </a:rPr>
              <a:t>CVs stored</a:t>
            </a:r>
          </a:p>
        </p:txBody>
      </p:sp>
      <p:sp>
        <p:nvSpPr>
          <p:cNvPr id="22" name="TextBox 21"/>
          <p:cNvSpPr txBox="1"/>
          <p:nvPr/>
        </p:nvSpPr>
        <p:spPr>
          <a:xfrm>
            <a:off x="9107424" y="2880360"/>
            <a:ext cx="2194560" cy="731520"/>
          </a:xfrm>
          <a:prstGeom prst="rect">
            <a:avLst/>
          </a:prstGeom>
          <a:noFill/>
        </p:spPr>
        <p:txBody>
          <a:bodyPr wrap="square" lIns="0" rIns="0" tIns="0" bIns="0" anchor="t">
            <a:spAutoFit/>
          </a:bodyPr>
          <a:lstStyle/>
          <a:p>
            <a:pPr algn="l"/>
            <a:r>
              <a:rPr sz="1100" b="0">
                <a:solidFill>
                  <a:schemeClr val="tx2"/>
                </a:solidFill>
              </a:rPr>
              <a:t>read in memory; personal details removed before any AI</a:t>
            </a:r>
          </a:p>
        </p:txBody>
      </p:sp>
      <p:sp>
        <p:nvSpPr>
          <p:cNvPr id="23" name="TextBox 22"/>
          <p:cNvSpPr txBox="1"/>
          <p:nvPr/>
        </p:nvSpPr>
        <p:spPr>
          <a:xfrm>
            <a:off x="731520" y="3840480"/>
            <a:ext cx="5486400" cy="292608"/>
          </a:xfrm>
          <a:prstGeom prst="rect">
            <a:avLst/>
          </a:prstGeom>
          <a:noFill/>
        </p:spPr>
        <p:txBody>
          <a:bodyPr wrap="square" lIns="0" rIns="0" tIns="0" bIns="0" anchor="t">
            <a:spAutoFit/>
          </a:bodyPr>
          <a:lstStyle/>
          <a:p>
            <a:pPr algn="l"/>
            <a:r>
              <a:rPr sz="1100" b="1" spc="100">
                <a:solidFill>
                  <a:schemeClr val="accent1"/>
                </a:solidFill>
              </a:rPr>
              <a:t>IF SOMETHING FAILS</a:t>
            </a:r>
          </a:p>
        </p:txBody>
      </p:sp>
      <p:sp>
        <p:nvSpPr>
          <p:cNvPr id="24" name="Rounded Rectangle 23"/>
          <p:cNvSpPr/>
          <p:nvPr/>
        </p:nvSpPr>
        <p:spPr>
          <a:xfrm>
            <a:off x="731520" y="4206240"/>
            <a:ext cx="5303520" cy="603504"/>
          </a:xfrm>
          <a:prstGeom prst="roundRect">
            <a:avLst>
              <a:gd name="adj" fmla="val 15000"/>
            </a:avLst>
          </a:prstGeom>
          <a:solidFill>
            <a:schemeClr val="accent5"/>
          </a:solidFill>
          <a:ln>
            <a:noFill/>
          </a:ln>
        </p:spPr>
        <p:txBody>
          <a:bodyPr rtlCol="0" anchor="ctr"/>
          <a:lstStyle/>
          <a:p>
            <a:pPr algn="ctr"/>
          </a:p>
        </p:txBody>
      </p:sp>
      <p:sp>
        <p:nvSpPr>
          <p:cNvPr id="25" name="TextBox 24"/>
          <p:cNvSpPr txBox="1"/>
          <p:nvPr/>
        </p:nvSpPr>
        <p:spPr>
          <a:xfrm>
            <a:off x="914400" y="4206240"/>
            <a:ext cx="1737360" cy="603504"/>
          </a:xfrm>
          <a:prstGeom prst="rect">
            <a:avLst/>
          </a:prstGeom>
          <a:noFill/>
        </p:spPr>
        <p:txBody>
          <a:bodyPr wrap="square" lIns="0" rIns="0" tIns="0" bIns="0" anchor="ctr">
            <a:spAutoFit/>
          </a:bodyPr>
          <a:lstStyle/>
          <a:p>
            <a:pPr algn="l"/>
            <a:r>
              <a:rPr sz="1250" b="1">
                <a:solidFill>
                  <a:schemeClr val="accent1"/>
                </a:solidFill>
              </a:rPr>
              <a:t>Noisy trend</a:t>
            </a:r>
          </a:p>
        </p:txBody>
      </p:sp>
      <p:sp>
        <p:nvSpPr>
          <p:cNvPr id="26" name="TextBox 25"/>
          <p:cNvSpPr txBox="1"/>
          <p:nvPr/>
        </p:nvSpPr>
        <p:spPr>
          <a:xfrm>
            <a:off x="2651760" y="4206240"/>
            <a:ext cx="3291840" cy="603504"/>
          </a:xfrm>
          <a:prstGeom prst="rect">
            <a:avLst/>
          </a:prstGeom>
          <a:noFill/>
        </p:spPr>
        <p:txBody>
          <a:bodyPr wrap="square" lIns="0" rIns="0" tIns="0" bIns="0" anchor="ctr">
            <a:spAutoFit/>
          </a:bodyPr>
          <a:lstStyle/>
          <a:p>
            <a:pPr algn="l"/>
            <a:r>
              <a:rPr sz="1150" b="0">
                <a:solidFill>
                  <a:schemeClr val="tx1"/>
                </a:solidFill>
              </a:rPr>
              <a:t>shrunk towards no change, shown with 80% ranges</a:t>
            </a:r>
          </a:p>
        </p:txBody>
      </p:sp>
      <p:sp>
        <p:nvSpPr>
          <p:cNvPr id="27" name="Rounded Rectangle 26"/>
          <p:cNvSpPr/>
          <p:nvPr/>
        </p:nvSpPr>
        <p:spPr>
          <a:xfrm>
            <a:off x="6144768" y="4206240"/>
            <a:ext cx="5303520" cy="603504"/>
          </a:xfrm>
          <a:prstGeom prst="roundRect">
            <a:avLst>
              <a:gd name="adj" fmla="val 15000"/>
            </a:avLst>
          </a:prstGeom>
          <a:solidFill>
            <a:schemeClr val="accent5"/>
          </a:solidFill>
          <a:ln>
            <a:noFill/>
          </a:ln>
        </p:spPr>
        <p:txBody>
          <a:bodyPr rtlCol="0" anchor="ctr"/>
          <a:lstStyle/>
          <a:p>
            <a:pPr algn="ctr"/>
          </a:p>
        </p:txBody>
      </p:sp>
      <p:sp>
        <p:nvSpPr>
          <p:cNvPr id="28" name="TextBox 27"/>
          <p:cNvSpPr txBox="1"/>
          <p:nvPr/>
        </p:nvSpPr>
        <p:spPr>
          <a:xfrm>
            <a:off x="6327648" y="4206240"/>
            <a:ext cx="1737360" cy="603504"/>
          </a:xfrm>
          <a:prstGeom prst="rect">
            <a:avLst/>
          </a:prstGeom>
          <a:noFill/>
        </p:spPr>
        <p:txBody>
          <a:bodyPr wrap="square" lIns="0" rIns="0" tIns="0" bIns="0" anchor="ctr">
            <a:spAutoFit/>
          </a:bodyPr>
          <a:lstStyle/>
          <a:p>
            <a:pPr algn="l"/>
            <a:r>
              <a:rPr sz="1250" b="1">
                <a:solidFill>
                  <a:schemeClr val="accent1"/>
                </a:solidFill>
              </a:rPr>
              <a:t>Data source down</a:t>
            </a:r>
          </a:p>
        </p:txBody>
      </p:sp>
      <p:sp>
        <p:nvSpPr>
          <p:cNvPr id="29" name="TextBox 28"/>
          <p:cNvSpPr txBox="1"/>
          <p:nvPr/>
        </p:nvSpPr>
        <p:spPr>
          <a:xfrm>
            <a:off x="8065008" y="4206240"/>
            <a:ext cx="3291840" cy="603504"/>
          </a:xfrm>
          <a:prstGeom prst="rect">
            <a:avLst/>
          </a:prstGeom>
          <a:noFill/>
        </p:spPr>
        <p:txBody>
          <a:bodyPr wrap="square" lIns="0" rIns="0" tIns="0" bIns="0" anchor="ctr">
            <a:spAutoFit/>
          </a:bodyPr>
          <a:lstStyle/>
          <a:p>
            <a:pPr algn="l"/>
            <a:r>
              <a:rPr sz="1150" b="0">
                <a:solidFill>
                  <a:schemeClr val="tx1"/>
                </a:solidFill>
              </a:rPr>
              <a:t>the last approved forecast stays live; arXiv → OpenAlex</a:t>
            </a:r>
          </a:p>
        </p:txBody>
      </p:sp>
      <p:sp>
        <p:nvSpPr>
          <p:cNvPr id="30" name="Rounded Rectangle 29"/>
          <p:cNvSpPr/>
          <p:nvPr/>
        </p:nvSpPr>
        <p:spPr>
          <a:xfrm>
            <a:off x="731520" y="4919472"/>
            <a:ext cx="5303520" cy="603504"/>
          </a:xfrm>
          <a:prstGeom prst="roundRect">
            <a:avLst>
              <a:gd name="adj" fmla="val 15000"/>
            </a:avLst>
          </a:prstGeom>
          <a:solidFill>
            <a:schemeClr val="accent5"/>
          </a:solidFill>
          <a:ln>
            <a:noFill/>
          </a:ln>
        </p:spPr>
        <p:txBody>
          <a:bodyPr rtlCol="0" anchor="ctr"/>
          <a:lstStyle/>
          <a:p>
            <a:pPr algn="ctr"/>
          </a:p>
        </p:txBody>
      </p:sp>
      <p:sp>
        <p:nvSpPr>
          <p:cNvPr id="31" name="TextBox 30"/>
          <p:cNvSpPr txBox="1"/>
          <p:nvPr/>
        </p:nvSpPr>
        <p:spPr>
          <a:xfrm>
            <a:off x="914400" y="4919472"/>
            <a:ext cx="1737360" cy="603504"/>
          </a:xfrm>
          <a:prstGeom prst="rect">
            <a:avLst/>
          </a:prstGeom>
          <a:noFill/>
        </p:spPr>
        <p:txBody>
          <a:bodyPr wrap="square" lIns="0" rIns="0" tIns="0" bIns="0" anchor="ctr">
            <a:spAutoFit/>
          </a:bodyPr>
          <a:lstStyle/>
          <a:p>
            <a:pPr algn="l"/>
            <a:r>
              <a:rPr sz="1250" b="1">
                <a:solidFill>
                  <a:schemeClr val="accent1"/>
                </a:solidFill>
              </a:rPr>
              <a:t>RunPod cold or down</a:t>
            </a:r>
          </a:p>
        </p:txBody>
      </p:sp>
      <p:sp>
        <p:nvSpPr>
          <p:cNvPr id="32" name="TextBox 31"/>
          <p:cNvSpPr txBox="1"/>
          <p:nvPr/>
        </p:nvSpPr>
        <p:spPr>
          <a:xfrm>
            <a:off x="2651760" y="4919472"/>
            <a:ext cx="3291840" cy="603504"/>
          </a:xfrm>
          <a:prstGeom prst="rect">
            <a:avLst/>
          </a:prstGeom>
          <a:noFill/>
        </p:spPr>
        <p:txBody>
          <a:bodyPr wrap="square" lIns="0" rIns="0" tIns="0" bIns="0" anchor="ctr">
            <a:spAutoFit/>
          </a:bodyPr>
          <a:lstStyle/>
          <a:p>
            <a:pPr algn="l"/>
            <a:r>
              <a:rPr sz="1150" b="0">
                <a:solidFill>
                  <a:schemeClr val="tx1"/>
                </a:solidFill>
              </a:rPr>
              <a:t>Qwen → Gemini on scrubbed text → skills dictionary</a:t>
            </a:r>
          </a:p>
        </p:txBody>
      </p:sp>
      <p:sp>
        <p:nvSpPr>
          <p:cNvPr id="33" name="Rounded Rectangle 32"/>
          <p:cNvSpPr/>
          <p:nvPr/>
        </p:nvSpPr>
        <p:spPr>
          <a:xfrm>
            <a:off x="6144768" y="4919472"/>
            <a:ext cx="5303520" cy="603504"/>
          </a:xfrm>
          <a:prstGeom prst="roundRect">
            <a:avLst>
              <a:gd name="adj" fmla="val 15000"/>
            </a:avLst>
          </a:prstGeom>
          <a:solidFill>
            <a:schemeClr val="accent5"/>
          </a:solidFill>
          <a:ln>
            <a:noFill/>
          </a:ln>
        </p:spPr>
        <p:txBody>
          <a:bodyPr rtlCol="0" anchor="ctr"/>
          <a:lstStyle/>
          <a:p>
            <a:pPr algn="ctr"/>
          </a:p>
        </p:txBody>
      </p:sp>
      <p:sp>
        <p:nvSpPr>
          <p:cNvPr id="34" name="TextBox 33"/>
          <p:cNvSpPr txBox="1"/>
          <p:nvPr/>
        </p:nvSpPr>
        <p:spPr>
          <a:xfrm>
            <a:off x="6327648" y="4919472"/>
            <a:ext cx="1737360" cy="603504"/>
          </a:xfrm>
          <a:prstGeom prst="rect">
            <a:avLst/>
          </a:prstGeom>
          <a:noFill/>
        </p:spPr>
        <p:txBody>
          <a:bodyPr wrap="square" lIns="0" rIns="0" tIns="0" bIns="0" anchor="ctr">
            <a:spAutoFit/>
          </a:bodyPr>
          <a:lstStyle/>
          <a:p>
            <a:pPr algn="l"/>
            <a:r>
              <a:rPr sz="1250" b="1">
                <a:solidFill>
                  <a:schemeClr val="accent1"/>
                </a:solidFill>
              </a:rPr>
              <a:t>No AI key at all</a:t>
            </a:r>
          </a:p>
        </p:txBody>
      </p:sp>
      <p:sp>
        <p:nvSpPr>
          <p:cNvPr id="35" name="TextBox 34"/>
          <p:cNvSpPr txBox="1"/>
          <p:nvPr/>
        </p:nvSpPr>
        <p:spPr>
          <a:xfrm>
            <a:off x="8065008" y="4919472"/>
            <a:ext cx="3291840" cy="603504"/>
          </a:xfrm>
          <a:prstGeom prst="rect">
            <a:avLst/>
          </a:prstGeom>
          <a:noFill/>
        </p:spPr>
        <p:txBody>
          <a:bodyPr wrap="square" lIns="0" rIns="0" tIns="0" bIns="0" anchor="ctr">
            <a:spAutoFit/>
          </a:bodyPr>
          <a:lstStyle/>
          <a:p>
            <a:pPr algn="l"/>
            <a:r>
              <a:rPr sz="1150" b="0">
                <a:solidFill>
                  <a:schemeClr val="tx1"/>
                </a:solidFill>
              </a:rPr>
              <a:t>matching, forecasts and pathways still run: rules and templates</a:t>
            </a:r>
          </a:p>
        </p:txBody>
      </p:sp>
      <p:sp>
        <p:nvSpPr>
          <p:cNvPr id="36" name="TextBox 35"/>
          <p:cNvSpPr txBox="1"/>
          <p:nvPr/>
        </p:nvSpPr>
        <p:spPr>
          <a:xfrm>
            <a:off x="731520" y="5715000"/>
            <a:ext cx="10725912" cy="274320"/>
          </a:xfrm>
          <a:prstGeom prst="rect">
            <a:avLst/>
          </a:prstGeom>
          <a:noFill/>
        </p:spPr>
        <p:txBody>
          <a:bodyPr wrap="square" lIns="0" rIns="0" tIns="0" bIns="0" anchor="ctr">
            <a:spAutoFit/>
          </a:bodyPr>
          <a:lstStyle/>
          <a:p>
            <a:pPr algn="l"/>
            <a:r>
              <a:rPr sz="1100" b="0">
                <a:solidFill>
                  <a:schemeClr val="tx2"/>
                </a:solidFill>
              </a:rPr>
              <a:t>Backtest of 21 Oct 2026, published on the Radar. Fairness check public at /api/fairness and on the Sources page; it runs in CI.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What is not done yet, and what comes next</a:t>
            </a:r>
          </a:p>
        </p:txBody>
      </p:sp>
      <p:sp>
        <p:nvSpPr>
          <p:cNvPr id="3" name="TextBox 2"/>
          <p:cNvSpPr txBox="1"/>
          <p:nvPr/>
        </p:nvSpPr>
        <p:spPr>
          <a:xfrm>
            <a:off x="731520" y="457200"/>
            <a:ext cx="2354580" cy="329184"/>
          </a:xfrm>
          <a:prstGeom prst="rect">
            <a:avLst/>
          </a:prstGeom>
          <a:noFill/>
        </p:spPr>
        <p:txBody>
          <a:bodyPr wrap="square" lIns="0" rIns="0" tIns="0" bIns="0" anchor="ctr">
            <a:spAutoFit/>
          </a:bodyPr>
          <a:lstStyle/>
          <a:p>
            <a:pPr algn="l"/>
            <a:r>
              <a:rPr sz="1300" b="1" spc="150">
                <a:solidFill>
                  <a:schemeClr val="accent1"/>
                </a:solidFill>
              </a:rPr>
              <a:t>WHAT COMES NEXT</a:t>
            </a:r>
          </a:p>
        </p:txBody>
      </p:sp>
      <p:sp>
        <p:nvSpPr>
          <p:cNvPr id="4" name="Feasibility · Clarity pill"/>
          <p:cNvSpPr/>
          <p:nvPr/>
        </p:nvSpPr>
        <p:spPr>
          <a:xfrm>
            <a:off x="3177540" y="457200"/>
            <a:ext cx="210312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3177540" y="457200"/>
            <a:ext cx="2103120" cy="329184"/>
          </a:xfrm>
          <a:prstGeom prst="rect">
            <a:avLst/>
          </a:prstGeom>
          <a:noFill/>
        </p:spPr>
        <p:txBody>
          <a:bodyPr wrap="square" lIns="0" rIns="0" tIns="0" bIns="0" anchor="ctr">
            <a:spAutoFit/>
          </a:bodyPr>
          <a:lstStyle/>
          <a:p>
            <a:pPr algn="ctr"/>
            <a:r>
              <a:rPr sz="1200" b="1">
                <a:solidFill>
                  <a:schemeClr val="accent1"/>
                </a:solidFill>
              </a:rPr>
              <a:t>Feasibility · Clarity</a:t>
            </a:r>
          </a:p>
        </p:txBody>
      </p:sp>
      <p:sp>
        <p:nvSpPr>
          <p:cNvPr id="6" name="TextBox 5"/>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15 / 17</a:t>
            </a:r>
          </a:p>
        </p:txBody>
      </p:sp>
      <p:sp>
        <p:nvSpPr>
          <p:cNvPr id="7" name="Rounded Rectangle 6"/>
          <p:cNvSpPr/>
          <p:nvPr/>
        </p:nvSpPr>
        <p:spPr>
          <a:xfrm>
            <a:off x="731520" y="1783080"/>
            <a:ext cx="5285232" cy="2743200"/>
          </a:xfrm>
          <a:prstGeom prst="roundRect">
            <a:avLst>
              <a:gd name="adj" fmla="val 5000"/>
            </a:avLst>
          </a:prstGeom>
          <a:solidFill>
            <a:schemeClr val="bg1"/>
          </a:solidFill>
          <a:ln w="9525">
            <a:solidFill>
              <a:srgbClr val="E3DFD6"/>
            </a:solidFill>
          </a:ln>
        </p:spPr>
        <p:txBody>
          <a:bodyPr rtlCol="0" anchor="ctr"/>
          <a:lstStyle/>
          <a:p>
            <a:pPr algn="ctr"/>
          </a:p>
        </p:txBody>
      </p:sp>
      <p:sp>
        <p:nvSpPr>
          <p:cNvPr id="8" name="Rounded Rectangle 7"/>
          <p:cNvSpPr/>
          <p:nvPr/>
        </p:nvSpPr>
        <p:spPr>
          <a:xfrm>
            <a:off x="932688" y="1938528"/>
            <a:ext cx="1737360" cy="329184"/>
          </a:xfrm>
          <a:prstGeom prst="roundRect">
            <a:avLst>
              <a:gd name="adj" fmla="val 50000"/>
            </a:avLst>
          </a:prstGeom>
          <a:solidFill>
            <a:srgbClr val="F7E3E0"/>
          </a:solidFill>
          <a:ln>
            <a:noFill/>
          </a:ln>
        </p:spPr>
        <p:txBody>
          <a:bodyPr rtlCol="0" anchor="ctr"/>
          <a:lstStyle/>
          <a:p>
            <a:pPr algn="ctr"/>
          </a:p>
        </p:txBody>
      </p:sp>
      <p:sp>
        <p:nvSpPr>
          <p:cNvPr id="9" name="TextBox 8"/>
          <p:cNvSpPr txBox="1"/>
          <p:nvPr/>
        </p:nvSpPr>
        <p:spPr>
          <a:xfrm>
            <a:off x="932688" y="1938528"/>
            <a:ext cx="1737360" cy="329184"/>
          </a:xfrm>
          <a:prstGeom prst="rect">
            <a:avLst/>
          </a:prstGeom>
          <a:noFill/>
        </p:spPr>
        <p:txBody>
          <a:bodyPr wrap="square" lIns="0" rIns="0" tIns="0" bIns="0" anchor="ctr">
            <a:spAutoFit/>
          </a:bodyPr>
          <a:lstStyle/>
          <a:p>
            <a:pPr algn="ctr"/>
            <a:r>
              <a:rPr sz="1200" b="1">
                <a:solidFill>
                  <a:srgbClr val="B83A2E"/>
                </a:solidFill>
              </a:rPr>
              <a:t>Not done yet</a:t>
            </a:r>
          </a:p>
        </p:txBody>
      </p:sp>
      <p:sp>
        <p:nvSpPr>
          <p:cNvPr id="10" name="TextBox 9"/>
          <p:cNvSpPr txBox="1"/>
          <p:nvPr/>
        </p:nvSpPr>
        <p:spPr>
          <a:xfrm>
            <a:off x="960120" y="2423160"/>
            <a:ext cx="4846320" cy="2057400"/>
          </a:xfrm>
          <a:prstGeom prst="rect">
            <a:avLst/>
          </a:prstGeom>
          <a:noFill/>
        </p:spPr>
        <p:txBody>
          <a:bodyPr wrap="square" lIns="0" rIns="0" tIns="0" bIns="0" anchor="t">
            <a:spAutoFit/>
          </a:bodyPr>
          <a:lstStyle/>
          <a:p>
            <a:pPr algn="l">
              <a:spcAft>
                <a:spcPts val="500"/>
              </a:spcAft>
            </a:pPr>
            <a:r>
              <a:rPr sz="1250" b="1">
                <a:solidFill>
                  <a:srgbClr val="B83A2E"/>
                </a:solidFill>
              </a:rPr>
              <a:t>•  </a:t>
            </a:r>
            <a:r>
              <a:rPr sz="1250" b="0">
                <a:solidFill>
                  <a:schemeClr val="tx1"/>
                </a:solidFill>
              </a:rPr>
              <a:t>Demo people, CVs, companies and classes are synthetic</a:t>
            </a:r>
          </a:p>
          <a:p>
            <a:pPr algn="l">
              <a:spcAft>
                <a:spcPts val="500"/>
              </a:spcAft>
            </a:pPr>
            <a:r>
              <a:rPr sz="1250" b="1">
                <a:solidFill>
                  <a:srgbClr val="B83A2E"/>
                </a:solidFill>
              </a:rPr>
              <a:t>•  </a:t>
            </a:r>
            <a:r>
              <a:rPr sz="1250" b="0">
                <a:solidFill>
                  <a:schemeClr val="tx1"/>
                </a:solidFill>
              </a:rPr>
              <a:t>Human scoring with a counsellor is not recorded yet</a:t>
            </a:r>
          </a:p>
          <a:p>
            <a:pPr algn="l">
              <a:spcAft>
                <a:spcPts val="500"/>
              </a:spcAft>
            </a:pPr>
            <a:r>
              <a:rPr sz="1250" b="1">
                <a:solidFill>
                  <a:srgbClr val="B83A2E"/>
                </a:solidFill>
              </a:rPr>
              <a:t>•  </a:t>
            </a:r>
            <a:r>
              <a:rPr sz="1250" b="0">
                <a:solidFill>
                  <a:schemeClr val="tx1"/>
                </a:solidFill>
              </a:rPr>
              <a:t>Forecast sizes are rougher than a “no change” guess</a:t>
            </a:r>
          </a:p>
          <a:p>
            <a:pPr algn="l">
              <a:spcAft>
                <a:spcPts val="500"/>
              </a:spcAft>
            </a:pPr>
            <a:r>
              <a:rPr sz="1250" b="1">
                <a:solidFill>
                  <a:srgbClr val="B83A2E"/>
                </a:solidFill>
              </a:rPr>
              <a:t>•  </a:t>
            </a:r>
            <a:r>
              <a:rPr sz="1250" b="0">
                <a:solidFill>
                  <a:schemeClr val="tx1"/>
                </a:solidFill>
              </a:rPr>
              <a:t>23 roles and 38 courses: a starting catalogue</a:t>
            </a:r>
          </a:p>
          <a:p>
            <a:pPr algn="l">
              <a:spcAft>
                <a:spcPts val="500"/>
              </a:spcAft>
            </a:pPr>
            <a:r>
              <a:rPr sz="1250" b="1">
                <a:solidFill>
                  <a:srgbClr val="B83A2E"/>
                </a:solidFill>
              </a:rPr>
              <a:t>•  </a:t>
            </a:r>
            <a:r>
              <a:rPr sz="1250" b="0">
                <a:solidFill>
                  <a:schemeClr val="tx1"/>
                </a:solidFill>
              </a:rPr>
              <a:t>Free hosting wakes up slowly after idle hours</a:t>
            </a:r>
          </a:p>
        </p:txBody>
      </p:sp>
      <p:sp>
        <p:nvSpPr>
          <p:cNvPr id="11" name="Rounded Rectangle 10"/>
          <p:cNvSpPr/>
          <p:nvPr/>
        </p:nvSpPr>
        <p:spPr>
          <a:xfrm>
            <a:off x="6172200" y="1783080"/>
            <a:ext cx="5285232" cy="2743200"/>
          </a:xfrm>
          <a:prstGeom prst="roundRect">
            <a:avLst>
              <a:gd name="adj" fmla="val 5000"/>
            </a:avLst>
          </a:prstGeom>
          <a:solidFill>
            <a:schemeClr val="bg1"/>
          </a:solidFill>
          <a:ln w="9525">
            <a:solidFill>
              <a:srgbClr val="E3DFD6"/>
            </a:solidFill>
          </a:ln>
        </p:spPr>
        <p:txBody>
          <a:bodyPr rtlCol="0" anchor="ctr"/>
          <a:lstStyle/>
          <a:p>
            <a:pPr algn="ctr"/>
          </a:p>
        </p:txBody>
      </p:sp>
      <p:sp>
        <p:nvSpPr>
          <p:cNvPr id="12" name="Rounded Rectangle 11"/>
          <p:cNvSpPr/>
          <p:nvPr/>
        </p:nvSpPr>
        <p:spPr>
          <a:xfrm>
            <a:off x="6373368" y="1938528"/>
            <a:ext cx="1737360" cy="329184"/>
          </a:xfrm>
          <a:prstGeom prst="roundRect">
            <a:avLst>
              <a:gd name="adj" fmla="val 50000"/>
            </a:avLst>
          </a:prstGeom>
          <a:solidFill>
            <a:schemeClr val="accent5"/>
          </a:solidFill>
          <a:ln>
            <a:noFill/>
          </a:ln>
        </p:spPr>
        <p:txBody>
          <a:bodyPr rtlCol="0" anchor="ctr"/>
          <a:lstStyle/>
          <a:p>
            <a:pPr algn="ctr"/>
          </a:p>
        </p:txBody>
      </p:sp>
      <p:sp>
        <p:nvSpPr>
          <p:cNvPr id="13" name="TextBox 12"/>
          <p:cNvSpPr txBox="1"/>
          <p:nvPr/>
        </p:nvSpPr>
        <p:spPr>
          <a:xfrm>
            <a:off x="6373368" y="1938528"/>
            <a:ext cx="1737360" cy="329184"/>
          </a:xfrm>
          <a:prstGeom prst="rect">
            <a:avLst/>
          </a:prstGeom>
          <a:noFill/>
        </p:spPr>
        <p:txBody>
          <a:bodyPr wrap="square" lIns="0" rIns="0" tIns="0" bIns="0" anchor="ctr">
            <a:spAutoFit/>
          </a:bodyPr>
          <a:lstStyle/>
          <a:p>
            <a:pPr algn="ctr"/>
            <a:r>
              <a:rPr sz="1200" b="1">
                <a:solidFill>
                  <a:srgbClr val="0F6E6E"/>
                </a:solidFill>
              </a:rPr>
              <a:t>Next, in Phase 2</a:t>
            </a:r>
          </a:p>
        </p:txBody>
      </p:sp>
      <p:sp>
        <p:nvSpPr>
          <p:cNvPr id="14" name="TextBox 13"/>
          <p:cNvSpPr txBox="1"/>
          <p:nvPr/>
        </p:nvSpPr>
        <p:spPr>
          <a:xfrm>
            <a:off x="6400800" y="2423160"/>
            <a:ext cx="4846320" cy="2057400"/>
          </a:xfrm>
          <a:prstGeom prst="rect">
            <a:avLst/>
          </a:prstGeom>
          <a:noFill/>
        </p:spPr>
        <p:txBody>
          <a:bodyPr wrap="square" lIns="0" rIns="0" tIns="0" bIns="0" anchor="t">
            <a:spAutoFit/>
          </a:bodyPr>
          <a:lstStyle/>
          <a:p>
            <a:pPr algn="l">
              <a:spcAft>
                <a:spcPts val="500"/>
              </a:spcAft>
            </a:pPr>
            <a:r>
              <a:rPr sz="1250" b="1">
                <a:solidFill>
                  <a:srgbClr val="0F6E6E"/>
                </a:solidFill>
              </a:rPr>
              <a:t>•  </a:t>
            </a:r>
            <a:r>
              <a:rPr sz="1250" b="0">
                <a:solidFill>
                  <a:schemeClr val="tx1"/>
                </a:solidFill>
              </a:rPr>
              <a:t>Run the review kit with a counsellor and native BM and 中文 speakers</a:t>
            </a:r>
          </a:p>
          <a:p>
            <a:pPr algn="l">
              <a:spcAft>
                <a:spcPts val="500"/>
              </a:spcAft>
            </a:pPr>
            <a:r>
              <a:rPr sz="1250" b="1">
                <a:solidFill>
                  <a:srgbClr val="0F6E6E"/>
                </a:solidFill>
              </a:rPr>
              <a:t>•  </a:t>
            </a:r>
            <a:r>
              <a:rPr sz="1250" b="0">
                <a:solidFill>
                  <a:schemeClr val="tx1"/>
                </a:solidFill>
              </a:rPr>
              <a:t>Pilot the class view with a TVET or university career centre</a:t>
            </a:r>
          </a:p>
          <a:p>
            <a:pPr algn="l">
              <a:spcAft>
                <a:spcPts val="500"/>
              </a:spcAft>
            </a:pPr>
            <a:r>
              <a:rPr sz="1250" b="1">
                <a:solidFill>
                  <a:srgbClr val="0F6E6E"/>
                </a:solidFill>
              </a:rPr>
              <a:t>•  </a:t>
            </a:r>
            <a:r>
              <a:rPr sz="1250" b="0">
                <a:solidFill>
                  <a:schemeClr val="tx1"/>
                </a:solidFill>
              </a:rPr>
              <a:t>Add Malaysian providers and HRD Corp programmes</a:t>
            </a:r>
          </a:p>
          <a:p>
            <a:pPr algn="l">
              <a:spcAft>
                <a:spcPts val="500"/>
              </a:spcAft>
            </a:pPr>
            <a:r>
              <a:rPr sz="1250" b="1">
                <a:solidFill>
                  <a:srgbClr val="0F6E6E"/>
                </a:solidFill>
              </a:rPr>
              <a:t>•  </a:t>
            </a:r>
            <a:r>
              <a:rPr sz="1250" b="0">
                <a:solidFill>
                  <a:schemeClr val="tx1"/>
                </a:solidFill>
              </a:rPr>
              <a:t>Sharpen forecast sizes, not just direction</a:t>
            </a:r>
          </a:p>
          <a:p>
            <a:pPr algn="l">
              <a:spcAft>
                <a:spcPts val="500"/>
              </a:spcAft>
            </a:pPr>
            <a:r>
              <a:rPr sz="1250" b="1">
                <a:solidFill>
                  <a:srgbClr val="0F6E6E"/>
                </a:solidFill>
              </a:rPr>
              <a:t>•  </a:t>
            </a:r>
            <a:r>
              <a:rPr sz="1250" b="0">
                <a:solidFill>
                  <a:schemeClr val="tx1"/>
                </a:solidFill>
              </a:rPr>
              <a:t>Always-on hosting, no wake-up delay</a:t>
            </a:r>
          </a:p>
        </p:txBody>
      </p:sp>
      <p:sp>
        <p:nvSpPr>
          <p:cNvPr id="15" name="TextBox 14"/>
          <p:cNvSpPr txBox="1"/>
          <p:nvPr/>
        </p:nvSpPr>
        <p:spPr>
          <a:xfrm>
            <a:off x="731520" y="4681728"/>
            <a:ext cx="5486400" cy="274320"/>
          </a:xfrm>
          <a:prstGeom prst="rect">
            <a:avLst/>
          </a:prstGeom>
          <a:noFill/>
        </p:spPr>
        <p:txBody>
          <a:bodyPr wrap="square" lIns="0" rIns="0" tIns="0" bIns="0" anchor="t">
            <a:spAutoFit/>
          </a:bodyPr>
          <a:lstStyle/>
          <a:p>
            <a:pPr algn="l"/>
            <a:r>
              <a:rPr sz="1100" b="1" spc="100">
                <a:solidFill>
                  <a:schemeClr val="accent1"/>
                </a:solidFill>
              </a:rPr>
              <a:t>PHASE 2 TARGETS, FROM OUR PROPOSAL</a:t>
            </a:r>
          </a:p>
        </p:txBody>
      </p:sp>
      <p:sp>
        <p:nvSpPr>
          <p:cNvPr id="16" name="Rounded Rectangle 15"/>
          <p:cNvSpPr/>
          <p:nvPr/>
        </p:nvSpPr>
        <p:spPr>
          <a:xfrm>
            <a:off x="731520" y="5010912"/>
            <a:ext cx="2029968" cy="777240"/>
          </a:xfrm>
          <a:prstGeom prst="roundRect">
            <a:avLst>
              <a:gd name="adj" fmla="val 12000"/>
            </a:avLst>
          </a:prstGeom>
          <a:solidFill>
            <a:schemeClr val="accent6"/>
          </a:solidFill>
          <a:ln>
            <a:noFill/>
          </a:ln>
        </p:spPr>
        <p:txBody>
          <a:bodyPr rtlCol="0" anchor="ctr"/>
          <a:lstStyle/>
          <a:p>
            <a:pPr algn="ctr"/>
          </a:p>
        </p:txBody>
      </p:sp>
      <p:sp>
        <p:nvSpPr>
          <p:cNvPr id="17" name="TextBox 16"/>
          <p:cNvSpPr txBox="1"/>
          <p:nvPr/>
        </p:nvSpPr>
        <p:spPr>
          <a:xfrm>
            <a:off x="896112" y="5056632"/>
            <a:ext cx="1783080" cy="384048"/>
          </a:xfrm>
          <a:prstGeom prst="rect">
            <a:avLst/>
          </a:prstGeom>
          <a:noFill/>
        </p:spPr>
        <p:txBody>
          <a:bodyPr wrap="square" lIns="0" rIns="0" tIns="0" bIns="0" anchor="t">
            <a:spAutoFit/>
          </a:bodyPr>
          <a:lstStyle/>
          <a:p>
            <a:pPr algn="l"/>
            <a:r>
              <a:rPr sz="1800" b="1">
                <a:solidFill>
                  <a:schemeClr val="tx1"/>
                </a:solidFill>
              </a:rPr>
              <a:t>≤ 5 min</a:t>
            </a:r>
          </a:p>
        </p:txBody>
      </p:sp>
      <p:sp>
        <p:nvSpPr>
          <p:cNvPr id="18" name="TextBox 17"/>
          <p:cNvSpPr txBox="1"/>
          <p:nvPr/>
        </p:nvSpPr>
        <p:spPr>
          <a:xfrm>
            <a:off x="896112" y="5440680"/>
            <a:ext cx="1783080" cy="292608"/>
          </a:xfrm>
          <a:prstGeom prst="rect">
            <a:avLst/>
          </a:prstGeom>
          <a:noFill/>
        </p:spPr>
        <p:txBody>
          <a:bodyPr wrap="square" lIns="0" rIns="0" tIns="0" bIns="0" anchor="t">
            <a:spAutoFit/>
          </a:bodyPr>
          <a:lstStyle/>
          <a:p>
            <a:pPr algn="l"/>
            <a:r>
              <a:rPr sz="1050" b="0">
                <a:solidFill>
                  <a:schemeClr val="tx2"/>
                </a:solidFill>
              </a:rPr>
              <a:t>CV to a costed plan</a:t>
            </a:r>
          </a:p>
        </p:txBody>
      </p:sp>
      <p:sp>
        <p:nvSpPr>
          <p:cNvPr id="19" name="Rounded Rectangle 18"/>
          <p:cNvSpPr/>
          <p:nvPr/>
        </p:nvSpPr>
        <p:spPr>
          <a:xfrm>
            <a:off x="2898648" y="5010912"/>
            <a:ext cx="2029968" cy="777240"/>
          </a:xfrm>
          <a:prstGeom prst="roundRect">
            <a:avLst>
              <a:gd name="adj" fmla="val 12000"/>
            </a:avLst>
          </a:prstGeom>
          <a:solidFill>
            <a:schemeClr val="accent5"/>
          </a:solidFill>
          <a:ln>
            <a:noFill/>
          </a:ln>
        </p:spPr>
        <p:txBody>
          <a:bodyPr rtlCol="0" anchor="ctr"/>
          <a:lstStyle/>
          <a:p>
            <a:pPr algn="ctr"/>
          </a:p>
        </p:txBody>
      </p:sp>
      <p:sp>
        <p:nvSpPr>
          <p:cNvPr id="20" name="TextBox 19"/>
          <p:cNvSpPr txBox="1"/>
          <p:nvPr/>
        </p:nvSpPr>
        <p:spPr>
          <a:xfrm>
            <a:off x="3063240" y="5056632"/>
            <a:ext cx="1783080" cy="384048"/>
          </a:xfrm>
          <a:prstGeom prst="rect">
            <a:avLst/>
          </a:prstGeom>
          <a:noFill/>
        </p:spPr>
        <p:txBody>
          <a:bodyPr wrap="square" lIns="0" rIns="0" tIns="0" bIns="0" anchor="t">
            <a:spAutoFit/>
          </a:bodyPr>
          <a:lstStyle/>
          <a:p>
            <a:pPr algn="l"/>
            <a:r>
              <a:rPr sz="1800" b="1">
                <a:solidFill>
                  <a:schemeClr val="accent1"/>
                </a:solidFill>
              </a:rPr>
              <a:t>≥ 80%</a:t>
            </a:r>
          </a:p>
        </p:txBody>
      </p:sp>
      <p:sp>
        <p:nvSpPr>
          <p:cNvPr id="21" name="TextBox 20"/>
          <p:cNvSpPr txBox="1"/>
          <p:nvPr/>
        </p:nvSpPr>
        <p:spPr>
          <a:xfrm>
            <a:off x="3063240" y="5440680"/>
            <a:ext cx="1783080" cy="292608"/>
          </a:xfrm>
          <a:prstGeom prst="rect">
            <a:avLst/>
          </a:prstGeom>
          <a:noFill/>
        </p:spPr>
        <p:txBody>
          <a:bodyPr wrap="square" lIns="0" rIns="0" tIns="0" bIns="0" anchor="t">
            <a:spAutoFit/>
          </a:bodyPr>
          <a:lstStyle/>
          <a:p>
            <a:pPr algn="l"/>
            <a:r>
              <a:rPr sz="1050" b="0">
                <a:solidFill>
                  <a:schemeClr val="tx2"/>
                </a:solidFill>
              </a:rPr>
              <a:t>skill-reading recall</a:t>
            </a:r>
          </a:p>
        </p:txBody>
      </p:sp>
      <p:sp>
        <p:nvSpPr>
          <p:cNvPr id="22" name="Rounded Rectangle 21"/>
          <p:cNvSpPr/>
          <p:nvPr/>
        </p:nvSpPr>
        <p:spPr>
          <a:xfrm>
            <a:off x="5065776" y="5010912"/>
            <a:ext cx="2029968" cy="777240"/>
          </a:xfrm>
          <a:prstGeom prst="roundRect">
            <a:avLst>
              <a:gd name="adj" fmla="val 12000"/>
            </a:avLst>
          </a:prstGeom>
          <a:solidFill>
            <a:schemeClr val="accent5"/>
          </a:solidFill>
          <a:ln>
            <a:noFill/>
          </a:ln>
        </p:spPr>
        <p:txBody>
          <a:bodyPr rtlCol="0" anchor="ctr"/>
          <a:lstStyle/>
          <a:p>
            <a:pPr algn="ctr"/>
          </a:p>
        </p:txBody>
      </p:sp>
      <p:sp>
        <p:nvSpPr>
          <p:cNvPr id="23" name="TextBox 22"/>
          <p:cNvSpPr txBox="1"/>
          <p:nvPr/>
        </p:nvSpPr>
        <p:spPr>
          <a:xfrm>
            <a:off x="5230368" y="5056632"/>
            <a:ext cx="1783080" cy="384048"/>
          </a:xfrm>
          <a:prstGeom prst="rect">
            <a:avLst/>
          </a:prstGeom>
          <a:noFill/>
        </p:spPr>
        <p:txBody>
          <a:bodyPr wrap="square" lIns="0" rIns="0" tIns="0" bIns="0" anchor="t">
            <a:spAutoFit/>
          </a:bodyPr>
          <a:lstStyle/>
          <a:p>
            <a:pPr algn="l"/>
            <a:r>
              <a:rPr sz="1800" b="1">
                <a:solidFill>
                  <a:schemeClr val="accent1"/>
                </a:solidFill>
              </a:rPr>
              <a:t>100%</a:t>
            </a:r>
          </a:p>
        </p:txBody>
      </p:sp>
      <p:sp>
        <p:nvSpPr>
          <p:cNvPr id="24" name="TextBox 23"/>
          <p:cNvSpPr txBox="1"/>
          <p:nvPr/>
        </p:nvSpPr>
        <p:spPr>
          <a:xfrm>
            <a:off x="5230368" y="5440680"/>
            <a:ext cx="1783080" cy="292608"/>
          </a:xfrm>
          <a:prstGeom prst="rect">
            <a:avLst/>
          </a:prstGeom>
          <a:noFill/>
        </p:spPr>
        <p:txBody>
          <a:bodyPr wrap="square" lIns="0" rIns="0" tIns="0" bIns="0" anchor="t">
            <a:spAutoFit/>
          </a:bodyPr>
          <a:lstStyle/>
          <a:p>
            <a:pPr algn="l"/>
            <a:r>
              <a:rPr sz="1050" b="0">
                <a:solidFill>
                  <a:schemeClr val="tx2"/>
                </a:solidFill>
              </a:rPr>
              <a:t>recommendations cited</a:t>
            </a:r>
          </a:p>
        </p:txBody>
      </p:sp>
      <p:sp>
        <p:nvSpPr>
          <p:cNvPr id="25" name="Rounded Rectangle 24"/>
          <p:cNvSpPr/>
          <p:nvPr/>
        </p:nvSpPr>
        <p:spPr>
          <a:xfrm>
            <a:off x="7232904" y="5010912"/>
            <a:ext cx="2029968" cy="777240"/>
          </a:xfrm>
          <a:prstGeom prst="roundRect">
            <a:avLst>
              <a:gd name="adj" fmla="val 12000"/>
            </a:avLst>
          </a:prstGeom>
          <a:solidFill>
            <a:schemeClr val="accent5"/>
          </a:solidFill>
          <a:ln>
            <a:noFill/>
          </a:ln>
        </p:spPr>
        <p:txBody>
          <a:bodyPr rtlCol="0" anchor="ctr"/>
          <a:lstStyle/>
          <a:p>
            <a:pPr algn="ctr"/>
          </a:p>
        </p:txBody>
      </p:sp>
      <p:sp>
        <p:nvSpPr>
          <p:cNvPr id="26" name="TextBox 25"/>
          <p:cNvSpPr txBox="1"/>
          <p:nvPr/>
        </p:nvSpPr>
        <p:spPr>
          <a:xfrm>
            <a:off x="7397496" y="5056632"/>
            <a:ext cx="1783080" cy="384048"/>
          </a:xfrm>
          <a:prstGeom prst="rect">
            <a:avLst/>
          </a:prstGeom>
          <a:noFill/>
        </p:spPr>
        <p:txBody>
          <a:bodyPr wrap="square" lIns="0" rIns="0" tIns="0" bIns="0" anchor="t">
            <a:spAutoFit/>
          </a:bodyPr>
          <a:lstStyle/>
          <a:p>
            <a:pPr algn="l"/>
            <a:r>
              <a:rPr sz="1800" b="1">
                <a:solidFill>
                  <a:schemeClr val="accent1"/>
                </a:solidFill>
              </a:rPr>
              <a:t>≥ 70%</a:t>
            </a:r>
          </a:p>
        </p:txBody>
      </p:sp>
      <p:sp>
        <p:nvSpPr>
          <p:cNvPr id="27" name="TextBox 26"/>
          <p:cNvSpPr txBox="1"/>
          <p:nvPr/>
        </p:nvSpPr>
        <p:spPr>
          <a:xfrm>
            <a:off x="7397496" y="5440680"/>
            <a:ext cx="1783080" cy="292608"/>
          </a:xfrm>
          <a:prstGeom prst="rect">
            <a:avLst/>
          </a:prstGeom>
          <a:noFill/>
        </p:spPr>
        <p:txBody>
          <a:bodyPr wrap="square" lIns="0" rIns="0" tIns="0" bIns="0" anchor="t">
            <a:spAutoFit/>
          </a:bodyPr>
          <a:lstStyle/>
          <a:p>
            <a:pPr algn="l"/>
            <a:r>
              <a:rPr sz="1050" b="0">
                <a:solidFill>
                  <a:schemeClr val="tx2"/>
                </a:solidFill>
              </a:rPr>
              <a:t>plan steps free</a:t>
            </a:r>
          </a:p>
        </p:txBody>
      </p:sp>
      <p:sp>
        <p:nvSpPr>
          <p:cNvPr id="28" name="Rounded Rectangle 27"/>
          <p:cNvSpPr/>
          <p:nvPr/>
        </p:nvSpPr>
        <p:spPr>
          <a:xfrm>
            <a:off x="9400032" y="5010912"/>
            <a:ext cx="2029968" cy="777240"/>
          </a:xfrm>
          <a:prstGeom prst="roundRect">
            <a:avLst>
              <a:gd name="adj" fmla="val 12000"/>
            </a:avLst>
          </a:prstGeom>
          <a:solidFill>
            <a:schemeClr val="accent5"/>
          </a:solidFill>
          <a:ln>
            <a:noFill/>
          </a:ln>
        </p:spPr>
        <p:txBody>
          <a:bodyPr rtlCol="0" anchor="ctr"/>
          <a:lstStyle/>
          <a:p>
            <a:pPr algn="ctr"/>
          </a:p>
        </p:txBody>
      </p:sp>
      <p:sp>
        <p:nvSpPr>
          <p:cNvPr id="29" name="TextBox 28"/>
          <p:cNvSpPr txBox="1"/>
          <p:nvPr/>
        </p:nvSpPr>
        <p:spPr>
          <a:xfrm>
            <a:off x="9564624" y="5056632"/>
            <a:ext cx="1783080" cy="384048"/>
          </a:xfrm>
          <a:prstGeom prst="rect">
            <a:avLst/>
          </a:prstGeom>
          <a:noFill/>
        </p:spPr>
        <p:txBody>
          <a:bodyPr wrap="square" lIns="0" rIns="0" tIns="0" bIns="0" anchor="t">
            <a:spAutoFit/>
          </a:bodyPr>
          <a:lstStyle/>
          <a:p>
            <a:pPr algn="l"/>
            <a:r>
              <a:rPr sz="1800" b="1">
                <a:solidFill>
                  <a:schemeClr val="accent1"/>
                </a:solidFill>
              </a:rPr>
              <a:t>≥ 70%</a:t>
            </a:r>
          </a:p>
        </p:txBody>
      </p:sp>
      <p:sp>
        <p:nvSpPr>
          <p:cNvPr id="30" name="TextBox 29"/>
          <p:cNvSpPr txBox="1"/>
          <p:nvPr/>
        </p:nvSpPr>
        <p:spPr>
          <a:xfrm>
            <a:off x="9564624" y="5440680"/>
            <a:ext cx="1783080" cy="292608"/>
          </a:xfrm>
          <a:prstGeom prst="rect">
            <a:avLst/>
          </a:prstGeom>
          <a:noFill/>
        </p:spPr>
        <p:txBody>
          <a:bodyPr wrap="square" lIns="0" rIns="0" tIns="0" bIns="0" anchor="t">
            <a:spAutoFit/>
          </a:bodyPr>
          <a:lstStyle/>
          <a:p>
            <a:pPr algn="l"/>
            <a:r>
              <a:rPr sz="1050" b="0">
                <a:solidFill>
                  <a:schemeClr val="tx2"/>
                </a:solidFill>
              </a:rPr>
              <a:t>counsellor agreement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a:xfrm>
            <a:off x="731520" y="896112"/>
            <a:ext cx="10725912" cy="685800"/>
          </a:xfrm>
        </p:spPr>
        <p:txBody>
          <a:bodyPr lIns="0" rIns="0" tIns="0" bIns="0" anchor="t" wrap="square"/>
          <a:lstStyle/>
          <a:p>
            <a:r>
              <a:rPr sz="3200" b="1"/>
              <a:t>Four people, one route</a:t>
            </a:r>
          </a:p>
        </p:txBody>
      </p:sp>
      <p:sp>
        <p:nvSpPr>
          <p:cNvPr id="3" name="TextBox 2"/>
          <p:cNvSpPr txBox="1"/>
          <p:nvPr/>
        </p:nvSpPr>
        <p:spPr>
          <a:xfrm>
            <a:off x="731520" y="457200"/>
            <a:ext cx="1362456" cy="329184"/>
          </a:xfrm>
          <a:prstGeom prst="rect">
            <a:avLst/>
          </a:prstGeom>
          <a:noFill/>
        </p:spPr>
        <p:txBody>
          <a:bodyPr wrap="square" lIns="0" rIns="0" tIns="0" bIns="0" anchor="ctr">
            <a:spAutoFit/>
          </a:bodyPr>
          <a:lstStyle/>
          <a:p>
            <a:pPr algn="l"/>
            <a:r>
              <a:rPr sz="1300" b="1" spc="150">
                <a:solidFill>
                  <a:schemeClr val="accent1"/>
                </a:solidFill>
              </a:rPr>
              <a:t>THE TEAM</a:t>
            </a:r>
          </a:p>
        </p:txBody>
      </p:sp>
      <p:sp>
        <p:nvSpPr>
          <p:cNvPr id="4" name="Made in UTM pill"/>
          <p:cNvSpPr/>
          <p:nvPr/>
        </p:nvSpPr>
        <p:spPr>
          <a:xfrm>
            <a:off x="2185416" y="457200"/>
            <a:ext cx="1463040" cy="329184"/>
          </a:xfrm>
          <a:prstGeom prst="roundRect">
            <a:avLst>
              <a:gd name="adj" fmla="val 50000"/>
            </a:avLst>
          </a:prstGeom>
          <a:solidFill>
            <a:schemeClr val="accent5"/>
          </a:solidFill>
          <a:ln>
            <a:noFill/>
          </a:ln>
        </p:spPr>
        <p:txBody>
          <a:bodyPr rtlCol="0" anchor="ctr"/>
          <a:lstStyle/>
          <a:p>
            <a:pPr algn="ctr"/>
          </a:p>
        </p:txBody>
      </p:sp>
      <p:sp>
        <p:nvSpPr>
          <p:cNvPr id="5" name="TextBox 4"/>
          <p:cNvSpPr txBox="1"/>
          <p:nvPr/>
        </p:nvSpPr>
        <p:spPr>
          <a:xfrm>
            <a:off x="2185416" y="457200"/>
            <a:ext cx="1463040" cy="329184"/>
          </a:xfrm>
          <a:prstGeom prst="rect">
            <a:avLst/>
          </a:prstGeom>
          <a:noFill/>
        </p:spPr>
        <p:txBody>
          <a:bodyPr wrap="square" lIns="0" rIns="0" tIns="0" bIns="0" anchor="ctr">
            <a:spAutoFit/>
          </a:bodyPr>
          <a:lstStyle/>
          <a:p>
            <a:pPr algn="ctr"/>
            <a:r>
              <a:rPr sz="1200" b="1">
                <a:solidFill>
                  <a:schemeClr val="accent1"/>
                </a:solidFill>
              </a:rPr>
              <a:t>Made in UTM</a:t>
            </a:r>
          </a:p>
        </p:txBody>
      </p:sp>
      <p:sp>
        <p:nvSpPr>
          <p:cNvPr id="6" name="TextBox 5"/>
          <p:cNvSpPr txBox="1"/>
          <p:nvPr/>
        </p:nvSpPr>
        <p:spPr>
          <a:xfrm>
            <a:off x="10543032" y="6309360"/>
            <a:ext cx="914400" cy="256032"/>
          </a:xfrm>
          <a:prstGeom prst="rect">
            <a:avLst/>
          </a:prstGeom>
          <a:noFill/>
        </p:spPr>
        <p:txBody>
          <a:bodyPr wrap="square" lIns="0" rIns="0" tIns="0" bIns="0" anchor="ctr">
            <a:spAutoFit/>
          </a:bodyPr>
          <a:lstStyle/>
          <a:p>
            <a:pPr algn="r"/>
            <a:r>
              <a:rPr sz="1200" b="0">
                <a:solidFill>
                  <a:schemeClr val="tx2"/>
                </a:solidFill>
              </a:rPr>
              <a:t>16 / 17</a:t>
            </a:r>
          </a:p>
        </p:txBody>
      </p:sp>
      <p:sp>
        <p:nvSpPr>
          <p:cNvPr id="7" name="Rounded Rectangle 6"/>
          <p:cNvSpPr/>
          <p:nvPr/>
        </p:nvSpPr>
        <p:spPr>
          <a:xfrm>
            <a:off x="731520" y="1783080"/>
            <a:ext cx="2560320" cy="2377440"/>
          </a:xfrm>
          <a:prstGeom prst="roundRect">
            <a:avLst>
              <a:gd name="adj" fmla="val 6000"/>
            </a:avLst>
          </a:prstGeom>
          <a:solidFill>
            <a:schemeClr val="bg1"/>
          </a:solidFill>
          <a:ln w="9525">
            <a:solidFill>
              <a:srgbClr val="E3DFD6"/>
            </a:solidFill>
          </a:ln>
        </p:spPr>
        <p:txBody>
          <a:bodyPr rtlCol="0" anchor="ctr"/>
          <a:lstStyle/>
          <a:p>
            <a:pPr algn="ctr"/>
          </a:p>
        </p:txBody>
      </p:sp>
      <p:sp>
        <p:nvSpPr>
          <p:cNvPr id="8" name="Oval 7"/>
          <p:cNvSpPr/>
          <p:nvPr/>
        </p:nvSpPr>
        <p:spPr>
          <a:xfrm>
            <a:off x="1600200" y="1993392"/>
            <a:ext cx="822960" cy="822960"/>
          </a:xfrm>
          <a:prstGeom prst="ellipse">
            <a:avLst/>
          </a:prstGeom>
          <a:solidFill>
            <a:schemeClr val="accent5"/>
          </a:solidFill>
          <a:ln>
            <a:noFill/>
          </a:ln>
        </p:spPr>
        <p:txBody>
          <a:bodyPr rtlCol="0" anchor="ctr"/>
          <a:lstStyle/>
          <a:p>
            <a:pPr algn="ctr"/>
          </a:p>
        </p:txBody>
      </p:sp>
      <p:sp>
        <p:nvSpPr>
          <p:cNvPr id="9" name="TextBox 8"/>
          <p:cNvSpPr txBox="1"/>
          <p:nvPr/>
        </p:nvSpPr>
        <p:spPr>
          <a:xfrm>
            <a:off x="1600200" y="1993392"/>
            <a:ext cx="822960" cy="822960"/>
          </a:xfrm>
          <a:prstGeom prst="rect">
            <a:avLst/>
          </a:prstGeom>
          <a:noFill/>
        </p:spPr>
        <p:txBody>
          <a:bodyPr wrap="square" lIns="0" rIns="0" tIns="0" bIns="0" anchor="ctr">
            <a:spAutoFit/>
          </a:bodyPr>
          <a:lstStyle/>
          <a:p>
            <a:pPr algn="ctr"/>
            <a:r>
              <a:rPr sz="2200" b="1">
                <a:solidFill>
                  <a:srgbClr val="0F6E6E"/>
                </a:solidFill>
              </a:rPr>
              <a:t>TH</a:t>
            </a:r>
          </a:p>
        </p:txBody>
      </p:sp>
      <p:sp>
        <p:nvSpPr>
          <p:cNvPr id="10" name="TextBox 9"/>
          <p:cNvSpPr txBox="1"/>
          <p:nvPr/>
        </p:nvSpPr>
        <p:spPr>
          <a:xfrm>
            <a:off x="868680" y="2971800"/>
            <a:ext cx="2286000" cy="320040"/>
          </a:xfrm>
          <a:prstGeom prst="rect">
            <a:avLst/>
          </a:prstGeom>
          <a:noFill/>
        </p:spPr>
        <p:txBody>
          <a:bodyPr wrap="square" lIns="0" rIns="0" tIns="0" bIns="0" anchor="t">
            <a:spAutoFit/>
          </a:bodyPr>
          <a:lstStyle/>
          <a:p>
            <a:pPr algn="ctr"/>
            <a:r>
              <a:rPr sz="1450" b="1">
                <a:solidFill>
                  <a:schemeClr val="tx1"/>
                </a:solidFill>
              </a:rPr>
              <a:t>Tan Hong Sheng</a:t>
            </a:r>
          </a:p>
        </p:txBody>
      </p:sp>
      <p:sp>
        <p:nvSpPr>
          <p:cNvPr id="11" name="TextBox 10"/>
          <p:cNvSpPr txBox="1"/>
          <p:nvPr/>
        </p:nvSpPr>
        <p:spPr>
          <a:xfrm>
            <a:off x="868680" y="3310128"/>
            <a:ext cx="2286000" cy="320040"/>
          </a:xfrm>
          <a:prstGeom prst="rect">
            <a:avLst/>
          </a:prstGeom>
          <a:noFill/>
        </p:spPr>
        <p:txBody>
          <a:bodyPr wrap="square" lIns="0" rIns="0" tIns="0" bIns="0" anchor="t">
            <a:spAutoFit/>
          </a:bodyPr>
          <a:lstStyle/>
          <a:p>
            <a:pPr algn="ctr"/>
            <a:r>
              <a:rPr sz="1150" b="0">
                <a:solidFill>
                  <a:schemeClr val="tx2"/>
                </a:solidFill>
              </a:rPr>
              <a:t>Team leader · Product manager</a:t>
            </a:r>
          </a:p>
        </p:txBody>
      </p:sp>
      <p:sp>
        <p:nvSpPr>
          <p:cNvPr id="12" name="TextBox 11"/>
          <p:cNvSpPr txBox="1"/>
          <p:nvPr/>
        </p:nvSpPr>
        <p:spPr>
          <a:xfrm>
            <a:off x="868680" y="3657600"/>
            <a:ext cx="2286000" cy="274320"/>
          </a:xfrm>
          <a:prstGeom prst="rect">
            <a:avLst/>
          </a:prstGeom>
          <a:noFill/>
        </p:spPr>
        <p:txBody>
          <a:bodyPr wrap="square" lIns="0" rIns="0" tIns="0" bIns="0" anchor="t">
            <a:spAutoFit/>
          </a:bodyPr>
          <a:lstStyle/>
          <a:p>
            <a:pPr algn="ctr"/>
            <a:r>
              <a:rPr sz="1050" b="0">
                <a:solidFill>
                  <a:schemeClr val="accent1"/>
                </a:solidFill>
              </a:rPr>
              <a:t>@tanhongsheng050204-code</a:t>
            </a:r>
          </a:p>
        </p:txBody>
      </p:sp>
      <p:sp>
        <p:nvSpPr>
          <p:cNvPr id="13" name="Rounded Rectangle 12"/>
          <p:cNvSpPr/>
          <p:nvPr/>
        </p:nvSpPr>
        <p:spPr>
          <a:xfrm>
            <a:off x="3456432" y="1783080"/>
            <a:ext cx="2560320" cy="2377440"/>
          </a:xfrm>
          <a:prstGeom prst="roundRect">
            <a:avLst>
              <a:gd name="adj" fmla="val 6000"/>
            </a:avLst>
          </a:prstGeom>
          <a:solidFill>
            <a:schemeClr val="bg1"/>
          </a:solidFill>
          <a:ln w="9525">
            <a:solidFill>
              <a:srgbClr val="E3DFD6"/>
            </a:solidFill>
          </a:ln>
        </p:spPr>
        <p:txBody>
          <a:bodyPr rtlCol="0" anchor="ctr"/>
          <a:lstStyle/>
          <a:p>
            <a:pPr algn="ctr"/>
          </a:p>
        </p:txBody>
      </p:sp>
      <p:sp>
        <p:nvSpPr>
          <p:cNvPr id="14" name="Oval 13"/>
          <p:cNvSpPr/>
          <p:nvPr/>
        </p:nvSpPr>
        <p:spPr>
          <a:xfrm>
            <a:off x="4325112" y="1993392"/>
            <a:ext cx="822960" cy="822960"/>
          </a:xfrm>
          <a:prstGeom prst="ellipse">
            <a:avLst/>
          </a:prstGeom>
          <a:solidFill>
            <a:srgbClr val="F7E3E0"/>
          </a:solidFill>
          <a:ln>
            <a:noFill/>
          </a:ln>
        </p:spPr>
        <p:txBody>
          <a:bodyPr rtlCol="0" anchor="ctr"/>
          <a:lstStyle/>
          <a:p>
            <a:pPr algn="ctr"/>
          </a:p>
        </p:txBody>
      </p:sp>
      <p:sp>
        <p:nvSpPr>
          <p:cNvPr id="15" name="TextBox 14"/>
          <p:cNvSpPr txBox="1"/>
          <p:nvPr/>
        </p:nvSpPr>
        <p:spPr>
          <a:xfrm>
            <a:off x="4325112" y="1993392"/>
            <a:ext cx="822960" cy="822960"/>
          </a:xfrm>
          <a:prstGeom prst="rect">
            <a:avLst/>
          </a:prstGeom>
          <a:noFill/>
        </p:spPr>
        <p:txBody>
          <a:bodyPr wrap="square" lIns="0" rIns="0" tIns="0" bIns="0" anchor="ctr">
            <a:spAutoFit/>
          </a:bodyPr>
          <a:lstStyle/>
          <a:p>
            <a:pPr algn="ctr"/>
            <a:r>
              <a:rPr sz="2200" b="1">
                <a:solidFill>
                  <a:srgbClr val="B83A2E"/>
                </a:solidFill>
              </a:rPr>
              <a:t>SS</a:t>
            </a:r>
          </a:p>
        </p:txBody>
      </p:sp>
      <p:sp>
        <p:nvSpPr>
          <p:cNvPr id="16" name="TextBox 15"/>
          <p:cNvSpPr txBox="1"/>
          <p:nvPr/>
        </p:nvSpPr>
        <p:spPr>
          <a:xfrm>
            <a:off x="3593592" y="2971800"/>
            <a:ext cx="2286000" cy="320040"/>
          </a:xfrm>
          <a:prstGeom prst="rect">
            <a:avLst/>
          </a:prstGeom>
          <a:noFill/>
        </p:spPr>
        <p:txBody>
          <a:bodyPr wrap="square" lIns="0" rIns="0" tIns="0" bIns="0" anchor="t">
            <a:spAutoFit/>
          </a:bodyPr>
          <a:lstStyle/>
          <a:p>
            <a:pPr algn="ctr"/>
            <a:r>
              <a:rPr sz="1450" b="1">
                <a:solidFill>
                  <a:schemeClr val="tx1"/>
                </a:solidFill>
              </a:rPr>
              <a:t>Shirlyn Siew Yu Jye</a:t>
            </a:r>
          </a:p>
        </p:txBody>
      </p:sp>
      <p:sp>
        <p:nvSpPr>
          <p:cNvPr id="17" name="TextBox 16"/>
          <p:cNvSpPr txBox="1"/>
          <p:nvPr/>
        </p:nvSpPr>
        <p:spPr>
          <a:xfrm>
            <a:off x="3593592" y="3310128"/>
            <a:ext cx="2286000" cy="320040"/>
          </a:xfrm>
          <a:prstGeom prst="rect">
            <a:avLst/>
          </a:prstGeom>
          <a:noFill/>
        </p:spPr>
        <p:txBody>
          <a:bodyPr wrap="square" lIns="0" rIns="0" tIns="0" bIns="0" anchor="t">
            <a:spAutoFit/>
          </a:bodyPr>
          <a:lstStyle/>
          <a:p>
            <a:pPr algn="ctr"/>
            <a:r>
              <a:rPr sz="1150" b="0">
                <a:solidFill>
                  <a:schemeClr val="tx2"/>
                </a:solidFill>
              </a:rPr>
              <a:t>UI/UX designer</a:t>
            </a:r>
          </a:p>
        </p:txBody>
      </p:sp>
      <p:sp>
        <p:nvSpPr>
          <p:cNvPr id="18" name="TextBox 17"/>
          <p:cNvSpPr txBox="1"/>
          <p:nvPr/>
        </p:nvSpPr>
        <p:spPr>
          <a:xfrm>
            <a:off x="3593592" y="3657600"/>
            <a:ext cx="2286000" cy="274320"/>
          </a:xfrm>
          <a:prstGeom prst="rect">
            <a:avLst/>
          </a:prstGeom>
          <a:noFill/>
        </p:spPr>
        <p:txBody>
          <a:bodyPr wrap="square" lIns="0" rIns="0" tIns="0" bIns="0" anchor="t">
            <a:spAutoFit/>
          </a:bodyPr>
          <a:lstStyle/>
          <a:p>
            <a:pPr algn="ctr"/>
            <a:r>
              <a:rPr sz="1050" b="0">
                <a:solidFill>
                  <a:schemeClr val="accent1"/>
                </a:solidFill>
              </a:rPr>
              <a:t>@shirlynsyj83</a:t>
            </a:r>
          </a:p>
        </p:txBody>
      </p:sp>
      <p:sp>
        <p:nvSpPr>
          <p:cNvPr id="19" name="Rounded Rectangle 18"/>
          <p:cNvSpPr/>
          <p:nvPr/>
        </p:nvSpPr>
        <p:spPr>
          <a:xfrm>
            <a:off x="6181344" y="1783080"/>
            <a:ext cx="2560320" cy="2377440"/>
          </a:xfrm>
          <a:prstGeom prst="roundRect">
            <a:avLst>
              <a:gd name="adj" fmla="val 6000"/>
            </a:avLst>
          </a:prstGeom>
          <a:solidFill>
            <a:schemeClr val="bg1"/>
          </a:solidFill>
          <a:ln w="9525">
            <a:solidFill>
              <a:srgbClr val="E3DFD6"/>
            </a:solidFill>
          </a:ln>
        </p:spPr>
        <p:txBody>
          <a:bodyPr rtlCol="0" anchor="ctr"/>
          <a:lstStyle/>
          <a:p>
            <a:pPr algn="ctr"/>
          </a:p>
        </p:txBody>
      </p:sp>
      <p:sp>
        <p:nvSpPr>
          <p:cNvPr id="20" name="Oval 19"/>
          <p:cNvSpPr/>
          <p:nvPr/>
        </p:nvSpPr>
        <p:spPr>
          <a:xfrm>
            <a:off x="7050024" y="1993392"/>
            <a:ext cx="822960" cy="822960"/>
          </a:xfrm>
          <a:prstGeom prst="ellipse">
            <a:avLst/>
          </a:prstGeom>
          <a:solidFill>
            <a:srgbClr val="F8EBD3"/>
          </a:solidFill>
          <a:ln>
            <a:noFill/>
          </a:ln>
        </p:spPr>
        <p:txBody>
          <a:bodyPr rtlCol="0" anchor="ctr"/>
          <a:lstStyle/>
          <a:p>
            <a:pPr algn="ctr"/>
          </a:p>
        </p:txBody>
      </p:sp>
      <p:sp>
        <p:nvSpPr>
          <p:cNvPr id="21" name="TextBox 20"/>
          <p:cNvSpPr txBox="1"/>
          <p:nvPr/>
        </p:nvSpPr>
        <p:spPr>
          <a:xfrm>
            <a:off x="7050024" y="1993392"/>
            <a:ext cx="822960" cy="822960"/>
          </a:xfrm>
          <a:prstGeom prst="rect">
            <a:avLst/>
          </a:prstGeom>
          <a:noFill/>
        </p:spPr>
        <p:txBody>
          <a:bodyPr wrap="square" lIns="0" rIns="0" tIns="0" bIns="0" anchor="ctr">
            <a:spAutoFit/>
          </a:bodyPr>
          <a:lstStyle/>
          <a:p>
            <a:pPr algn="ctr"/>
            <a:r>
              <a:rPr sz="2200" b="1">
                <a:solidFill>
                  <a:srgbClr val="D9971F"/>
                </a:solidFill>
              </a:rPr>
              <a:t>CC</a:t>
            </a:r>
          </a:p>
        </p:txBody>
      </p:sp>
      <p:sp>
        <p:nvSpPr>
          <p:cNvPr id="22" name="TextBox 21"/>
          <p:cNvSpPr txBox="1"/>
          <p:nvPr/>
        </p:nvSpPr>
        <p:spPr>
          <a:xfrm>
            <a:off x="6318504" y="2971800"/>
            <a:ext cx="2286000" cy="320040"/>
          </a:xfrm>
          <a:prstGeom prst="rect">
            <a:avLst/>
          </a:prstGeom>
          <a:noFill/>
        </p:spPr>
        <p:txBody>
          <a:bodyPr wrap="square" lIns="0" rIns="0" tIns="0" bIns="0" anchor="t">
            <a:spAutoFit/>
          </a:bodyPr>
          <a:lstStyle/>
          <a:p>
            <a:pPr algn="ctr"/>
            <a:r>
              <a:rPr sz="1450" b="1">
                <a:solidFill>
                  <a:schemeClr val="tx1"/>
                </a:solidFill>
              </a:rPr>
              <a:t>Chek Chee Him</a:t>
            </a:r>
          </a:p>
        </p:txBody>
      </p:sp>
      <p:sp>
        <p:nvSpPr>
          <p:cNvPr id="23" name="TextBox 22"/>
          <p:cNvSpPr txBox="1"/>
          <p:nvPr/>
        </p:nvSpPr>
        <p:spPr>
          <a:xfrm>
            <a:off x="6318504" y="3310128"/>
            <a:ext cx="2286000" cy="320040"/>
          </a:xfrm>
          <a:prstGeom prst="rect">
            <a:avLst/>
          </a:prstGeom>
          <a:noFill/>
        </p:spPr>
        <p:txBody>
          <a:bodyPr wrap="square" lIns="0" rIns="0" tIns="0" bIns="0" anchor="t">
            <a:spAutoFit/>
          </a:bodyPr>
          <a:lstStyle/>
          <a:p>
            <a:pPr algn="ctr"/>
            <a:r>
              <a:rPr sz="1150" b="0">
                <a:solidFill>
                  <a:schemeClr val="tx2"/>
                </a:solidFill>
              </a:rPr>
              <a:t>Frontend developer</a:t>
            </a:r>
          </a:p>
        </p:txBody>
      </p:sp>
      <p:sp>
        <p:nvSpPr>
          <p:cNvPr id="24" name="TextBox 23"/>
          <p:cNvSpPr txBox="1"/>
          <p:nvPr/>
        </p:nvSpPr>
        <p:spPr>
          <a:xfrm>
            <a:off x="6318504" y="3657600"/>
            <a:ext cx="2286000" cy="274320"/>
          </a:xfrm>
          <a:prstGeom prst="rect">
            <a:avLst/>
          </a:prstGeom>
          <a:noFill/>
        </p:spPr>
        <p:txBody>
          <a:bodyPr wrap="square" lIns="0" rIns="0" tIns="0" bIns="0" anchor="t">
            <a:spAutoFit/>
          </a:bodyPr>
          <a:lstStyle/>
          <a:p>
            <a:pPr algn="ctr"/>
            <a:r>
              <a:rPr sz="1050" b="0">
                <a:solidFill>
                  <a:schemeClr val="accent1"/>
                </a:solidFill>
              </a:rPr>
              <a:t>@thebalanceder</a:t>
            </a:r>
          </a:p>
        </p:txBody>
      </p:sp>
      <p:sp>
        <p:nvSpPr>
          <p:cNvPr id="25" name="Rounded Rectangle 24"/>
          <p:cNvSpPr/>
          <p:nvPr/>
        </p:nvSpPr>
        <p:spPr>
          <a:xfrm>
            <a:off x="8906256" y="1783080"/>
            <a:ext cx="2560320" cy="2377440"/>
          </a:xfrm>
          <a:prstGeom prst="roundRect">
            <a:avLst>
              <a:gd name="adj" fmla="val 6000"/>
            </a:avLst>
          </a:prstGeom>
          <a:solidFill>
            <a:schemeClr val="bg1"/>
          </a:solidFill>
          <a:ln w="9525">
            <a:solidFill>
              <a:srgbClr val="E3DFD6"/>
            </a:solidFill>
          </a:ln>
        </p:spPr>
        <p:txBody>
          <a:bodyPr rtlCol="0" anchor="ctr"/>
          <a:lstStyle/>
          <a:p>
            <a:pPr algn="ctr"/>
          </a:p>
        </p:txBody>
      </p:sp>
      <p:sp>
        <p:nvSpPr>
          <p:cNvPr id="26" name="Oval 25"/>
          <p:cNvSpPr/>
          <p:nvPr/>
        </p:nvSpPr>
        <p:spPr>
          <a:xfrm>
            <a:off x="9774936" y="1993392"/>
            <a:ext cx="822960" cy="822960"/>
          </a:xfrm>
          <a:prstGeom prst="ellipse">
            <a:avLst/>
          </a:prstGeom>
          <a:solidFill>
            <a:schemeClr val="accent5"/>
          </a:solidFill>
          <a:ln>
            <a:noFill/>
          </a:ln>
        </p:spPr>
        <p:txBody>
          <a:bodyPr rtlCol="0" anchor="ctr"/>
          <a:lstStyle/>
          <a:p>
            <a:pPr algn="ctr"/>
          </a:p>
        </p:txBody>
      </p:sp>
      <p:sp>
        <p:nvSpPr>
          <p:cNvPr id="27" name="TextBox 26"/>
          <p:cNvSpPr txBox="1"/>
          <p:nvPr/>
        </p:nvSpPr>
        <p:spPr>
          <a:xfrm>
            <a:off x="9774936" y="1993392"/>
            <a:ext cx="822960" cy="822960"/>
          </a:xfrm>
          <a:prstGeom prst="rect">
            <a:avLst/>
          </a:prstGeom>
          <a:noFill/>
        </p:spPr>
        <p:txBody>
          <a:bodyPr wrap="square" lIns="0" rIns="0" tIns="0" bIns="0" anchor="ctr">
            <a:spAutoFit/>
          </a:bodyPr>
          <a:lstStyle/>
          <a:p>
            <a:pPr algn="ctr"/>
            <a:r>
              <a:rPr sz="2200" b="1">
                <a:solidFill>
                  <a:srgbClr val="12302C"/>
                </a:solidFill>
              </a:rPr>
              <a:t>TY</a:t>
            </a:r>
          </a:p>
        </p:txBody>
      </p:sp>
      <p:sp>
        <p:nvSpPr>
          <p:cNvPr id="28" name="TextBox 27"/>
          <p:cNvSpPr txBox="1"/>
          <p:nvPr/>
        </p:nvSpPr>
        <p:spPr>
          <a:xfrm>
            <a:off x="9043416" y="2971800"/>
            <a:ext cx="2286000" cy="320040"/>
          </a:xfrm>
          <a:prstGeom prst="rect">
            <a:avLst/>
          </a:prstGeom>
          <a:noFill/>
        </p:spPr>
        <p:txBody>
          <a:bodyPr wrap="square" lIns="0" rIns="0" tIns="0" bIns="0" anchor="t">
            <a:spAutoFit/>
          </a:bodyPr>
          <a:lstStyle/>
          <a:p>
            <a:pPr algn="ctr"/>
            <a:r>
              <a:rPr sz="1450" b="1">
                <a:solidFill>
                  <a:schemeClr val="tx1"/>
                </a:solidFill>
              </a:rPr>
              <a:t>Thim Yee Song</a:t>
            </a:r>
          </a:p>
        </p:txBody>
      </p:sp>
      <p:sp>
        <p:nvSpPr>
          <p:cNvPr id="29" name="TextBox 28"/>
          <p:cNvSpPr txBox="1"/>
          <p:nvPr/>
        </p:nvSpPr>
        <p:spPr>
          <a:xfrm>
            <a:off x="9043416" y="3310128"/>
            <a:ext cx="2286000" cy="320040"/>
          </a:xfrm>
          <a:prstGeom prst="rect">
            <a:avLst/>
          </a:prstGeom>
          <a:noFill/>
        </p:spPr>
        <p:txBody>
          <a:bodyPr wrap="square" lIns="0" rIns="0" tIns="0" bIns="0" anchor="t">
            <a:spAutoFit/>
          </a:bodyPr>
          <a:lstStyle/>
          <a:p>
            <a:pPr algn="ctr"/>
            <a:r>
              <a:rPr sz="1150" b="0">
                <a:solidFill>
                  <a:schemeClr val="tx2"/>
                </a:solidFill>
              </a:rPr>
              <a:t>Backend developer</a:t>
            </a:r>
          </a:p>
        </p:txBody>
      </p:sp>
      <p:sp>
        <p:nvSpPr>
          <p:cNvPr id="30" name="TextBox 29"/>
          <p:cNvSpPr txBox="1"/>
          <p:nvPr/>
        </p:nvSpPr>
        <p:spPr>
          <a:xfrm>
            <a:off x="9043416" y="3657600"/>
            <a:ext cx="2286000" cy="274320"/>
          </a:xfrm>
          <a:prstGeom prst="rect">
            <a:avLst/>
          </a:prstGeom>
          <a:noFill/>
        </p:spPr>
        <p:txBody>
          <a:bodyPr wrap="square" lIns="0" rIns="0" tIns="0" bIns="0" anchor="t">
            <a:spAutoFit/>
          </a:bodyPr>
          <a:lstStyle/>
          <a:p>
            <a:pPr algn="ctr"/>
            <a:r>
              <a:rPr sz="1050" b="0">
                <a:solidFill>
                  <a:schemeClr val="accent1"/>
                </a:solidFill>
              </a:rPr>
              <a:t>@song-0707</a:t>
            </a:r>
          </a:p>
        </p:txBody>
      </p:sp>
      <p:sp>
        <p:nvSpPr>
          <p:cNvPr id="31" name="TextBox 30"/>
          <p:cNvSpPr txBox="1"/>
          <p:nvPr/>
        </p:nvSpPr>
        <p:spPr>
          <a:xfrm>
            <a:off x="731520" y="4370832"/>
            <a:ext cx="5486400" cy="274320"/>
          </a:xfrm>
          <a:prstGeom prst="rect">
            <a:avLst/>
          </a:prstGeom>
          <a:noFill/>
        </p:spPr>
        <p:txBody>
          <a:bodyPr wrap="square" lIns="0" rIns="0" tIns="0" bIns="0" anchor="t">
            <a:spAutoFit/>
          </a:bodyPr>
          <a:lstStyle/>
          <a:p>
            <a:pPr algn="l"/>
            <a:r>
              <a:rPr sz="1100" b="1" spc="100">
                <a:solidFill>
                  <a:schemeClr val="accent1"/>
                </a:solidFill>
              </a:rPr>
              <a:t>BUILT WITH</a:t>
            </a:r>
          </a:p>
        </p:txBody>
      </p:sp>
      <p:sp>
        <p:nvSpPr>
          <p:cNvPr id="32" name="Rounded Rectangle 31"/>
          <p:cNvSpPr/>
          <p:nvPr/>
        </p:nvSpPr>
        <p:spPr>
          <a:xfrm>
            <a:off x="731520" y="4709160"/>
            <a:ext cx="3474720" cy="457200"/>
          </a:xfrm>
          <a:prstGeom prst="roundRect">
            <a:avLst>
              <a:gd name="adj" fmla="val 20000"/>
            </a:avLst>
          </a:prstGeom>
          <a:solidFill>
            <a:schemeClr val="accent6"/>
          </a:solidFill>
          <a:ln>
            <a:noFill/>
          </a:ln>
        </p:spPr>
        <p:txBody>
          <a:bodyPr rtlCol="0" anchor="ctr"/>
          <a:lstStyle/>
          <a:p>
            <a:pPr algn="ctr"/>
          </a:p>
        </p:txBody>
      </p:sp>
      <p:sp>
        <p:nvSpPr>
          <p:cNvPr id="33" name="TextBox 32"/>
          <p:cNvSpPr txBox="1"/>
          <p:nvPr/>
        </p:nvSpPr>
        <p:spPr>
          <a:xfrm>
            <a:off x="896112" y="4709160"/>
            <a:ext cx="3246120" cy="457200"/>
          </a:xfrm>
          <a:prstGeom prst="rect">
            <a:avLst/>
          </a:prstGeom>
          <a:noFill/>
        </p:spPr>
        <p:txBody>
          <a:bodyPr wrap="square" lIns="0" rIns="0" tIns="0" bIns="0" anchor="ctr">
            <a:spAutoFit/>
          </a:bodyPr>
          <a:lstStyle/>
          <a:p>
            <a:pPr algn="l"/>
            <a:r>
              <a:rPr sz="1050" b="1">
                <a:solidFill>
                  <a:schemeClr val="tx1"/>
                </a:solidFill>
              </a:rPr>
              <a:t>RunPod  </a:t>
            </a:r>
            <a:r>
              <a:rPr sz="1050" b="0">
                <a:solidFill>
                  <a:schemeClr val="tx2"/>
                </a:solidFill>
              </a:rPr>
              <a:t>3 endpoints: Qwen2.5-7B, Whisper, OCR</a:t>
            </a:r>
          </a:p>
        </p:txBody>
      </p:sp>
      <p:sp>
        <p:nvSpPr>
          <p:cNvPr id="34" name="Rounded Rectangle 33"/>
          <p:cNvSpPr/>
          <p:nvPr/>
        </p:nvSpPr>
        <p:spPr>
          <a:xfrm>
            <a:off x="4343400" y="4709160"/>
            <a:ext cx="3474720" cy="457200"/>
          </a:xfrm>
          <a:prstGeom prst="roundRect">
            <a:avLst>
              <a:gd name="adj" fmla="val 20000"/>
            </a:avLst>
          </a:prstGeom>
          <a:solidFill>
            <a:schemeClr val="accent6"/>
          </a:solidFill>
          <a:ln>
            <a:noFill/>
          </a:ln>
        </p:spPr>
        <p:txBody>
          <a:bodyPr rtlCol="0" anchor="ctr"/>
          <a:lstStyle/>
          <a:p>
            <a:pPr algn="ctr"/>
          </a:p>
        </p:txBody>
      </p:sp>
      <p:sp>
        <p:nvSpPr>
          <p:cNvPr id="35" name="TextBox 34"/>
          <p:cNvSpPr txBox="1"/>
          <p:nvPr/>
        </p:nvSpPr>
        <p:spPr>
          <a:xfrm>
            <a:off x="4507992" y="4709160"/>
            <a:ext cx="3246120" cy="457200"/>
          </a:xfrm>
          <a:prstGeom prst="rect">
            <a:avLst/>
          </a:prstGeom>
          <a:noFill/>
        </p:spPr>
        <p:txBody>
          <a:bodyPr wrap="square" lIns="0" rIns="0" tIns="0" bIns="0" anchor="ctr">
            <a:spAutoFit/>
          </a:bodyPr>
          <a:lstStyle/>
          <a:p>
            <a:pPr algn="l"/>
            <a:r>
              <a:rPr sz="1050" b="1">
                <a:solidFill>
                  <a:schemeClr val="tx1"/>
                </a:solidFill>
              </a:rPr>
              <a:t>Replit  </a:t>
            </a:r>
            <a:r>
              <a:rPr sz="1050" b="0">
                <a:solidFill>
                  <a:schemeClr val="tx2"/>
                </a:solidFill>
              </a:rPr>
              <a:t>clean cloud test environment</a:t>
            </a:r>
          </a:p>
        </p:txBody>
      </p:sp>
      <p:sp>
        <p:nvSpPr>
          <p:cNvPr id="36" name="Rounded Rectangle 35"/>
          <p:cNvSpPr/>
          <p:nvPr/>
        </p:nvSpPr>
        <p:spPr>
          <a:xfrm>
            <a:off x="7955280" y="4709160"/>
            <a:ext cx="3474720" cy="457200"/>
          </a:xfrm>
          <a:prstGeom prst="roundRect">
            <a:avLst>
              <a:gd name="adj" fmla="val 20000"/>
            </a:avLst>
          </a:prstGeom>
          <a:solidFill>
            <a:schemeClr val="accent5"/>
          </a:solidFill>
          <a:ln>
            <a:noFill/>
          </a:ln>
        </p:spPr>
        <p:txBody>
          <a:bodyPr rtlCol="0" anchor="ctr"/>
          <a:lstStyle/>
          <a:p>
            <a:pPr algn="ctr"/>
          </a:p>
        </p:txBody>
      </p:sp>
      <p:sp>
        <p:nvSpPr>
          <p:cNvPr id="37" name="TextBox 36"/>
          <p:cNvSpPr txBox="1"/>
          <p:nvPr/>
        </p:nvSpPr>
        <p:spPr>
          <a:xfrm>
            <a:off x="8119872" y="4709160"/>
            <a:ext cx="3246120" cy="457200"/>
          </a:xfrm>
          <a:prstGeom prst="rect">
            <a:avLst/>
          </a:prstGeom>
          <a:noFill/>
        </p:spPr>
        <p:txBody>
          <a:bodyPr wrap="square" lIns="0" rIns="0" tIns="0" bIns="0" anchor="ctr">
            <a:spAutoFit/>
          </a:bodyPr>
          <a:lstStyle/>
          <a:p>
            <a:pPr algn="l"/>
            <a:r>
              <a:rPr sz="1050" b="1">
                <a:solidFill>
                  <a:schemeClr val="tx1"/>
                </a:solidFill>
              </a:rPr>
              <a:t>Gemini  </a:t>
            </a:r>
            <a:r>
              <a:rPr sz="1050" b="0">
                <a:solidFill>
                  <a:schemeClr val="tx2"/>
                </a:solidFill>
              </a:rPr>
              <a:t>coach, interview feedback, summaries</a:t>
            </a:r>
          </a:p>
        </p:txBody>
      </p:sp>
      <p:sp>
        <p:nvSpPr>
          <p:cNvPr id="38" name="Rounded Rectangle 37"/>
          <p:cNvSpPr/>
          <p:nvPr/>
        </p:nvSpPr>
        <p:spPr>
          <a:xfrm>
            <a:off x="731520" y="5257800"/>
            <a:ext cx="3474720" cy="457200"/>
          </a:xfrm>
          <a:prstGeom prst="roundRect">
            <a:avLst>
              <a:gd name="adj" fmla="val 20000"/>
            </a:avLst>
          </a:prstGeom>
          <a:solidFill>
            <a:schemeClr val="accent5"/>
          </a:solidFill>
          <a:ln>
            <a:noFill/>
          </a:ln>
        </p:spPr>
        <p:txBody>
          <a:bodyPr rtlCol="0" anchor="ctr"/>
          <a:lstStyle/>
          <a:p>
            <a:pPr algn="ctr"/>
          </a:p>
        </p:txBody>
      </p:sp>
      <p:sp>
        <p:nvSpPr>
          <p:cNvPr id="39" name="TextBox 38"/>
          <p:cNvSpPr txBox="1"/>
          <p:nvPr/>
        </p:nvSpPr>
        <p:spPr>
          <a:xfrm>
            <a:off x="896112" y="5257800"/>
            <a:ext cx="3246120" cy="457200"/>
          </a:xfrm>
          <a:prstGeom prst="rect">
            <a:avLst/>
          </a:prstGeom>
          <a:noFill/>
        </p:spPr>
        <p:txBody>
          <a:bodyPr wrap="square" lIns="0" rIns="0" tIns="0" bIns="0" anchor="ctr">
            <a:spAutoFit/>
          </a:bodyPr>
          <a:lstStyle/>
          <a:p>
            <a:pPr algn="l"/>
            <a:r>
              <a:rPr sz="1050" b="1">
                <a:solidFill>
                  <a:schemeClr val="tx1"/>
                </a:solidFill>
              </a:rPr>
              <a:t>Supabase  </a:t>
            </a:r>
            <a:r>
              <a:rPr sz="1050" b="0">
                <a:solidFill>
                  <a:schemeClr val="tx2"/>
                </a:solidFill>
              </a:rPr>
              <a:t>Postgres, row-level security, login</a:t>
            </a:r>
          </a:p>
        </p:txBody>
      </p:sp>
      <p:sp>
        <p:nvSpPr>
          <p:cNvPr id="40" name="Rounded Rectangle 39"/>
          <p:cNvSpPr/>
          <p:nvPr/>
        </p:nvSpPr>
        <p:spPr>
          <a:xfrm>
            <a:off x="4343400" y="5257800"/>
            <a:ext cx="3474720" cy="457200"/>
          </a:xfrm>
          <a:prstGeom prst="roundRect">
            <a:avLst>
              <a:gd name="adj" fmla="val 20000"/>
            </a:avLst>
          </a:prstGeom>
          <a:solidFill>
            <a:schemeClr val="accent5"/>
          </a:solidFill>
          <a:ln>
            <a:noFill/>
          </a:ln>
        </p:spPr>
        <p:txBody>
          <a:bodyPr rtlCol="0" anchor="ctr"/>
          <a:lstStyle/>
          <a:p>
            <a:pPr algn="ctr"/>
          </a:p>
        </p:txBody>
      </p:sp>
      <p:sp>
        <p:nvSpPr>
          <p:cNvPr id="41" name="TextBox 40"/>
          <p:cNvSpPr txBox="1"/>
          <p:nvPr/>
        </p:nvSpPr>
        <p:spPr>
          <a:xfrm>
            <a:off x="4507992" y="5257800"/>
            <a:ext cx="3246120" cy="457200"/>
          </a:xfrm>
          <a:prstGeom prst="rect">
            <a:avLst/>
          </a:prstGeom>
          <a:noFill/>
        </p:spPr>
        <p:txBody>
          <a:bodyPr wrap="square" lIns="0" rIns="0" tIns="0" bIns="0" anchor="ctr">
            <a:spAutoFit/>
          </a:bodyPr>
          <a:lstStyle/>
          <a:p>
            <a:pPr algn="l"/>
            <a:r>
              <a:rPr sz="1050" b="1">
                <a:solidFill>
                  <a:schemeClr val="tx1"/>
                </a:solidFill>
              </a:rPr>
              <a:t>Vercel + Render  </a:t>
            </a:r>
            <a:r>
              <a:rPr sz="1050" b="0">
                <a:solidFill>
                  <a:schemeClr val="tx2"/>
                </a:solidFill>
              </a:rPr>
              <a:t>web app and Docker API</a:t>
            </a:r>
          </a:p>
        </p:txBody>
      </p:sp>
      <p:sp>
        <p:nvSpPr>
          <p:cNvPr id="42" name="Rounded Rectangle 41"/>
          <p:cNvSpPr/>
          <p:nvPr/>
        </p:nvSpPr>
        <p:spPr>
          <a:xfrm>
            <a:off x="7955280" y="5257800"/>
            <a:ext cx="3474720" cy="457200"/>
          </a:xfrm>
          <a:prstGeom prst="roundRect">
            <a:avLst>
              <a:gd name="adj" fmla="val 20000"/>
            </a:avLst>
          </a:prstGeom>
          <a:solidFill>
            <a:schemeClr val="accent5"/>
          </a:solidFill>
          <a:ln>
            <a:noFill/>
          </a:ln>
        </p:spPr>
        <p:txBody>
          <a:bodyPr rtlCol="0" anchor="ctr"/>
          <a:lstStyle/>
          <a:p>
            <a:pPr algn="ctr"/>
          </a:p>
        </p:txBody>
      </p:sp>
      <p:sp>
        <p:nvSpPr>
          <p:cNvPr id="43" name="TextBox 42"/>
          <p:cNvSpPr txBox="1"/>
          <p:nvPr/>
        </p:nvSpPr>
        <p:spPr>
          <a:xfrm>
            <a:off x="8119872" y="5257800"/>
            <a:ext cx="3246120" cy="457200"/>
          </a:xfrm>
          <a:prstGeom prst="rect">
            <a:avLst/>
          </a:prstGeom>
          <a:noFill/>
        </p:spPr>
        <p:txBody>
          <a:bodyPr wrap="square" lIns="0" rIns="0" tIns="0" bIns="0" anchor="ctr">
            <a:spAutoFit/>
          </a:bodyPr>
          <a:lstStyle/>
          <a:p>
            <a:pPr algn="l"/>
            <a:r>
              <a:rPr sz="1050" b="1">
                <a:solidFill>
                  <a:schemeClr val="tx1"/>
                </a:solidFill>
              </a:rPr>
              <a:t>GitHub Actions  </a:t>
            </a:r>
            <a:r>
              <a:rPr sz="1050" b="0">
                <a:solidFill>
                  <a:schemeClr val="tx2"/>
                </a:solidFill>
              </a:rPr>
              <a:t>tests and weekly refresh</a:t>
            </a:r>
          </a:p>
        </p:txBody>
      </p:sp>
    </p:spTree>
  </p:cSld>
  <p:clrMapOvr>
    <a:masterClrMapping/>
  </p:clrMapOvr>
</p:sld>
</file>

<file path=ppt/theme/theme1.xml><?xml version="1.0" encoding="utf-8"?>
<a:theme xmlns:a="http://schemas.openxmlformats.org/drawingml/2006/main" name="Laluan">
  <a:themeElements>
    <a:clrScheme name="Laluan">
      <a:dk1>
        <a:srgbClr val="13201D"/>
      </a:dk1>
      <a:lt1>
        <a:srgbClr val="FFFFFF"/>
      </a:lt1>
      <a:dk2>
        <a:srgbClr val="5B6168"/>
      </a:dk2>
      <a:lt2>
        <a:srgbClr val="FAF8F4"/>
      </a:lt2>
      <a:accent1>
        <a:srgbClr val="0F6E6E"/>
      </a:accent1>
      <a:accent2>
        <a:srgbClr val="D9971F"/>
      </a:accent2>
      <a:accent3>
        <a:srgbClr val="B83A2E"/>
      </a:accent3>
      <a:accent4>
        <a:srgbClr val="12302C"/>
      </a:accent4>
      <a:accent5>
        <a:srgbClr val="E4EFEE"/>
      </a:accent5>
      <a:accent6>
        <a:srgbClr val="F8EBD3"/>
      </a:accent6>
      <a:hlink>
        <a:srgbClr val="0F6E6E"/>
      </a:hlink>
      <a:folHlink>
        <a:srgbClr val="0F6E6E"/>
      </a:folHlink>
    </a:clrScheme>
    <a:fontScheme name="Lalua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luan">
  <a:themeElements>
    <a:clrScheme name="Laluan">
      <a:dk1>
        <a:srgbClr val="13201D"/>
      </a:dk1>
      <a:lt1>
        <a:srgbClr val="FFFFFF"/>
      </a:lt1>
      <a:dk2>
        <a:srgbClr val="5B6168"/>
      </a:dk2>
      <a:lt2>
        <a:srgbClr val="FAF8F4"/>
      </a:lt2>
      <a:accent1>
        <a:srgbClr val="0F6E6E"/>
      </a:accent1>
      <a:accent2>
        <a:srgbClr val="D9971F"/>
      </a:accent2>
      <a:accent3>
        <a:srgbClr val="B83A2E"/>
      </a:accent3>
      <a:accent4>
        <a:srgbClr val="12302C"/>
      </a:accent4>
      <a:accent5>
        <a:srgbClr val="E4EFEE"/>
      </a:accent5>
      <a:accent6>
        <a:srgbClr val="F8EBD3"/>
      </a:accent6>
      <a:hlink>
        <a:srgbClr val="0F6E6E"/>
      </a:hlink>
      <a:folHlink>
        <a:srgbClr val="0F6E6E"/>
      </a:folHlink>
    </a:clrScheme>
    <a:fontScheme name="Lalua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5723</Words>
  <Application>WPS Presentation</Application>
  <PresentationFormat>On-screen Show (16:9)</PresentationFormat>
  <Paragraphs>373</Paragraphs>
  <Slides>7</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Arial</vt:lpstr>
      <vt:lpstr>SimSun</vt:lpstr>
      <vt:lpstr>Wingdings</vt:lpstr>
      <vt:lpstr>Inter</vt:lpstr>
      <vt:lpstr>Laluan</vt:lpstr>
      <vt:lpstr>PowerPoint 演示文稿</vt:lpstr>
      <vt:lpstr>AI reached the desk before the training did.</vt:lpstr>
      <vt:lpstr>Same question. Very different answer.</vt:lpstr>
      <vt:lpstr>Four stops from today's job to the next one.</vt:lpstr>
      <vt:lpstr>Every percentage opens to the steps behind it.</vt:lpstr>
      <vt:lpstr>Four tiers, one approval gate.</vt:lpstr>
      <vt:lpstr>People stay in charge. Try it live today.</vt:lpstr>
    </vt:vector>
  </TitlesOfParts>
  <Company>Made in UTM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Laluan · XMUM Hackathon 2026</dc:title>
  <dc:creator>Made in UTM</dc:creator>
  <dc:subject>PptxGenJS Presentation</dc:subject>
  <cp:lastModifiedBy>tanho</cp:lastModifiedBy>
  <cp:revision>2</cp:revision>
  <dcterms:created xsi:type="dcterms:W3CDTF">2026-10-23T08:21:00Z</dcterms:created>
  <dcterms:modified xsi:type="dcterms:W3CDTF">2026-10-23T16:35:48Z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DFBBC9B55D9841A891611E52276DC03E_12</vt:lpwstr>
  </property>
  <property fmtid="{D5CDD505-2E9C-101B-9397-08002B2CF9AE}" pid="3" name="KSOProductBuildVer">
    <vt:lpwstr>1033-12.1.0.29162</vt:lpwstr>
  </property>
</Properties>
</file>